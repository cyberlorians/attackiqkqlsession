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71DDA-A39D-4E2C-B6FB-0B5C66D65AA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D47A0-3A76-4FEC-912D-1D1566D7C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60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Keep the class paced. Do not start with the final full query. Let students build confidence with small query pieces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D47A0-3A76-4FEC-912D-1D1566D7CA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0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AD5B-8730-79D4-6963-177956FD0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58C377-8189-D227-0213-2C9FB84D8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93EA3-B654-68D6-8BA5-6D52D9926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DE626-2FC0-9E3F-2C16-E184C362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45175-44D0-80CD-0043-7022A827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D21E-858A-5D51-E34F-86EC7E71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1A6FD-ED29-74A2-4274-C9585617C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5F127-3FAD-986C-C859-4C42D65EC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D4996-11D2-B1BA-F4D1-E16636267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7C47F-151B-B5E9-16CB-1E32CA43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D677-4C04-C50B-128E-DC746D765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529EE-362D-0B4D-359B-1FCDAF93D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2FE84-28FE-99B5-6B17-A2F845B68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21A30-37C7-D574-3DD8-3318525AA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7CAEA-2C16-FCC5-FA02-1EA24F9F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3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6F0B0-B977-A86E-4EC4-665015D24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E9967-EA7D-2EA7-D23C-FD090A168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C6330-3FAA-540F-6B1B-B2BBA6624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B3226-71FA-8FDD-8D14-2BDC6D2D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33B37-69D9-855D-EE39-9DB09CA1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9B813-F00E-13F3-BCD3-9F2EC070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81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E33F-2D8F-D2C5-8E6F-B25B2FF9A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6E720-3529-F475-5E4C-4D1FEFD64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46322-20B4-4492-CF13-1A133C6FB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4B785-6101-3DAD-4667-2E4358AB8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10958-A8D2-6EB1-9FAF-D51B9FE0C3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2EFCC7-F59A-45FB-1A27-0B063BD0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60DC-9F10-0B2E-CB99-4603173EC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6DE7D7-76D5-E23F-A2EF-B683C672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64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57A4C-94E9-D1B2-AAAE-5245AB29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1CB51E-2877-C9B4-85A6-B4211958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9FFB8-8667-FC0A-3355-D68DB57B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FEF33-40FF-F453-768B-200237DD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07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BB1441-87B8-535C-B192-AAD5D6C28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2B234-D270-70E3-D6DD-7764BFD9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10CA5-9FEC-6892-5157-A17BB30F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1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E068A-F5D3-2EB5-9808-9F8761335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C9526-4DE0-3D3C-E200-EAB05A010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28FFDD-972F-C29B-0D1D-2E418560F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A73A7-71B5-E845-62AE-F24D09FA6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52A5E-AF7D-F8A5-6B80-24B8AF3C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3C0BE-5BE5-977F-684B-97921D7C8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C1F81-5F90-5223-2834-2000FEBFC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257D5-29C0-80AF-918C-D4A9E12A65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9CE5E-8B5B-E1D4-D0EC-F2AE919D6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379B5-A425-6C66-298B-AAE9CA39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C4737-6506-E2B5-8C63-57702D9A0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51DC4-3F0E-DD71-A4E1-3E3C08755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80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B4F6-B766-50FB-1EFC-795BB89C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59D89-243A-1A1B-CE93-FF8549B316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66189-C825-743A-9EC4-691FB14B7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C5418-7664-E14E-8321-7C3DFE74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6CA21-5538-AB5B-9690-B6680162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15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48087-7D0A-7898-0B99-99D0A10A6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360BB-B0F0-ECBE-17CD-E09B5A0FC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3E5F4-63B0-0931-D7DF-B709B0AA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E0B9E-90DD-CB6B-828A-37058C881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80B6E-B690-0572-B1D8-48BF3781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05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E07AA3-51FB-E925-67BE-140E39AF1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E4806-8633-72EE-A565-644D13463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26263-E391-4EA4-A0B3-728861210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952E1-5DDA-48DC-A74E-9FEA9991C1D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07DFC-62E7-E59C-9525-59BD57D19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D40AE-4458-B81B-FFD2-6B01BB032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B9E74-D7AA-41A6-AFA1-F9621B189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0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AD8491-F9A2-7B50-773C-C8462F0EC7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CEF8A-DD97-734C-5A1D-6B57E055368F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24D40-E554-D12A-C5A5-5DB785D12F63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MICROSOFT DEFENDER XDR ADVANCED HUNTING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D7CF6-1C6C-A0D1-1086-D9FED77AACC3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AttackIQ Endpoint EDR KQL CTF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5645FB-ACC4-177A-BC0D-08BD5B4EA653}"/>
              </a:ext>
            </a:extLst>
          </p:cNvPr>
          <p:cNvSpPr txBox="1"/>
          <p:nvPr/>
        </p:nvSpPr>
        <p:spPr>
          <a:xfrm>
            <a:off x="685800" y="1625600"/>
            <a:ext cx="7747000" cy="125675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111111"/>
                </a:solidFill>
                <a:latin typeface="Aptos" panose="020B0004020202020204" pitchFamily="34" charset="0"/>
              </a:rPr>
              <a:t>Beginner-friendly hunting lab built from an authorized AttackIQ Security Control Baseline - Endpoint EDR run.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ACF2AB-D37D-7FE7-BEE7-737FFD224463}"/>
              </a:ext>
            </a:extLst>
          </p:cNvPr>
          <p:cNvSpPr/>
          <p:nvPr/>
        </p:nvSpPr>
        <p:spPr>
          <a:xfrm>
            <a:off x="685800" y="3073400"/>
            <a:ext cx="5016500" cy="11430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513BBC-1DE4-7509-9671-BCFE4C4642ED}"/>
              </a:ext>
            </a:extLst>
          </p:cNvPr>
          <p:cNvSpPr txBox="1"/>
          <p:nvPr/>
        </p:nvSpPr>
        <p:spPr>
          <a:xfrm>
            <a:off x="812800" y="3175000"/>
            <a:ext cx="4762500" cy="84125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Target workstation: usm262346
Time filter: Timestamp &gt; ago(7d)
Mode: Learn, build, challenge, prove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F78C27-6A29-AB39-4A33-A133A3B39AFF}"/>
              </a:ext>
            </a:extLst>
          </p:cNvPr>
          <p:cNvSpPr/>
          <p:nvPr/>
        </p:nvSpPr>
        <p:spPr>
          <a:xfrm>
            <a:off x="6146800" y="3073400"/>
            <a:ext cx="4635500" cy="11430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A50B7-208D-6DC5-240D-D8886B6CECCC}"/>
              </a:ext>
            </a:extLst>
          </p:cNvPr>
          <p:cNvSpPr txBox="1"/>
          <p:nvPr/>
        </p:nvSpPr>
        <p:spPr>
          <a:xfrm>
            <a:off x="6273800" y="3175000"/>
            <a:ext cx="4381500" cy="84125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Audience: beginner KQL learners
Platform: Defender XDR Advanced Hunting
Theme: credential-access CTF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177674-A63B-07B6-E635-83634CA4BAAD}"/>
              </a:ext>
            </a:extLst>
          </p:cNvPr>
          <p:cNvSpPr txBox="1"/>
          <p:nvPr/>
        </p:nvSpPr>
        <p:spPr>
          <a:xfrm>
            <a:off x="685800" y="6121400"/>
            <a:ext cx="10795000" cy="3026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300">
                <a:solidFill>
                  <a:srgbClr val="666666"/>
                </a:solidFill>
                <a:latin typeface="Aptos" panose="020B0004020202020204" pitchFamily="34" charset="0"/>
              </a:rPr>
              <a:t>Instructor deck generated from the attackiqkqlsession README.</a:t>
            </a:r>
          </a:p>
        </p:txBody>
      </p:sp>
    </p:spTree>
    <p:extLst>
      <p:ext uri="{BB962C8B-B14F-4D97-AF65-F5344CB8AC3E}">
        <p14:creationId xmlns:p14="http://schemas.microsoft.com/office/powerpoint/2010/main" val="250574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23CEE9-72F2-C325-2CA6-681D03F4DB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0605E4-0A54-CEC2-B7CD-DD187DC5EE86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D7795-86D9-677F-C41F-9E7851FFA896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INSTRUCTOR ORIENTATION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1D2363-D2DB-E70E-E979-E3269E74B515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How This Class 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CF96D-0558-9649-30AE-6A29CCC5745F}"/>
              </a:ext>
            </a:extLst>
          </p:cNvPr>
          <p:cNvSpPr txBox="1"/>
          <p:nvPr/>
        </p:nvSpPr>
        <p:spPr>
          <a:xfrm>
            <a:off x="685800" y="1333500"/>
            <a:ext cx="10795000" cy="220573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200">
                <a:solidFill>
                  <a:srgbClr val="111111"/>
                </a:solidFill>
                <a:latin typeface="Aptos" panose="020B0004020202020204" pitchFamily="34" charset="0"/>
              </a:rPr>
              <a:t>- Start with KQL 101 so students understand the shape of a query.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111111"/>
                </a:solidFill>
                <a:latin typeface="Aptos" panose="020B0004020202020204" pitchFamily="34" charset="0"/>
              </a:rPr>
              <a:t>- Run the pre-CTF refresher: where, project, summarize, order by, pivoting, union.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111111"/>
                </a:solidFill>
                <a:latin typeface="Aptos" panose="020B0004020202020204" pitchFamily="34" charset="0"/>
              </a:rPr>
              <a:t>- Use the warm-up timeline to show the AttackIQ activity cluster.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111111"/>
                </a:solidFill>
                <a:latin typeface="Aptos" panose="020B0004020202020204" pitchFamily="34" charset="0"/>
              </a:rPr>
              <a:t>- Work through each scenario in order: brief, skill, build, challenge, full query, answer.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111111"/>
                </a:solidFill>
                <a:latin typeface="Aptos" panose="020B0004020202020204" pitchFamily="34" charset="0"/>
              </a:rPr>
              <a:t>- Use the optional incident pivot only if the customer has a matching XDR incident.</a:t>
            </a:r>
          </a:p>
        </p:txBody>
      </p:sp>
    </p:spTree>
    <p:extLst>
      <p:ext uri="{BB962C8B-B14F-4D97-AF65-F5344CB8AC3E}">
        <p14:creationId xmlns:p14="http://schemas.microsoft.com/office/powerpoint/2010/main" val="110543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699CB0-8845-B4AD-4000-AE0765045B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C79796-50DC-F445-4161-7C005C646547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4E8E2-864A-5BFB-9FA4-ED93D9A9C6FB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CTF MINDSET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3FE2E-AA2A-1B14-2E21-066C11A51C1F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The Student Mental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90162-339B-00BD-92A0-96A9CA4B544F}"/>
              </a:ext>
            </a:extLst>
          </p:cNvPr>
          <p:cNvSpPr/>
          <p:nvPr/>
        </p:nvSpPr>
        <p:spPr>
          <a:xfrm>
            <a:off x="685800" y="1473200"/>
            <a:ext cx="3175000" cy="12065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CD898-F0BB-1C6F-075D-7292A93F70B3}"/>
              </a:ext>
            </a:extLst>
          </p:cNvPr>
          <p:cNvSpPr txBox="1"/>
          <p:nvPr/>
        </p:nvSpPr>
        <p:spPr>
          <a:xfrm>
            <a:off x="812800" y="1574800"/>
            <a:ext cx="2921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1. Find the right table
Process, file, or alert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1BA93F-CC06-A30D-BEEF-514EF52C62D8}"/>
              </a:ext>
            </a:extLst>
          </p:cNvPr>
          <p:cNvSpPr/>
          <p:nvPr/>
        </p:nvSpPr>
        <p:spPr>
          <a:xfrm>
            <a:off x="4495800" y="1473200"/>
            <a:ext cx="3175000" cy="1206500"/>
          </a:xfrm>
          <a:prstGeom prst="rect">
            <a:avLst/>
          </a:prstGeom>
          <a:solidFill>
            <a:srgbClr val="F4F0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68F421-5C51-6F69-CB80-306FAC16A010}"/>
              </a:ext>
            </a:extLst>
          </p:cNvPr>
          <p:cNvSpPr txBox="1"/>
          <p:nvPr/>
        </p:nvSpPr>
        <p:spPr>
          <a:xfrm>
            <a:off x="4622800" y="1574800"/>
            <a:ext cx="2921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2. Filter the noise
Device + time + clue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398117-EA06-A7F9-87C8-9EF33BED9619}"/>
              </a:ext>
            </a:extLst>
          </p:cNvPr>
          <p:cNvSpPr/>
          <p:nvPr/>
        </p:nvSpPr>
        <p:spPr>
          <a:xfrm>
            <a:off x="8305800" y="1473200"/>
            <a:ext cx="3175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A66DD8-920E-120E-1380-5640CCCBB325}"/>
              </a:ext>
            </a:extLst>
          </p:cNvPr>
          <p:cNvSpPr txBox="1"/>
          <p:nvPr/>
        </p:nvSpPr>
        <p:spPr>
          <a:xfrm>
            <a:off x="8432800" y="1574800"/>
            <a:ext cx="2921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3. Prove the answer
When, where, what, why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F56006-9E8A-A9E7-E29F-0C815792A4E8}"/>
              </a:ext>
            </a:extLst>
          </p:cNvPr>
          <p:cNvSpPr txBox="1"/>
          <p:nvPr/>
        </p:nvSpPr>
        <p:spPr>
          <a:xfrm>
            <a:off x="685800" y="3175000"/>
            <a:ext cx="10795000" cy="164147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>
                <a:solidFill>
                  <a:srgbClr val="111111"/>
                </a:solidFill>
                <a:latin typeface="Aptos" panose="020B0004020202020204" pitchFamily="34" charset="0"/>
              </a:rPr>
              <a:t>- Every CTF answer should be evidence-backed, not guessed.</a:t>
            </a:r>
          </a:p>
          <a:p>
            <a:pPr>
              <a:spcAft>
                <a:spcPts val="800"/>
              </a:spcAft>
            </a:pPr>
            <a:r>
              <a:rPr lang="en-US" sz="2000">
                <a:solidFill>
                  <a:srgbClr val="111111"/>
                </a:solidFill>
                <a:latin typeface="Aptos" panose="020B0004020202020204" pitchFamily="34" charset="0"/>
              </a:rPr>
              <a:t>- The query does not need to start perfect. It should get better with each filter.</a:t>
            </a:r>
          </a:p>
          <a:p>
            <a:pPr>
              <a:spcAft>
                <a:spcPts val="800"/>
              </a:spcAft>
            </a:pPr>
            <a:r>
              <a:rPr lang="en-US" sz="2000">
                <a:solidFill>
                  <a:srgbClr val="111111"/>
                </a:solidFill>
                <a:latin typeface="Aptos" panose="020B0004020202020204" pitchFamily="34" charset="0"/>
              </a:rPr>
              <a:t>- If the process table is quiet, check file and alert evidence.</a:t>
            </a:r>
          </a:p>
          <a:p>
            <a:pPr>
              <a:spcAft>
                <a:spcPts val="800"/>
              </a:spcAft>
            </a:pPr>
            <a:r>
              <a:rPr lang="en-US" sz="2000">
                <a:solidFill>
                  <a:srgbClr val="111111"/>
                </a:solidFill>
                <a:latin typeface="Aptos" panose="020B0004020202020204" pitchFamily="34" charset="0"/>
              </a:rPr>
              <a:t>- The answer key is for explanation, not the first place students should look.</a:t>
            </a:r>
          </a:p>
        </p:txBody>
      </p:sp>
    </p:spTree>
    <p:extLst>
      <p:ext uri="{BB962C8B-B14F-4D97-AF65-F5344CB8AC3E}">
        <p14:creationId xmlns:p14="http://schemas.microsoft.com/office/powerpoint/2010/main" val="190794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76BB55-FFA5-54B2-2E02-FE2BDA9F97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69E8D7-B779-1923-ACB2-22E71D5D05D6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27ADA-17C8-20E8-AC43-7FBE37E40C88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BEFORE THE CTF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ECBB8-C503-34E0-39F9-BC962400BE6A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KQL 101: Read Top To Bottom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793B6-2E30-CC36-B0EE-C107E50C3806}"/>
              </a:ext>
            </a:extLst>
          </p:cNvPr>
          <p:cNvSpPr txBox="1"/>
          <p:nvPr/>
        </p:nvSpPr>
        <p:spPr>
          <a:xfrm>
            <a:off x="685800" y="1371600"/>
            <a:ext cx="4953000" cy="226728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The table name starts the query.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The pipe character sends rows to the next step.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where reduces noise.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project chooses the evidence columns.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order by makes the result readable.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C7FCBC-F1E1-3BAC-08BB-A50E273241DF}"/>
              </a:ext>
            </a:extLst>
          </p:cNvPr>
          <p:cNvSpPr/>
          <p:nvPr/>
        </p:nvSpPr>
        <p:spPr>
          <a:xfrm>
            <a:off x="6172200" y="1422400"/>
            <a:ext cx="4953000" cy="304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F7033-E87C-396A-DD11-6D0F1C4E264F}"/>
              </a:ext>
            </a:extLst>
          </p:cNvPr>
          <p:cNvSpPr txBox="1"/>
          <p:nvPr/>
        </p:nvSpPr>
        <p:spPr>
          <a:xfrm>
            <a:off x="6324600" y="1549400"/>
            <a:ext cx="4648200" cy="170303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DeviceProcessEvents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ProcessCommandLine has "reg save"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DeviceName, FileName, ProcessCommandLine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order by Timestamp asc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12CE03-32DE-765F-6E7E-76B34C8217CF}"/>
              </a:ext>
            </a:extLst>
          </p:cNvPr>
          <p:cNvSpPr/>
          <p:nvPr/>
        </p:nvSpPr>
        <p:spPr>
          <a:xfrm>
            <a:off x="6172200" y="4749800"/>
            <a:ext cx="4953000" cy="7366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AAB162-FEB5-49DF-483C-055403C469F1}"/>
              </a:ext>
            </a:extLst>
          </p:cNvPr>
          <p:cNvSpPr txBox="1"/>
          <p:nvPr/>
        </p:nvSpPr>
        <p:spPr>
          <a:xfrm>
            <a:off x="6299200" y="4851400"/>
            <a:ext cx="469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Coach line: read every pipe as "and then..."</a:t>
            </a:r>
          </a:p>
        </p:txBody>
      </p:sp>
    </p:spTree>
    <p:extLst>
      <p:ext uri="{BB962C8B-B14F-4D97-AF65-F5344CB8AC3E}">
        <p14:creationId xmlns:p14="http://schemas.microsoft.com/office/powerpoint/2010/main" val="357909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CE01A2-5F0A-9AEE-D732-CF3540BD70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61FAAB-32C0-C420-B8BF-ABF2B8A4AB7A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6B1823-E4EA-A160-24CA-F30FEAFBA89B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DATA -&gt; FILTER -&gt; ANALYZE -&gt; EVIDENCE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A7CED-EDCF-886E-4826-5B6FD00D0BFB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Query Construction 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4417ED-3A9B-D123-48B2-4E66FDA8F52B}"/>
              </a:ext>
            </a:extLst>
          </p:cNvPr>
          <p:cNvSpPr/>
          <p:nvPr/>
        </p:nvSpPr>
        <p:spPr>
          <a:xfrm>
            <a:off x="762000" y="1651000"/>
            <a:ext cx="2222500" cy="1041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DB6F8-B380-D1C4-69C7-A6C2FAAFD224}"/>
              </a:ext>
            </a:extLst>
          </p:cNvPr>
          <p:cNvSpPr txBox="1"/>
          <p:nvPr/>
        </p:nvSpPr>
        <p:spPr>
          <a:xfrm>
            <a:off x="889000" y="1752600"/>
            <a:ext cx="1968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DATA
Choose a 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615C7A-4C3C-970A-E7C1-F6B35434A5A1}"/>
              </a:ext>
            </a:extLst>
          </p:cNvPr>
          <p:cNvSpPr/>
          <p:nvPr/>
        </p:nvSpPr>
        <p:spPr>
          <a:xfrm>
            <a:off x="3429000" y="1651000"/>
            <a:ext cx="2222500" cy="1041400"/>
          </a:xfrm>
          <a:prstGeom prst="rect">
            <a:avLst/>
          </a:prstGeom>
          <a:solidFill>
            <a:srgbClr val="F4F0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210781-A750-932E-3FD4-FC4813B80959}"/>
              </a:ext>
            </a:extLst>
          </p:cNvPr>
          <p:cNvSpPr txBox="1"/>
          <p:nvPr/>
        </p:nvSpPr>
        <p:spPr>
          <a:xfrm>
            <a:off x="3556000" y="1752600"/>
            <a:ext cx="1968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FILTER
Reduce noise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29DAC9-9054-9815-25DE-16D2B3F65EE1}"/>
              </a:ext>
            </a:extLst>
          </p:cNvPr>
          <p:cNvSpPr/>
          <p:nvPr/>
        </p:nvSpPr>
        <p:spPr>
          <a:xfrm>
            <a:off x="6096000" y="1651000"/>
            <a:ext cx="2222500" cy="10414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869207-BD2F-623A-3850-52CD2926FA82}"/>
              </a:ext>
            </a:extLst>
          </p:cNvPr>
          <p:cNvSpPr txBox="1"/>
          <p:nvPr/>
        </p:nvSpPr>
        <p:spPr>
          <a:xfrm>
            <a:off x="6223000" y="1752600"/>
            <a:ext cx="1968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ANALYZE
Pivot or count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527B05-E26B-539E-CD97-E41682CF7209}"/>
              </a:ext>
            </a:extLst>
          </p:cNvPr>
          <p:cNvSpPr/>
          <p:nvPr/>
        </p:nvSpPr>
        <p:spPr>
          <a:xfrm>
            <a:off x="8763000" y="1651000"/>
            <a:ext cx="2222500" cy="10414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9DB5E9-469D-B810-FBE3-9E9A0233E32B}"/>
              </a:ext>
            </a:extLst>
          </p:cNvPr>
          <p:cNvSpPr txBox="1"/>
          <p:nvPr/>
        </p:nvSpPr>
        <p:spPr>
          <a:xfrm>
            <a:off x="8890000" y="1752600"/>
            <a:ext cx="1968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PRESENT
Show proof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966F60-21F9-FA3D-AA77-FE0321AC46F8}"/>
              </a:ext>
            </a:extLst>
          </p:cNvPr>
          <p:cNvSpPr/>
          <p:nvPr/>
        </p:nvSpPr>
        <p:spPr>
          <a:xfrm>
            <a:off x="1168400" y="3530600"/>
            <a:ext cx="9779000" cy="1524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2B8FFA-D9C7-29AF-3F68-1C81840E9FF7}"/>
              </a:ext>
            </a:extLst>
          </p:cNvPr>
          <p:cNvSpPr txBox="1"/>
          <p:nvPr/>
        </p:nvSpPr>
        <p:spPr>
          <a:xfrm>
            <a:off x="1320800" y="3657600"/>
            <a:ext cx="9474200" cy="148758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5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500">
                <a:solidFill>
                  <a:srgbClr val="0B1F3A"/>
                </a:solidFill>
                <a:latin typeface="Cascadia Mono" panose="020B0609020000020004" pitchFamily="49" charset="0"/>
              </a:rPr>
              <a:t>DeviceProcessEvents</a:t>
            </a:r>
          </a:p>
          <a:p>
            <a:r>
              <a:rPr lang="en-US" sz="15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5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500">
                <a:solidFill>
                  <a:srgbClr val="0B1F3A"/>
                </a:solidFill>
                <a:latin typeface="Cascadia Mono" panose="020B0609020000020004" pitchFamily="49" charset="0"/>
              </a:rPr>
              <a:t>| summarize count() by FileName</a:t>
            </a:r>
          </a:p>
          <a:p>
            <a:r>
              <a:rPr lang="en-US" sz="1500">
                <a:solidFill>
                  <a:srgbClr val="0B1F3A"/>
                </a:solidFill>
                <a:latin typeface="Cascadia Mono" panose="020B0609020000020004" pitchFamily="49" charset="0"/>
              </a:rPr>
              <a:t>| order by count_ desc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178537-2E32-EC68-9F86-E16C287F5D2D}"/>
              </a:ext>
            </a:extLst>
          </p:cNvPr>
          <p:cNvSpPr txBox="1"/>
          <p:nvPr/>
        </p:nvSpPr>
        <p:spPr>
          <a:xfrm>
            <a:off x="1206500" y="5334000"/>
            <a:ext cx="9652000" cy="68736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900" b="1">
                <a:solidFill>
                  <a:srgbClr val="243F68"/>
                </a:solidFill>
                <a:latin typeface="Aptos" panose="020B0004020202020204" pitchFamily="34" charset="0"/>
              </a:rPr>
              <a:t>The goal is not a fancy query. The goal is a query that answers the question with evidence.</a:t>
            </a:r>
          </a:p>
        </p:txBody>
      </p:sp>
    </p:spTree>
    <p:extLst>
      <p:ext uri="{BB962C8B-B14F-4D97-AF65-F5344CB8AC3E}">
        <p14:creationId xmlns:p14="http://schemas.microsoft.com/office/powerpoint/2010/main" val="2084877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DA0656-505B-7195-0246-432AD14CE5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16159E-94C2-16EC-E502-29C906473BF3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D94BA-1742-4F88-0B7D-80B6B3EED3CF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MOST IMPORTANT BEGINNER 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C9D43-EB9F-973D-D843-8BE0F265BE5B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Filtering With where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C8A73-43E7-DE9F-0133-65E321E61208}"/>
              </a:ext>
            </a:extLst>
          </p:cNvPr>
          <p:cNvSpPr txBox="1"/>
          <p:nvPr/>
        </p:nvSpPr>
        <p:spPr>
          <a:xfrm>
            <a:off x="685800" y="1320800"/>
            <a:ext cx="4953000" cy="245708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where keeps rows that match your condition.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Use one where line per idea so beginners can read the query.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Start broad, then add filters one at a time.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Common filters: time, device, filename, command-line keyword.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805AF1-C6A2-0788-CF60-15721F28BF55}"/>
              </a:ext>
            </a:extLst>
          </p:cNvPr>
          <p:cNvSpPr/>
          <p:nvPr/>
        </p:nvSpPr>
        <p:spPr>
          <a:xfrm>
            <a:off x="6172200" y="1333500"/>
            <a:ext cx="4953000" cy="2984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52B32-B5EF-DC14-2DE2-F6D64A9B086A}"/>
              </a:ext>
            </a:extLst>
          </p:cNvPr>
          <p:cNvSpPr txBox="1"/>
          <p:nvPr/>
        </p:nvSpPr>
        <p:spPr>
          <a:xfrm>
            <a:off x="6324600" y="1460500"/>
            <a:ext cx="4648200" cy="150297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DeviceProcessEvents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=~ "powershell.exe"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DeviceName, FileName, ProcessCommandLine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152877-597A-BA9D-6C75-887783DDB819}"/>
              </a:ext>
            </a:extLst>
          </p:cNvPr>
          <p:cNvSpPr/>
          <p:nvPr/>
        </p:nvSpPr>
        <p:spPr>
          <a:xfrm>
            <a:off x="6172200" y="4610100"/>
            <a:ext cx="4953000" cy="914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A4B9A9-1292-945D-DB23-ABCE3ED03528}"/>
              </a:ext>
            </a:extLst>
          </p:cNvPr>
          <p:cNvSpPr txBox="1"/>
          <p:nvPr/>
        </p:nvSpPr>
        <p:spPr>
          <a:xfrm>
            <a:off x="6299200" y="4711700"/>
            <a:ext cx="4699000" cy="84125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 students: which line scoped time, which line scoped device, and which line searched process name?</a:t>
            </a:r>
          </a:p>
        </p:txBody>
      </p:sp>
    </p:spTree>
    <p:extLst>
      <p:ext uri="{BB962C8B-B14F-4D97-AF65-F5344CB8AC3E}">
        <p14:creationId xmlns:p14="http://schemas.microsoft.com/office/powerpoint/2010/main" val="547692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1AABB7-B714-7210-5DE0-FB851B297D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2FA6D2-667E-5907-48C6-35B0463E7074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1F8F3-8EF7-FA77-4788-71037A50754B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OPERATOR CHEAT SHEET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DD425-89D8-F915-A6CA-B8D5F3049FB3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Where Patterns Students Will 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50E7A-3CC6-B1B6-D9EC-6B7876D5D9DD}"/>
              </a:ext>
            </a:extLst>
          </p:cNvPr>
          <p:cNvSpPr txBox="1"/>
          <p:nvPr/>
        </p:nvSpPr>
        <p:spPr>
          <a:xfrm>
            <a:off x="660400" y="1295400"/>
            <a:ext cx="5207000" cy="2277547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== exact match: DeviceName == TargetDevice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=~ case-insensitive exact filename match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has: one word-based clue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has_any: any clue in a list can match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has_all: every clue in a list must match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endswith: file extensions like .dmp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0CB3D7-6AF6-9690-A1B1-1A83D97AB06A}"/>
              </a:ext>
            </a:extLst>
          </p:cNvPr>
          <p:cNvSpPr/>
          <p:nvPr/>
        </p:nvSpPr>
        <p:spPr>
          <a:xfrm>
            <a:off x="6350000" y="1346200"/>
            <a:ext cx="45720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EB829-55FB-2191-1C45-F53CD56FDB04}"/>
              </a:ext>
            </a:extLst>
          </p:cNvPr>
          <p:cNvSpPr txBox="1"/>
          <p:nvPr/>
        </p:nvSpPr>
        <p:spPr>
          <a:xfrm>
            <a:off x="6502400" y="1473200"/>
            <a:ext cx="4267200" cy="150297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=~ "Rubeus.exe"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ProcessCommandLine has "reg save"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has_any ("mimikatz", "rubeus")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ProcessCommandLine has_all ("reg save", "hklm\\sam")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endswith ".dmp"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38E2A9-E032-2BDB-8A34-5B7B484F8121}"/>
              </a:ext>
            </a:extLst>
          </p:cNvPr>
          <p:cNvSpPr/>
          <p:nvPr/>
        </p:nvSpPr>
        <p:spPr>
          <a:xfrm>
            <a:off x="6350000" y="4762500"/>
            <a:ext cx="4572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D4FA4C-F8D4-3126-A814-E4697D685FD2}"/>
              </a:ext>
            </a:extLst>
          </p:cNvPr>
          <p:cNvSpPr txBox="1"/>
          <p:nvPr/>
        </p:nvSpPr>
        <p:spPr>
          <a:xfrm>
            <a:off x="6477000" y="4864100"/>
            <a:ext cx="4318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Coach line: choose the operator based on how specific your clue is.</a:t>
            </a:r>
          </a:p>
        </p:txBody>
      </p:sp>
    </p:spTree>
    <p:extLst>
      <p:ext uri="{BB962C8B-B14F-4D97-AF65-F5344CB8AC3E}">
        <p14:creationId xmlns:p14="http://schemas.microsoft.com/office/powerpoint/2010/main" val="534420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3BB6A7-02AC-A075-E8FA-7349B9901D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7C6523-27A6-5B6C-D35D-199E7EBDBED3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B1B45-05A8-E2FE-4BAC-E8D75E374E04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MAKE RESULTS READABLE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D34A6-5212-C3F7-1985-9DB73A495BED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Presenting Evidence With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7E6AB-2501-7E8A-CC71-351E5EAC8FAD}"/>
              </a:ext>
            </a:extLst>
          </p:cNvPr>
          <p:cNvSpPr txBox="1"/>
          <p:nvPr/>
        </p:nvSpPr>
        <p:spPr>
          <a:xfrm>
            <a:off x="685800" y="1320800"/>
            <a:ext cx="5016500" cy="3041858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project keeps only the columns that answer the question.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Good evidence columns: Timestamp, DeviceName, FileName, command line, SHA256.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For file events, keep ActionType and FolderPath.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For alerts, keep Title, Severity, AttackTechniques.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D3CC0B-0F03-4691-B84C-2383986B338A}"/>
              </a:ext>
            </a:extLst>
          </p:cNvPr>
          <p:cNvSpPr/>
          <p:nvPr/>
        </p:nvSpPr>
        <p:spPr>
          <a:xfrm>
            <a:off x="6223000" y="1422400"/>
            <a:ext cx="4826000" cy="2667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B5392-FA59-0E21-7C4B-FA9B78CE6582}"/>
              </a:ext>
            </a:extLst>
          </p:cNvPr>
          <p:cNvSpPr txBox="1"/>
          <p:nvPr/>
        </p:nvSpPr>
        <p:spPr>
          <a:xfrm>
            <a:off x="6375400" y="1549400"/>
            <a:ext cx="4521200" cy="150297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DeviceFileEvents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has "mimikatz"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DeviceName, ActionType, FileName, FolderPath, SHA256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40FA53-EA43-BF68-6F39-1E5AE77C3B2D}"/>
              </a:ext>
            </a:extLst>
          </p:cNvPr>
          <p:cNvSpPr/>
          <p:nvPr/>
        </p:nvSpPr>
        <p:spPr>
          <a:xfrm>
            <a:off x="6223000" y="4445000"/>
            <a:ext cx="4826000" cy="8128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01737-608F-CC7A-C5A0-A904FBE09886}"/>
              </a:ext>
            </a:extLst>
          </p:cNvPr>
          <p:cNvSpPr txBox="1"/>
          <p:nvPr/>
        </p:nvSpPr>
        <p:spPr>
          <a:xfrm>
            <a:off x="6350000" y="4546600"/>
            <a:ext cx="4572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Mini-exercise: remove SHA256, run it, then add it back. Which result is better for reporting?</a:t>
            </a:r>
          </a:p>
        </p:txBody>
      </p:sp>
    </p:spTree>
    <p:extLst>
      <p:ext uri="{BB962C8B-B14F-4D97-AF65-F5344CB8AC3E}">
        <p14:creationId xmlns:p14="http://schemas.microsoft.com/office/powerpoint/2010/main" val="3974123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859487-2293-57C9-63AA-75B13E7F54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A5BF29-1FD0-8A0A-979E-0939650F045A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B9C24C-F03B-6009-EF7C-1317A991225D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ANSWER HOW MANY AND WHICH ONES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2EDFCD-033F-8204-21FC-A588138E6133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Counting With summarize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48621B-6D73-8E26-2E92-FE7AB9B0210E}"/>
              </a:ext>
            </a:extLst>
          </p:cNvPr>
          <p:cNvSpPr txBox="1"/>
          <p:nvPr/>
        </p:nvSpPr>
        <p:spPr>
          <a:xfrm>
            <a:off x="685800" y="1320800"/>
            <a:ext cx="4953000" cy="197490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summarize turns many rows into an answer.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count() answers how many rows matched.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by chooses the grouping column.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min() and max() find first and last seen.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make_set() collects distinct values.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AD9A8B-AA51-91FD-DB9C-E122877B78E9}"/>
              </a:ext>
            </a:extLst>
          </p:cNvPr>
          <p:cNvSpPr/>
          <p:nvPr/>
        </p:nvSpPr>
        <p:spPr>
          <a:xfrm>
            <a:off x="6223000" y="1320800"/>
            <a:ext cx="4826000" cy="3238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3C8B04-624A-7071-D256-F150621FD9C6}"/>
              </a:ext>
            </a:extLst>
          </p:cNvPr>
          <p:cNvSpPr txBox="1"/>
          <p:nvPr/>
        </p:nvSpPr>
        <p:spPr>
          <a:xfrm>
            <a:off x="6375400" y="1447800"/>
            <a:ext cx="4521200" cy="170303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DeviceFileEvents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summarize Events=count(), FirstSeen=min(Timestamp), LastSeen=max(Timestamp) by FileName</a:t>
            </a:r>
          </a:p>
          <a:p>
            <a:r>
              <a:rPr lang="en-US" sz="1300">
                <a:solidFill>
                  <a:srgbClr val="0B1F3A"/>
                </a:solidFill>
                <a:latin typeface="Cascadia Mono" panose="020B0609020000020004" pitchFamily="49" charset="0"/>
              </a:rPr>
              <a:t>| order by Events desc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C7CEBE-4B93-1F00-B68C-BB4039D7B662}"/>
              </a:ext>
            </a:extLst>
          </p:cNvPr>
          <p:cNvSpPr/>
          <p:nvPr/>
        </p:nvSpPr>
        <p:spPr>
          <a:xfrm>
            <a:off x="6223000" y="4851400"/>
            <a:ext cx="4826000" cy="711200"/>
          </a:xfrm>
          <a:prstGeom prst="rect">
            <a:avLst/>
          </a:prstGeom>
          <a:solidFill>
            <a:srgbClr val="F4F0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145CBF-C6BF-97F1-D102-C50C92E5E70E}"/>
              </a:ext>
            </a:extLst>
          </p:cNvPr>
          <p:cNvSpPr txBox="1"/>
          <p:nvPr/>
        </p:nvSpPr>
        <p:spPr>
          <a:xfrm>
            <a:off x="6350000" y="4953000"/>
            <a:ext cx="4572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Use summarize when the CTF asks for counts, first/last seen, or file lifecycle.</a:t>
            </a:r>
          </a:p>
        </p:txBody>
      </p:sp>
    </p:spTree>
    <p:extLst>
      <p:ext uri="{BB962C8B-B14F-4D97-AF65-F5344CB8AC3E}">
        <p14:creationId xmlns:p14="http://schemas.microsoft.com/office/powerpoint/2010/main" val="512196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0A0E2C-57AD-C664-004B-330D3906BD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5A67EB-9BED-F668-F708-EF0F7E5B9C54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537E00-C238-69D6-38DA-0DF09D6889A0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ONE CLUE CREATES THE NEXT 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A5F0-8958-5A49-09B1-4FAACF7EDAA3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Pivoting Like A Hunter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850EE-0FA1-C649-17C0-508056C13199}"/>
              </a:ext>
            </a:extLst>
          </p:cNvPr>
          <p:cNvSpPr txBox="1"/>
          <p:nvPr/>
        </p:nvSpPr>
        <p:spPr>
          <a:xfrm>
            <a:off x="685800" y="1320800"/>
            <a:ext cx="4826000" cy="255967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Find a suspicious file.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Copy the filename or hash.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Search alerts for that clue.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Use alert title and technique to explain why it matters.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Return to file/process evidence to prove the timeline.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123BEE-68F6-4BCF-E05C-7DF822123C34}"/>
              </a:ext>
            </a:extLst>
          </p:cNvPr>
          <p:cNvSpPr/>
          <p:nvPr/>
        </p:nvSpPr>
        <p:spPr>
          <a:xfrm>
            <a:off x="6019800" y="1244600"/>
            <a:ext cx="5207000" cy="3619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3ACFD-4E2A-32B8-D3C5-98D11411253F}"/>
              </a:ext>
            </a:extLst>
          </p:cNvPr>
          <p:cNvSpPr txBox="1"/>
          <p:nvPr/>
        </p:nvSpPr>
        <p:spPr>
          <a:xfrm>
            <a:off x="6172200" y="1371600"/>
            <a:ext cx="4902200" cy="231858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DeviceFileEvents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has "rubeus"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FileName, FolderPath, SHA256</a:t>
            </a:r>
          </a:p>
          <a:p>
            <a:endParaRPr lang="en-US" sz="1200">
              <a:solidFill>
                <a:srgbClr val="0B1F3A"/>
              </a:solidFill>
              <a:latin typeface="Cascadia Mono" panose="020B0609020000020004" pitchFamily="49" charset="0"/>
            </a:endParaRP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AlertEvidence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 or FileName has "rubeus" or SHA256 == "&lt;hash&gt;"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Title, AttackTechniques, SHA256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E40CFB-BC98-300A-76AF-AADF29CE77DE}"/>
              </a:ext>
            </a:extLst>
          </p:cNvPr>
          <p:cNvSpPr/>
          <p:nvPr/>
        </p:nvSpPr>
        <p:spPr>
          <a:xfrm>
            <a:off x="6019800" y="5168900"/>
            <a:ext cx="5207000" cy="7112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F9662D-91A9-E317-2932-6312502542D6}"/>
              </a:ext>
            </a:extLst>
          </p:cNvPr>
          <p:cNvSpPr txBox="1"/>
          <p:nvPr/>
        </p:nvSpPr>
        <p:spPr>
          <a:xfrm>
            <a:off x="6146800" y="5270500"/>
            <a:ext cx="4953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Coach line: do not memorize every query. Learn how to pivot from a clue.</a:t>
            </a:r>
          </a:p>
        </p:txBody>
      </p:sp>
    </p:spTree>
    <p:extLst>
      <p:ext uri="{BB962C8B-B14F-4D97-AF65-F5344CB8AC3E}">
        <p14:creationId xmlns:p14="http://schemas.microsoft.com/office/powerpoint/2010/main" val="342065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FDED85-0EF1-AEAB-5183-AB813F4C2F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B19AA8-48D2-A28C-9C3E-FE134B9F2D6C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6682D-D331-1604-0C78-E73D42C2655A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WHEN ONE TABLE IS NOT ENOUGH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A8138-9051-0329-FCF0-514C06AD394B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Combining Tables With union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12B99-E4F9-8548-C1D7-737DC065071F}"/>
              </a:ext>
            </a:extLst>
          </p:cNvPr>
          <p:cNvSpPr txBox="1"/>
          <p:nvPr/>
        </p:nvSpPr>
        <p:spPr>
          <a:xfrm>
            <a:off x="685800" y="1320800"/>
            <a:ext cx="4699000" cy="2349361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Use union when evidence is split across process, file, and alert tables.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Each branch should project similar columns.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Add EvidenceType so students know where the row came from.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Sort by Timestamp to make a timeline.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D73FD7-D796-6677-7C63-78C9DCB757CB}"/>
              </a:ext>
            </a:extLst>
          </p:cNvPr>
          <p:cNvSpPr/>
          <p:nvPr/>
        </p:nvSpPr>
        <p:spPr>
          <a:xfrm>
            <a:off x="5778500" y="1244600"/>
            <a:ext cx="5715000" cy="41910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5AB98-D550-85F9-8490-1883E6EC30D5}"/>
              </a:ext>
            </a:extLst>
          </p:cNvPr>
          <p:cNvSpPr txBox="1"/>
          <p:nvPr/>
        </p:nvSpPr>
        <p:spPr>
          <a:xfrm>
            <a:off x="5930900" y="1371600"/>
            <a:ext cx="5410200" cy="298030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union isfuzzy=true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DeviceFileEvents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where DeviceName == TargetDevice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project Timestamp, EvidenceType="File", Detail=strcat(ActionType, " | ", FileName)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AlertEvidence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where DeviceName == TargetDevice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project Timestamp, EvidenceType="Alert", Detail=strcat(Title, " | ", FileName)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order by Timestamp asc</a:t>
            </a:r>
          </a:p>
        </p:txBody>
      </p:sp>
    </p:spTree>
    <p:extLst>
      <p:ext uri="{BB962C8B-B14F-4D97-AF65-F5344CB8AC3E}">
        <p14:creationId xmlns:p14="http://schemas.microsoft.com/office/powerpoint/2010/main" val="861940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E5A4C1-B5FD-D53D-B838-D1E31DEAE6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AD9854-9F7A-5EBB-5818-7291C5C92C1C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F4578-8826-997F-1937-E8AE27A1FAE1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73CDB4-AFA9-17C2-7607-19FA82E7087D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00: Warm-Up: Rebuild the Attack Timeline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E5F94-4B2A-F631-141B-3054256B20F2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Before chasing individual scenarios, rebuild the AttackIQ timeline on the workstation.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let, union, project, order by, workstation scoping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832307-E90C-BC46-86E6-06925839CBBF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C4B5D-9D73-1D6E-43E0-6F0083EF49F5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What launched the attack, what account ran it, and where did the runtime unpack?</a:t>
            </a:r>
          </a:p>
        </p:txBody>
      </p:sp>
    </p:spTree>
    <p:extLst>
      <p:ext uri="{BB962C8B-B14F-4D97-AF65-F5344CB8AC3E}">
        <p14:creationId xmlns:p14="http://schemas.microsoft.com/office/powerpoint/2010/main" val="2950693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854C64-DD02-53B8-6310-C3565B9E52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B8991F-2EC3-E134-1BBD-B6F85D17BACD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B9D31-DA2A-0319-AA9B-06C85AD5450C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WARM-UP: REBUILD THE ATTACK TIMELINE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590EAE-C565-F505-40FA-72B158B9FEDA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00: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478BD-9201-0F5B-1EE0-2F97D150A5BA}"/>
              </a:ext>
            </a:extLst>
          </p:cNvPr>
          <p:cNvSpPr txBox="1"/>
          <p:nvPr/>
        </p:nvSpPr>
        <p:spPr>
          <a:xfrm>
            <a:off x="685800" y="1371600"/>
            <a:ext cx="5461000" cy="179536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Scope to TargetDevice and last 7 days.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Start with DeviceProcessEvents and take 20 rows.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Project Timestamp, EvidenceType, and Detail.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Use union to combine process, file, and alert evidence.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7071D7-8417-CC08-14F3-81B6F1BAECA3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684C01-BBEE-1BA8-262B-EE51ABD0DCA6}"/>
              </a:ext>
            </a:extLst>
          </p:cNvPr>
          <p:cNvSpPr txBox="1"/>
          <p:nvPr/>
        </p:nvSpPr>
        <p:spPr>
          <a:xfrm>
            <a:off x="6756400" y="1524000"/>
            <a:ext cx="4203700" cy="416524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union isfuzzy=true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DeviceProcessEvents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where DeviceName == TargetDevice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project Timestamp, EvidenceType="Process", Detail=ProcessCommandLine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DeviceFileEvents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where DeviceName == TargetDevice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project Timestamp, EvidenceType="File", Detail=strcat(ActionType, " | ", FileName)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AlertEvidence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where DeviceName == TargetDevice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    | project Timestamp, EvidenceType="Alert", Detail=Title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order by Timestamp asc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5EE1ED-C6D4-8012-8A4C-79514FE3CC4B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920E51-7700-DA3D-F5A0-91A4DC5E414C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4008653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78232F-BB44-2E01-531C-4C4EEC2259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21F5ED-01FF-2EF8-7BB3-641A6EE7F6A2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DAF21-F036-087A-5840-C32E610EC409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8123A-96EC-C4E1-0383-7158008E4440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00: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9991D3-38CE-C68B-E105-8FFC67296A40}"/>
              </a:ext>
            </a:extLst>
          </p:cNvPr>
          <p:cNvSpPr txBox="1"/>
          <p:nvPr/>
        </p:nvSpPr>
        <p:spPr>
          <a:xfrm>
            <a:off x="685800" y="1371600"/>
            <a:ext cx="10414000" cy="71814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What launched the attack, what account ran it, and where did the runtime unpack?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E2A7E7-5887-8AB4-4D31-75D766FE9559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F4E228-EE6D-5A4D-97D1-6E8AC4FC3FF8}"/>
              </a:ext>
            </a:extLst>
          </p:cNvPr>
          <p:cNvSpPr txBox="1"/>
          <p:nvPr/>
        </p:nvSpPr>
        <p:spPr>
          <a:xfrm>
            <a:off x="812800" y="2438400"/>
            <a:ext cx="10160000" cy="84125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Launcher: SecBase_security-control-baseline-endpoint-edr_V1_0_51_amd64_gui-sig.exe. Account: xadmin. Runtime: C:\Users\xadmin\Downloads\.ghostex-cli-wd-2170286878. Orchestrator: python.exe running attack_graph.py.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722EC7-D5C5-22C3-9935-46B5235D39F3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177026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0B2182-E27C-D712-49C8-276FEFEA3A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A8136D-CB81-70F9-FA0F-CC6247C6A27F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C316A-81AA-49E8-8549-AA14D0886004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E51A2-C396-6D7F-9A7B-E29B7F7F9145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01: Credentials In Registry 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AA3904-A91A-DF4E-96F3-7AC30DECE638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The attacker uses a PowerShell script related to credentials stored in the registry.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Exact filename match plus alert technique pivot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B38DE5-1644-4E3A-0975-AEBF4E09686A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784566-DBEF-3EC4-0469-99223E261832}"/>
              </a:ext>
            </a:extLst>
          </p:cNvPr>
          <p:cNvSpPr txBox="1"/>
          <p:nvPr/>
        </p:nvSpPr>
        <p:spPr>
          <a:xfrm>
            <a:off x="1016000" y="5232400"/>
            <a:ext cx="9779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Which script is the registry-creds clue, and which ATT&amp;CK technique did Defender attach to it?</a:t>
            </a:r>
          </a:p>
        </p:txBody>
      </p:sp>
    </p:spTree>
    <p:extLst>
      <p:ext uri="{BB962C8B-B14F-4D97-AF65-F5344CB8AC3E}">
        <p14:creationId xmlns:p14="http://schemas.microsoft.com/office/powerpoint/2010/main" val="2928609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BB8C06-B8F2-0B30-635F-82B7594991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6F0E6E-3557-FA99-D40E-61DB8852665D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AC787-E6C5-281A-BF91-A3C321450A17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CREDENTIALS IN REGISTRY 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A59EE5-50B1-95A6-4FA6-7F33A6AF2A99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01: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30D0E-3C82-A738-40F0-EAD5F49033BD}"/>
              </a:ext>
            </a:extLst>
          </p:cNvPr>
          <p:cNvSpPr txBox="1"/>
          <p:nvPr/>
        </p:nvSpPr>
        <p:spPr>
          <a:xfrm>
            <a:off x="685800" y="1371600"/>
            <a:ext cx="5461000" cy="179536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Find the script in DeviceFileEvents.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command lines for the script name.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Pivot to AlertEvidence for ATT&amp;CK context.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Keep FileName, Title, AttackTechniques, and SHA256.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0649FB-7254-E3E4-7D8F-B030B2D9E434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435CD-CD7D-136B-4901-ECD84B5991CD}"/>
              </a:ext>
            </a:extLst>
          </p:cNvPr>
          <p:cNvSpPr txBox="1"/>
          <p:nvPr/>
        </p:nvSpPr>
        <p:spPr>
          <a:xfrm>
            <a:off x="6756400" y="1524000"/>
            <a:ext cx="4203700" cy="179536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AlertEvidence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 or FileName =~ "credentials_in_registry.ps1"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Title has_any ("PowerShell", "Registry", "Credentials") or AttackTechniques has_any ("Credentials in Registry", "T1552.002")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Title, FileName, AttackTechniques, SHA256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5B694E-AB10-68C8-BB50-B80AD979F1E0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3191D0-0870-60E6-95E8-B59B274F15FA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1412648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78E4EF-2B43-436B-1DF8-A748297B21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7D3E80-E166-F080-9BEC-77D1E7E170CE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5E900-6FC6-E7AE-357B-D88B9E55EB5A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F536D-2672-421E-CF73-14B8D23B25E2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01: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2D1E2-14AB-DEEB-C594-CB6E39D26A85}"/>
              </a:ext>
            </a:extLst>
          </p:cNvPr>
          <p:cNvSpPr txBox="1"/>
          <p:nvPr/>
        </p:nvSpPr>
        <p:spPr>
          <a:xfrm>
            <a:off x="685800" y="1371600"/>
            <a:ext cx="10414000" cy="71814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Which script is the registry-creds clue, and which ATT&amp;CK technique did Defender attach to it?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98169-82BF-7647-F1A0-6AC9CB7510CA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282FC-5EE5-F3B3-535C-9A03E69EEBEF}"/>
              </a:ext>
            </a:extLst>
          </p:cNvPr>
          <p:cNvSpPr txBox="1"/>
          <p:nvPr/>
        </p:nvSpPr>
        <p:spPr>
          <a:xfrm>
            <a:off x="812800" y="2438400"/>
            <a:ext cx="1016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Script: credentials_in_registry.ps1. Alert: malicious PowerShell cmdlet. ATT&amp;CK: Credentials in Registry (T1552.002).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C54EB-F900-C9F7-EA82-D61FBD3FC0A9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1442102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9611D2-79D8-358F-4797-F7DDEE61D2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D843A5-F61C-5C4F-9516-61C356289686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6F65D4-DEC5-E38F-E505-2537CB749E3F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BB6F44-FCDA-A8ED-0A99-2E86B287C6E0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it-IT" sz="2500" b="1">
                <a:solidFill>
                  <a:srgbClr val="FFFFFF"/>
                </a:solidFill>
                <a:latin typeface="Aptos" panose="020B0004020202020204" pitchFamily="34" charset="0"/>
              </a:rPr>
              <a:t>Scenario 02: Dump SAM Registry Hive via reg save</a:t>
            </a:r>
            <a:endParaRPr lang="en-US" sz="25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32466-5571-ECC5-5409-B7325F8F7CCA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The attacker tries to save the local SAM registry hive from the command line.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has_all for multi-clue command-line behavior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88DF0A-6234-93DC-DD8F-AEDC5E830A17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1194E-3BB5-6AB8-077B-D9118651D566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Where did the attacker try to save the SAM hive?</a:t>
            </a:r>
          </a:p>
        </p:txBody>
      </p:sp>
    </p:spTree>
    <p:extLst>
      <p:ext uri="{BB962C8B-B14F-4D97-AF65-F5344CB8AC3E}">
        <p14:creationId xmlns:p14="http://schemas.microsoft.com/office/powerpoint/2010/main" val="1184923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07A00D-50AD-0B26-A506-4771075B3E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68395F-6909-C88D-881C-C641EC89C829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74A9A-9F24-EE62-06F6-A1BCB85119D7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DUMP SAM REGISTRY HIVE VIA REG SAVE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3EC9F6-10D4-E5E1-5777-B962F5F027A6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02: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47654-4E49-F091-788B-A9FB61F5F60F}"/>
              </a:ext>
            </a:extLst>
          </p:cNvPr>
          <p:cNvSpPr txBox="1"/>
          <p:nvPr/>
        </p:nvSpPr>
        <p:spPr>
          <a:xfrm>
            <a:off x="685800" y="1371600"/>
            <a:ext cx="5461000" cy="151836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Start in DeviceProcessEvents.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ProcessCommandLine for reg save.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Require hklm\\sam with has_all.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Read the output path from the command line.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ECFDC9-6AFC-E00D-CE64-3CFAC007EB06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9EB8F-4EB5-61B9-FEE6-BCADAE9FC5C7}"/>
              </a:ext>
            </a:extLst>
          </p:cNvPr>
          <p:cNvSpPr txBox="1"/>
          <p:nvPr/>
        </p:nvSpPr>
        <p:spPr>
          <a:xfrm>
            <a:off x="6756400" y="1524000"/>
            <a:ext cx="42037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DeviceProcessEvents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ProcessCommandLine has_all ("reg save", "hklm\\sam")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FileName, ProcessCommandLine, AccountName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202645-E37F-81EC-C37F-90EAD383DC1C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655C07-50B4-D413-587E-2446421C19B0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1751737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85DD2C-0324-1203-361B-43AA425B82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AB2376-5EC6-87CF-A641-0B191621AC22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B5E3B-435B-82C4-AB11-60C9003734CF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7FEFA-11FB-F4CE-A9F3-9D63BDF5BBA2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02: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288FE-A13E-43B1-F76C-E4AB02078479}"/>
              </a:ext>
            </a:extLst>
          </p:cNvPr>
          <p:cNvSpPr txBox="1"/>
          <p:nvPr/>
        </p:nvSpPr>
        <p:spPr>
          <a:xfrm>
            <a:off x="685800" y="1371600"/>
            <a:ext cx="10414000" cy="4103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Where did the attacker try to save the SAM hive?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6CBC71-7401-F0C8-AD5F-2AC6BB51F63E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5AB99-F8A3-865B-5754-894890E62A9A}"/>
              </a:ext>
            </a:extLst>
          </p:cNvPr>
          <p:cNvSpPr txBox="1"/>
          <p:nvPr/>
        </p:nvSpPr>
        <p:spPr>
          <a:xfrm>
            <a:off x="812800" y="2438400"/>
            <a:ext cx="1016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The command attempted: reg save hklm\sam C:\Users\xadmin\AppData\Local\Temp\sam. Defender also produced RegistryExfil prevention evidence.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2D1B20-3576-8C6F-D237-EAF17AB9F6DA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1153635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FCA012-FEA2-ED16-C5CD-321F248757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55563C-17BE-412B-BA4A-535A17BB041D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4D1B4-76CE-D0B7-E07D-667F85F91083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FB190-176D-1861-DF62-9EA7455FF835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03: Browser Data via Esentutl and PowerShell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87883-46F7-CD1E-36F9-127BFCBEEC76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PowerShell launches a script and esentutl.exe works with browser/WebCache data.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Parent-child process pivots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3C0BA-59AC-61EF-8321-65DE3D688CEB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08969-D324-96B9-3593-CCEF17A92787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Which process launched esentutl.exe, and what cache path was targeted?</a:t>
            </a:r>
          </a:p>
        </p:txBody>
      </p:sp>
    </p:spTree>
    <p:extLst>
      <p:ext uri="{BB962C8B-B14F-4D97-AF65-F5344CB8AC3E}">
        <p14:creationId xmlns:p14="http://schemas.microsoft.com/office/powerpoint/2010/main" val="3212672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D14460-9B36-5A1B-EDA0-DC60A5E9D9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3E519C-5B48-333F-D014-BC3AB28ABC32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978F6-7F98-FDEB-34EE-B1A03A14B648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BROWSER DATA VIA ESENTUTL AND POWERSHELL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88E40-5CDE-A43B-A126-AFDE759F9E2F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03: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97A72-0405-A00D-21FE-55248BAAB2AD}"/>
              </a:ext>
            </a:extLst>
          </p:cNvPr>
          <p:cNvSpPr txBox="1"/>
          <p:nvPr/>
        </p:nvSpPr>
        <p:spPr>
          <a:xfrm>
            <a:off x="685800" y="1371600"/>
            <a:ext cx="5461000" cy="207236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for powershell.exe and esentutl.exe.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Look for collect_database_webcache.ps1 and WebCache.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Use InitiatingProcessCommandLine to explain who launched esentutl.exe.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Project both child and parent command lines.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30660-98F8-931D-1777-D4F0F207F9F2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67DF56-2176-41A3-5DF8-7AFB9F945E1C}"/>
              </a:ext>
            </a:extLst>
          </p:cNvPr>
          <p:cNvSpPr txBox="1"/>
          <p:nvPr/>
        </p:nvSpPr>
        <p:spPr>
          <a:xfrm>
            <a:off x="6756400" y="1524000"/>
            <a:ext cx="4203700" cy="230319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DeviceProcessEvents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in~ ("powershell.exe", "esentutl.exe")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ProcessCommandLine has_any ("collect_database_webcache.ps1", "esentutl", "WebCache") or InitiatingProcessCommandLine has "collect_database_webcache.ps1"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FileName, ProcessCommandLine, InitiatingProcessFileName, InitiatingProcessCommandLine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1833E0-4BD4-F790-8B6F-05AF57C6B30E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B881E2-FC94-7497-CD23-B27DC455FC66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2466346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8790A4-3601-4324-4B46-118169E1B8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3CB48E-F71F-3E29-515D-4952A0EFACB7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197DA6-3EB4-0C8A-DFC0-07A387FC2499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13F9F-BE18-1618-0BE5-AA4EE786B763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03: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6273C-73DC-3AF6-0A0B-F0ABBDEE2A00}"/>
              </a:ext>
            </a:extLst>
          </p:cNvPr>
          <p:cNvSpPr txBox="1"/>
          <p:nvPr/>
        </p:nvSpPr>
        <p:spPr>
          <a:xfrm>
            <a:off x="685800" y="1371600"/>
            <a:ext cx="10414000" cy="4103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Which process launched esentutl.exe, and what cache path was targeted?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1EAEBA-3DC3-C904-3CC9-BCFD3A0C4C6D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3DC8D-9A5C-3DBD-B6DC-091977055781}"/>
              </a:ext>
            </a:extLst>
          </p:cNvPr>
          <p:cNvSpPr txBox="1"/>
          <p:nvPr/>
        </p:nvSpPr>
        <p:spPr>
          <a:xfrm>
            <a:off x="812800" y="2438400"/>
            <a:ext cx="1016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Parent: powershell.exe. Script: collect_database_webcache.ps1. Child: esentutl.exe. Target includes C:\Users\xadmin\AppData\Local\Microsoft\Windows\WebCache.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3013E-0FD5-E68A-B4B8-2D3AD660259B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166563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BA9D92-41B9-6134-E903-C6F41B8289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352396-F785-4B05-6922-7224D37A9170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C681C-6C3C-190C-AE74-49F9EF9339BE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D890F8-42C4-0C69-7574-2B6010F23D3B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04: Kerberoasting Using Rubeus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60747-5EAD-A269-5506-2A88B92FF72A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Rubeus is staged for Kerberoasting, but Defender interrupts the move.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Blocked tool evidence in file and alert tables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EC09-EB61-260B-ECAF-CA5D4A5A5CA0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47A14-1521-DBE8-C714-701C1016A08D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What file name and hash identify the Rubeus attempt?</a:t>
            </a:r>
          </a:p>
        </p:txBody>
      </p:sp>
    </p:spTree>
    <p:extLst>
      <p:ext uri="{BB962C8B-B14F-4D97-AF65-F5344CB8AC3E}">
        <p14:creationId xmlns:p14="http://schemas.microsoft.com/office/powerpoint/2010/main" val="4038090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AA6870-7001-77C5-28E1-0D266EDAA1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099345-B531-66F3-C339-FA04FB84BB5D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8B37F-28DF-5738-AA41-A3288D8E67E3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KERBEROASTING USING RUBEUS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CF339-A353-9C68-6CA8-01D3E8837C78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04: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D7700-70D8-B4F4-3866-B6579F8E2833}"/>
              </a:ext>
            </a:extLst>
          </p:cNvPr>
          <p:cNvSpPr txBox="1"/>
          <p:nvPr/>
        </p:nvSpPr>
        <p:spPr>
          <a:xfrm>
            <a:off x="685800" y="1371600"/>
            <a:ext cx="5461000" cy="151836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Start with DeviceFileEvents for Rubeus.exe.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Pivot to AlertEvidence.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Look for Kerberoasting or T1558.003.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Use SHA256 as durable proof.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CC82E2-6034-FC25-D3E9-B4B254CC3193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F12FE-30FA-75FA-4F82-551552434252}"/>
              </a:ext>
            </a:extLst>
          </p:cNvPr>
          <p:cNvSpPr txBox="1"/>
          <p:nvPr/>
        </p:nvSpPr>
        <p:spPr>
          <a:xfrm>
            <a:off x="6756400" y="1524000"/>
            <a:ext cx="4203700" cy="179536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AlertEvidence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 or FileName =~ "Rubeus.exe"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=~ "Rubeus.exe" or AttackTechniques has_any ("Kerberoasting", "T1558.003")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Title, FileName, AttackTechniques, SHA256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D2D01-05D8-FD19-FAAC-2DC7B1030720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4A2B2-705C-4F9F-DEA9-FB92852C0CF5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1962988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CF8ECD-CFCF-296D-DB26-566FCBD19B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FCEEF7-B20F-A2CA-E25B-3366B2B4AB69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0CD2D-AA49-C84E-3C65-3B3D6CB1F4EC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FF7A6-C0B7-D971-8FD4-5943E93259AE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04: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0AC12-8418-611E-7717-0804C4F47365}"/>
              </a:ext>
            </a:extLst>
          </p:cNvPr>
          <p:cNvSpPr txBox="1"/>
          <p:nvPr/>
        </p:nvSpPr>
        <p:spPr>
          <a:xfrm>
            <a:off x="685800" y="1371600"/>
            <a:ext cx="10414000" cy="4103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What file name and hash identify the Rubeus attempt?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093080-41BD-2A65-37E5-A300A75C4519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138F9-57BA-7113-A5CA-0863040C1315}"/>
              </a:ext>
            </a:extLst>
          </p:cNvPr>
          <p:cNvSpPr txBox="1"/>
          <p:nvPr/>
        </p:nvSpPr>
        <p:spPr>
          <a:xfrm>
            <a:off x="812800" y="2438400"/>
            <a:ext cx="1016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File: Rubeus.exe. Hash: 1e1fe8a1730bf8caabd867fd2f990b0e52aee0f9f8635578ff8b18c0950b616c. Technique: Kerberoasting (T1558.003).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226E1-D2B4-017E-2238-07BD7BE0A08E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31693833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718C96-301C-D4CE-7CA9-EBE5816929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FCD2E-E3C0-9C20-5E3C-B5E5AF9A0F1E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124198-4C04-8A17-5AAA-712C614DD38F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161A7A-60F8-1C3C-2D70-77F640958C54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05: PowerShell Empire Invoke-Kerberoast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C28D23-7E49-B04B-0D4C-091BB703BC6F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The attacker switches from an executable to PowerShell Kerberoasting scripts.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has_any for related script artifacts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FCC857-26B2-E887-29A6-D7DB495461E4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E70A1-8D0B-332A-2035-AF83498B275B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Which two PowerShell files were staged for the Kerberoasting test?</a:t>
            </a:r>
          </a:p>
        </p:txBody>
      </p:sp>
    </p:spTree>
    <p:extLst>
      <p:ext uri="{BB962C8B-B14F-4D97-AF65-F5344CB8AC3E}">
        <p14:creationId xmlns:p14="http://schemas.microsoft.com/office/powerpoint/2010/main" val="1158864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92AAEF-B3BA-1E7D-B59E-79B0D0DB8F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683A4F-C83C-BA92-94A0-CB02B50C09A9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0120E-93BD-32D1-4614-03DAB8158014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POWERSHELL EMPIRE INVOKE-KERBEROAST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3A250-2C07-1EAB-7B9C-7F3CF1374827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05: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F22C8-779F-776E-D725-873A90D59C97}"/>
              </a:ext>
            </a:extLst>
          </p:cNvPr>
          <p:cNvSpPr txBox="1"/>
          <p:nvPr/>
        </p:nvSpPr>
        <p:spPr>
          <a:xfrm>
            <a:off x="685800" y="1371600"/>
            <a:ext cx="5461000" cy="179536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DeviceFileEvents for kerberoast.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Use has_any for invoke-kerberoast and call-invoke-kerberoast.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Pivot to AlertEvidence for Defender context.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Compare wrapper script and payload script.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F6018A-09A4-3EF5-036D-05CC0568C19B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F07FD-1CD1-B805-6BE9-A7D74A325352}"/>
              </a:ext>
            </a:extLst>
          </p:cNvPr>
          <p:cNvSpPr txBox="1"/>
          <p:nvPr/>
        </p:nvSpPr>
        <p:spPr>
          <a:xfrm>
            <a:off x="6756400" y="1524000"/>
            <a:ext cx="42037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DeviceFileEvents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has_any ("invoke-kerberoast", "call-invoke-kerberoast")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ActionType, FileName, FolderPath, SHA256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3BC945-7FFA-84DA-4F31-A8D0248B95F9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F9396-DBE4-786C-6B86-C57005C45C6B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650181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93FBFC-4965-484D-EF7C-F7998863D1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3479FD-3E57-CF66-1236-AE89C1FD283D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A763A-7C6E-6083-7366-1DF8612C947F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C9A11-EAA1-D973-B8F3-529FC7BE5206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05: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0F0BC-E738-B0F5-9177-1DF47711D552}"/>
              </a:ext>
            </a:extLst>
          </p:cNvPr>
          <p:cNvSpPr txBox="1"/>
          <p:nvPr/>
        </p:nvSpPr>
        <p:spPr>
          <a:xfrm>
            <a:off x="685800" y="1371600"/>
            <a:ext cx="10414000" cy="4103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Which two PowerShell files were staged for the Kerberoasting test?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B04F6-B77B-50E9-1CD2-C8B29DB4A5F5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E6C92-177B-93CB-D5BC-97FA828C5BD9}"/>
              </a:ext>
            </a:extLst>
          </p:cNvPr>
          <p:cNvSpPr txBox="1"/>
          <p:nvPr/>
        </p:nvSpPr>
        <p:spPr>
          <a:xfrm>
            <a:off x="812800" y="2438400"/>
            <a:ext cx="1016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call-invoke-kerberoast.ps1 and invoke-kerberoast.ps1. Defender detections were tied to invoke-kerberoast.ps1.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D7001-3A6C-25F0-D359-699008A8148F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3702388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BE0AFB-8671-32D8-7B87-22D4A7BF0E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6F7143-FEB6-2782-50AA-A006257E2E19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1F082-417D-113C-BDE0-E33ED8CEA40A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099536-1596-EB82-E0BF-C8FC22F70470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06: LSASS Minidump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4F369-D9A9-6067-55B8-D64A8F21EA54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The attacker tries to dump LSASS. A dump file appears and Defender raises DumpLsass evidence.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Pattern hunting with endswith and alert titles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105931-2499-1646-8064-7C4F83812811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D5520-35F6-C915-8BF2-CF75615BEADC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What dump file was created, and what ATT&amp;CK sub-technique did the alert map to?</a:t>
            </a:r>
          </a:p>
        </p:txBody>
      </p:sp>
    </p:spTree>
    <p:extLst>
      <p:ext uri="{BB962C8B-B14F-4D97-AF65-F5344CB8AC3E}">
        <p14:creationId xmlns:p14="http://schemas.microsoft.com/office/powerpoint/2010/main" val="3089395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D70DF-A95F-FD05-6D37-013EE6227D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4244EE-1C53-4B9C-557D-2C50433FAF2C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F7C28-3A54-1FAC-8F22-689C5C8318BE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LSASS MINIDUMP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7310D-8FC2-D982-7E40-48BE43ABF69E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06: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28ED6-DB97-D75D-97B4-2F595E33DF6D}"/>
              </a:ext>
            </a:extLst>
          </p:cNvPr>
          <p:cNvSpPr txBox="1"/>
          <p:nvPr/>
        </p:nvSpPr>
        <p:spPr>
          <a:xfrm>
            <a:off x="685800" y="1371600"/>
            <a:ext cx="5461000" cy="179536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DeviceFileEvents for FileName endswith .dmp.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Look for pid_ path patterns.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AlertEvidence for DumpLsass or LSASS.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Map to LSASS Memory T1003.001.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A2579F-963D-8214-1EB5-EC72DD48D7EB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A58C7-F550-063E-BA19-C85FD5ADE94B}"/>
              </a:ext>
            </a:extLst>
          </p:cNvPr>
          <p:cNvSpPr txBox="1"/>
          <p:nvPr/>
        </p:nvSpPr>
        <p:spPr>
          <a:xfrm>
            <a:off x="6756400" y="1524000"/>
            <a:ext cx="42037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DeviceFileEvents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endswith ".dmp" or FolderPath has "pid_"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ActionType, FileName, FolderPath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697D2-40A4-FB14-7738-61E58A704DC9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54809E-6166-B4BC-0F9E-AF880C267D7E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2285601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7A1BEC-1908-3EAB-2135-E8D69C0DEE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A5436-E01B-3F83-A618-2116893633C0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DE554-B4CF-8483-2659-3FC438AAEC8E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5AB30-58D9-86BF-68BC-53BB48F0F39C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06: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1B7B4-4DC7-C4B2-4C7D-3A9C1AF09ABE}"/>
              </a:ext>
            </a:extLst>
          </p:cNvPr>
          <p:cNvSpPr txBox="1"/>
          <p:nvPr/>
        </p:nvSpPr>
        <p:spPr>
          <a:xfrm>
            <a:off x="685800" y="1371600"/>
            <a:ext cx="10414000" cy="71814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What dump file was created, and what ATT&amp;CK sub-technique did the alert map to?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B58B7B-7747-2BC3-26E9-95EED380000C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E8AE6-B046-4D30-99B7-4B7762574E3D}"/>
              </a:ext>
            </a:extLst>
          </p:cNvPr>
          <p:cNvSpPr txBox="1"/>
          <p:nvPr/>
        </p:nvSpPr>
        <p:spPr>
          <a:xfrm>
            <a:off x="812800" y="2438400"/>
            <a:ext cx="1016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Dump file: pid_976_2ztj_d6a.dmp. Alert: DumpLsass hacktool prevented. Technique: LSASS Memory (T1003.001).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A2E8C4-707B-1A44-6E0B-A4C8FD9F3C2E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1165642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8C17CE-1BE7-71E6-97C0-D57938D64D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CC6432-E0BB-5F03-8ADB-76BEF0701CFC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2C656-1A9F-5F4C-ED4E-887C8E7CB576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61E91-0F2B-830C-171A-38DBE75C4F96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07: Dump Passwords Using PwDump7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9AF8DF-F2F5-4921-10F9-255FC7763FBA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PwDump7 is staged and Defender prevents the credential dumping attempt.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Prevented tool evidence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E54226-A5BA-DF45-2864-5697D4FFB8C1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22889-6917-6422-4805-C2440727C346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Was PwDump executed cleanly, or was it prevented? What tells you?</a:t>
            </a:r>
          </a:p>
        </p:txBody>
      </p:sp>
    </p:spTree>
    <p:extLst>
      <p:ext uri="{BB962C8B-B14F-4D97-AF65-F5344CB8AC3E}">
        <p14:creationId xmlns:p14="http://schemas.microsoft.com/office/powerpoint/2010/main" val="287189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468A2-0B22-CE57-3335-4B16836278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40B4B2-4378-7F64-9FBA-0CE9F53F281B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F75A7E-9DBB-FCC1-2CA2-85D7EF6272F2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DUMP PASSWORDS USING PWDUMP7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0F5F91-7CA7-53B0-4D2A-987DD010A8A7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07: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F8405-E807-F6FB-9286-3F763791F025}"/>
              </a:ext>
            </a:extLst>
          </p:cNvPr>
          <p:cNvSpPr txBox="1"/>
          <p:nvPr/>
        </p:nvSpPr>
        <p:spPr>
          <a:xfrm>
            <a:off x="685800" y="1371600"/>
            <a:ext cx="5461000" cy="151836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file events for pwdump.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alert titles for PWDump.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Read Title and Severity to understand outcome.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Explain attempted vs successful execution.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FD440E-E17D-F0E9-398E-71DB5C65E47C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6D31B-F5F1-0666-BD0B-02F99BC91B3D}"/>
              </a:ext>
            </a:extLst>
          </p:cNvPr>
          <p:cNvSpPr txBox="1"/>
          <p:nvPr/>
        </p:nvSpPr>
        <p:spPr>
          <a:xfrm>
            <a:off x="6756400" y="1524000"/>
            <a:ext cx="4203700" cy="162608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AlertEvidence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 or FileName has "pwdump"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Title has "PWDump" or FileName has "pwdump"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Title, Severity, FileName, SHA256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A724CD-075A-056B-EA27-44A29B4D7330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69705B-3530-FF4A-42AB-6086B7614531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1595164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925E63-E1A3-42D1-1B8D-B0CF824BA9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5E6F0-D27B-2912-E91B-2622D983FE8E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CB37C-DC79-F2C5-AB61-5D0F0334A830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49FF4-06F5-161E-4BBE-8142AA7351CC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07: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6A601-63C0-CA09-2CE1-16BCBCE26F9C}"/>
              </a:ext>
            </a:extLst>
          </p:cNvPr>
          <p:cNvSpPr txBox="1"/>
          <p:nvPr/>
        </p:nvSpPr>
        <p:spPr>
          <a:xfrm>
            <a:off x="685800" y="1371600"/>
            <a:ext cx="10414000" cy="4103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Was PwDump executed cleanly, or was it prevented? What tells you?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FBB762-BC19-B32E-C0AC-9E5EC7EEDDBC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BB751-529F-979E-85C7-443FA8D85E8D}"/>
              </a:ext>
            </a:extLst>
          </p:cNvPr>
          <p:cNvSpPr txBox="1"/>
          <p:nvPr/>
        </p:nvSpPr>
        <p:spPr>
          <a:xfrm>
            <a:off x="812800" y="2438400"/>
            <a:ext cx="1016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Artifact: pwdump7.zip. Defender alert: PWDump hacktool was prevented. Outcome: attempted and prevented.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5AB545-58F5-C04B-B17B-ED412EFC6B27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15223995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8368DC-1BB7-9AEE-82F5-25E8C7EB46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E9A8F3-F443-67ED-4542-44C356DC9162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0CDF28-F71A-8110-9679-B7BDDEC79ECF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5F8E7-368C-1ADD-38BA-AB126108F551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08: Dump Passwords Using gsecdump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61DC1-4B4B-E03C-C8B7-1AE273ABCC09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gsecdump is staged, but Defender may label it with a detection family rather than the tool name.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Artifact name versus detection name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928AEF-AC71-C120-99D0-9B333C5F42B8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FE7B1-92A4-366D-F500-A708E07B0C88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What did Defender call the threat, and what was the actual staged file name?</a:t>
            </a:r>
          </a:p>
        </p:txBody>
      </p:sp>
    </p:spTree>
    <p:extLst>
      <p:ext uri="{BB962C8B-B14F-4D97-AF65-F5344CB8AC3E}">
        <p14:creationId xmlns:p14="http://schemas.microsoft.com/office/powerpoint/2010/main" val="2947304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76708D-90E7-E028-0222-10D85C981B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87AA1C-D54C-71E6-AB6A-8A2E8CC2FD6F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6DD115-0F18-0CB0-250E-A1ADB7C3FB47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DUMP PASSWORDS USING GSECDUMP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2927C-9FB3-1934-7CE9-73DBC4CD33B1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08: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8287D-8C48-8C82-302B-F8FBE7057729}"/>
              </a:ext>
            </a:extLst>
          </p:cNvPr>
          <p:cNvSpPr txBox="1"/>
          <p:nvPr/>
        </p:nvSpPr>
        <p:spPr>
          <a:xfrm>
            <a:off x="685800" y="1371600"/>
            <a:ext cx="5461000" cy="179536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Find gsecdump in DeviceFileEvents.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AlertEvidence for gsecdump or Vigorf.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Compare staged artifact to alert title.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Teach that product verdicts may not repeat the tool name.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5F7425-23E6-B14F-FC4E-2318B843ACA6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BFFCA-4703-021C-3BF1-89206FA2166D}"/>
              </a:ext>
            </a:extLst>
          </p:cNvPr>
          <p:cNvSpPr txBox="1"/>
          <p:nvPr/>
        </p:nvSpPr>
        <p:spPr>
          <a:xfrm>
            <a:off x="6756400" y="1524000"/>
            <a:ext cx="42037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AlertEvidence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 or FileName has "gsecdump"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has "gsecdump" or Title has "Vigorf"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Title, Severity, FileName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22BB32-B314-879C-3BC0-87DDBA6D0D50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93A7D-63F9-9F4A-5AA8-104CBDF79BA5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34840458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2EE808-2C27-3C62-0C8E-34661BCDD9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334E6-9C3B-D6E7-0FD2-C758AD803B47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F611D-010F-DC05-3438-02EC24973BF8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A677F-D289-4535-E8AF-DA6CC8EF09FF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08: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BD3DA-7113-2482-8332-03D82372C9C6}"/>
              </a:ext>
            </a:extLst>
          </p:cNvPr>
          <p:cNvSpPr txBox="1"/>
          <p:nvPr/>
        </p:nvSpPr>
        <p:spPr>
          <a:xfrm>
            <a:off x="685800" y="1371600"/>
            <a:ext cx="10414000" cy="4103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What did Defender call the threat, and what was the actual staged file name?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77D2CD-564E-ECFF-6A48-7C85F7380A53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32E00-F910-B70F-402B-6EC2D6C03140}"/>
              </a:ext>
            </a:extLst>
          </p:cNvPr>
          <p:cNvSpPr txBox="1"/>
          <p:nvPr/>
        </p:nvSpPr>
        <p:spPr>
          <a:xfrm>
            <a:off x="812800" y="2438400"/>
            <a:ext cx="10160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Staged file: gsecdump-0.7-win32.zip. Defender alert: Vigorf malware was prevented.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6469B8-0D24-52B8-9D91-4039059B0BA8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458172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FFD954-7CA0-1D06-AABD-9A72B40BC2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295955-D7F8-46AB-DC21-5C8AAAF934DF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78C98-93F5-5E5D-72E8-DB4756204B73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37780-7A19-41BE-2619-BE990604D687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09: Dump Passwords Using LaZagne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88DF6C-C0C9-D0B2-3103-A2B506FD3E7B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LaZagne appears on disk and is later cleaned up.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File lifecycle with ActionType and summarize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2371C6-641F-47B2-4A7A-1E0AE3F72335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C08A99-B959-1D2D-9EF3-A92848CBC239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How do we know the tool was cleaned up after staging?</a:t>
            </a:r>
          </a:p>
        </p:txBody>
      </p:sp>
    </p:spTree>
    <p:extLst>
      <p:ext uri="{BB962C8B-B14F-4D97-AF65-F5344CB8AC3E}">
        <p14:creationId xmlns:p14="http://schemas.microsoft.com/office/powerpoint/2010/main" val="3309398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1B1613-01F2-0E09-9E68-5E7DC7809C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69AEE-80A9-0BA3-69F4-751DFF705B48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A456B-22C4-4C98-EF7F-1CE2E082FD22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DUMP PASSWORDS USING LAZAGNE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AA216-157D-A98E-42AC-B0D108B814DB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09: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33AEF0-324B-AE20-2329-070EB757328D}"/>
              </a:ext>
            </a:extLst>
          </p:cNvPr>
          <p:cNvSpPr txBox="1"/>
          <p:nvPr/>
        </p:nvSpPr>
        <p:spPr>
          <a:xfrm>
            <a:off x="685800" y="1371600"/>
            <a:ext cx="5461000" cy="179536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FileName has lazagne.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Keep ActionType in the output.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Sort by Timestamp asc to see lifecycle.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Use summarize make_set(ActionType) for a compact answer.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ADCD4A-5A5C-23F0-43C1-2F81DE1134F4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6FB21-A017-CEC5-5169-EF63FAF76B38}"/>
              </a:ext>
            </a:extLst>
          </p:cNvPr>
          <p:cNvSpPr txBox="1"/>
          <p:nvPr/>
        </p:nvSpPr>
        <p:spPr>
          <a:xfrm>
            <a:off x="6756400" y="1524000"/>
            <a:ext cx="42037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DeviceFileEvents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has "lazagne"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summarize Actions=make_set(ActionType), FirstSeen=min(Timestamp), LastSeen=max(Timestamp) by FileName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EC9361-29E8-7DC5-D1DA-45E36EDD9CB9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77FEF-2D31-7686-CF26-B6FBD250C8CB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1789934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273F6B-F7FB-9670-B295-89C8AB24B3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36F97B-CE17-534B-85CA-8EC3B812C2A6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C8E5D2-530B-BABC-2033-D43D6466B188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E6168-D8CA-0110-FACC-DC778929B06E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09: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C9CD4-8F3B-80CB-F4DE-B40774772AC5}"/>
              </a:ext>
            </a:extLst>
          </p:cNvPr>
          <p:cNvSpPr txBox="1"/>
          <p:nvPr/>
        </p:nvSpPr>
        <p:spPr>
          <a:xfrm>
            <a:off x="685800" y="1371600"/>
            <a:ext cx="10414000" cy="4103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How do we know the tool was cleaned up after staging?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F0D03-38B7-110E-C843-C1997AE298DF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FCF7C-8DF7-B17A-C6B5-15C98EE7294E}"/>
              </a:ext>
            </a:extLst>
          </p:cNvPr>
          <p:cNvSpPr txBox="1"/>
          <p:nvPr/>
        </p:nvSpPr>
        <p:spPr>
          <a:xfrm>
            <a:off x="812800" y="2438400"/>
            <a:ext cx="1016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Artifact: laZagne_windows_x64.exe. Evidence shows it was created and later deleted. Cleanup did not erase telemetry.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4C97B1-F2FF-470C-64F3-BF4C835E4A34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34235259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55BB7C-73CF-9FA6-F404-1A577BA34D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236DA5-60CB-6EF5-F030-F2AA4EE0683E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4FB30-DF58-96A4-FF5F-444B05BCF341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CCE91-368A-0331-E255-048ECA374FC4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10: Obfuscated Mimikatz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A524E-2BC8-CC6A-6F25-5D1527A5A0B2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Mimikatz-style behavior appears as a PowerShell script rather than mimikatz.exe.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Behavior verdict beats process-name-only hunting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E9DDD3-ECFD-2578-0AE7-1B6D8CB86FCB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733B39-601B-7BA5-61E6-31A380F52C2E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What makes this different from simply looking for mimikatz.exe?</a:t>
            </a:r>
          </a:p>
        </p:txBody>
      </p:sp>
    </p:spTree>
    <p:extLst>
      <p:ext uri="{BB962C8B-B14F-4D97-AF65-F5344CB8AC3E}">
        <p14:creationId xmlns:p14="http://schemas.microsoft.com/office/powerpoint/2010/main" val="2039974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0B9BA8-3192-057B-75B3-E18A46AEF7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C2B4D1-CF52-7A02-2CC7-1EAB91A3A7C6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371E5-C62E-D3E5-CA81-50C03FC4C497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OBFUSCATED MIMIKATZ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5A881-D368-AB73-AE23-19362835D9CF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10: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031ACD-4785-45A6-686D-75788B7C5D42}"/>
              </a:ext>
            </a:extLst>
          </p:cNvPr>
          <p:cNvSpPr txBox="1"/>
          <p:nvPr/>
        </p:nvSpPr>
        <p:spPr>
          <a:xfrm>
            <a:off x="685800" y="1371600"/>
            <a:ext cx="5461000" cy="151836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file events for mimikatz script artifacts.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Search alert titles for Mimikatz credential theft tool.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Explain why process-name-only hunts miss this.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Keep Title, Severity, FileName, SHA256.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E4D9CA-0FDE-C8A0-17C4-03E6AFFA1248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83DC4-1ECF-C143-1082-259D88DFEE59}"/>
              </a:ext>
            </a:extLst>
          </p:cNvPr>
          <p:cNvSpPr txBox="1"/>
          <p:nvPr/>
        </p:nvSpPr>
        <p:spPr>
          <a:xfrm>
            <a:off x="6756400" y="1524000"/>
            <a:ext cx="4203700" cy="179536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AlertEvidence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 or FileName has "mimikatz"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Title has "Mimikatz credential theft tool" or FileName =~ "mimikatz_dump_passwords_v2.ps1"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Title, Severity, FileName, SHA256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15F050-480C-9C6C-5D7E-3EAA91DEB0C6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43F257-74AA-564C-A486-6A7CDCEFEBCF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32163498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89C307-97E7-D60A-32C1-126BD99B58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B92D2-9DA1-F1B5-BC2F-F233DF211726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55C508-9FDF-3956-1BE5-EC3741D7B79B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C200A-3BFE-FFCF-80CF-66384884CA43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10: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34903-D43F-3A5E-A416-8E903DA1CDE3}"/>
              </a:ext>
            </a:extLst>
          </p:cNvPr>
          <p:cNvSpPr txBox="1"/>
          <p:nvPr/>
        </p:nvSpPr>
        <p:spPr>
          <a:xfrm>
            <a:off x="685800" y="1371600"/>
            <a:ext cx="10414000" cy="41036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What makes this different from simply looking for mimikatz.exe?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168B20-F50B-DD94-D5B1-32CF02BD121F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F3BE45-62F3-6590-9AAD-673B19FA9AFA}"/>
              </a:ext>
            </a:extLst>
          </p:cNvPr>
          <p:cNvSpPr txBox="1"/>
          <p:nvPr/>
        </p:nvSpPr>
        <p:spPr>
          <a:xfrm>
            <a:off x="812800" y="2438400"/>
            <a:ext cx="1016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Artifact: mimikatz_dump_passwords_v2.ps1. Defender verdict: Mimikatz credential theft tool. The hunt works even without mimikatz.exe execution.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F4394-1064-65CE-B8E8-82FF8A7B0CC3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36226454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E048F5-E24F-18FD-AA5A-148F6D1B21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0E6EA1-F542-AC2A-98E2-EFFE8785349A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AE72C-6048-9A2E-4BD6-F46F7220980C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SCENARIO BRIEF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8FB75-9A5F-694A-7E8F-438A2BE51ED8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11: Original Mimikatz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7B1C6A-D8F5-23EE-4D95-C181C9EE7D77}"/>
              </a:ext>
            </a:extLst>
          </p:cNvPr>
          <p:cNvSpPr txBox="1"/>
          <p:nvPr/>
        </p:nvSpPr>
        <p:spPr>
          <a:xfrm>
            <a:off x="685800" y="1333500"/>
            <a:ext cx="10795000" cy="1579920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The classic Mimikatz package is staged and Defender identifies it.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KQL skill: Report-ready proof with filename, verdict, and hash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Student flow: read the brief, learn the query idea, build it slowly, then answer the challenge.</a:t>
            </a:r>
          </a:p>
          <a:p>
            <a:pPr>
              <a:spcAft>
                <a:spcPts val="800"/>
              </a:spcAft>
            </a:pPr>
            <a:r>
              <a:rPr lang="en-US" sz="1900">
                <a:solidFill>
                  <a:srgbClr val="111111"/>
                </a:solidFill>
                <a:latin typeface="Aptos" panose="020B0004020202020204" pitchFamily="34" charset="0"/>
              </a:rPr>
              <a:t>- Instructor reminder: do not show the full query until students have tried the build steps.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B29142-EDE4-F82D-44F4-C0225369E493}"/>
              </a:ext>
            </a:extLst>
          </p:cNvPr>
          <p:cNvSpPr/>
          <p:nvPr/>
        </p:nvSpPr>
        <p:spPr>
          <a:xfrm>
            <a:off x="889000" y="5130800"/>
            <a:ext cx="10033000" cy="7620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530508-1627-923F-8331-197054F29042}"/>
              </a:ext>
            </a:extLst>
          </p:cNvPr>
          <p:cNvSpPr txBox="1"/>
          <p:nvPr/>
        </p:nvSpPr>
        <p:spPr>
          <a:xfrm>
            <a:off x="1016000" y="52324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CTF challenge: Which Mimikatz artifact was blocked, and what hash identifies it in alert evidence?</a:t>
            </a:r>
          </a:p>
        </p:txBody>
      </p:sp>
    </p:spTree>
    <p:extLst>
      <p:ext uri="{BB962C8B-B14F-4D97-AF65-F5344CB8AC3E}">
        <p14:creationId xmlns:p14="http://schemas.microsoft.com/office/powerpoint/2010/main" val="3372375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08BB6F-57F8-E255-9A41-897300831F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53B078-7DE1-6F9B-C536-B0AA4C26444C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A132B-4F3B-86B3-B6F5-5906C98A80EC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ORIGINAL MIMIKATZ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B3721-6A2F-2B09-DCB7-3BDBF746D625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11: Build It Slowly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45ECA-DD2C-B78C-5E22-AE25E04B5AC0}"/>
              </a:ext>
            </a:extLst>
          </p:cNvPr>
          <p:cNvSpPr txBox="1"/>
          <p:nvPr/>
        </p:nvSpPr>
        <p:spPr>
          <a:xfrm>
            <a:off x="685800" y="1371600"/>
            <a:ext cx="5461000" cy="151836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Find mimikatz-x64.zip.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Pull Defender verdict from AlertEvidence.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Project SHA256 for durable evidence.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Answer with file, hash, device, time, verdict.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102EA3-EBD0-F46C-BA92-04C83FE1BF88}"/>
              </a:ext>
            </a:extLst>
          </p:cNvPr>
          <p:cNvSpPr/>
          <p:nvPr/>
        </p:nvSpPr>
        <p:spPr>
          <a:xfrm>
            <a:off x="6604000" y="1397000"/>
            <a:ext cx="4508500" cy="3111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8C4F52-0501-9058-9A99-FB972A6ADD81}"/>
              </a:ext>
            </a:extLst>
          </p:cNvPr>
          <p:cNvSpPr txBox="1"/>
          <p:nvPr/>
        </p:nvSpPr>
        <p:spPr>
          <a:xfrm>
            <a:off x="6756400" y="1524000"/>
            <a:ext cx="4203700" cy="1626086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let TargetDevice = "usm262346";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AlertEvidence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Timestamp &gt; ago(7d)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DeviceName == TargetDevice or FileName =~ "mimikatz-x64.zip"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where FileName =~ "mimikatz-x64.zip" or Title has "Mimikatz credential theft tool"</a:t>
            </a:r>
          </a:p>
          <a:p>
            <a:r>
              <a:rPr lang="en-US" sz="1100">
                <a:solidFill>
                  <a:srgbClr val="0B1F3A"/>
                </a:solidFill>
                <a:latin typeface="Cascadia Mono" panose="020B0609020000020004" pitchFamily="49" charset="0"/>
              </a:rPr>
              <a:t>| project Timestamp, Title, Severity, FileName, SHA256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FCC571-4FBC-4F8E-5779-09CE8298A2C8}"/>
              </a:ext>
            </a:extLst>
          </p:cNvPr>
          <p:cNvSpPr/>
          <p:nvPr/>
        </p:nvSpPr>
        <p:spPr>
          <a:xfrm>
            <a:off x="6604000" y="4851400"/>
            <a:ext cx="4508500" cy="7874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EFA63-28D0-C5D8-3F4B-61CB5B848C0C}"/>
              </a:ext>
            </a:extLst>
          </p:cNvPr>
          <p:cNvSpPr txBox="1"/>
          <p:nvPr/>
        </p:nvSpPr>
        <p:spPr>
          <a:xfrm>
            <a:off x="6731000" y="4953000"/>
            <a:ext cx="4254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Ask: which table, which filter, which proof columns?</a:t>
            </a:r>
          </a:p>
        </p:txBody>
      </p:sp>
    </p:spTree>
    <p:extLst>
      <p:ext uri="{BB962C8B-B14F-4D97-AF65-F5344CB8AC3E}">
        <p14:creationId xmlns:p14="http://schemas.microsoft.com/office/powerpoint/2010/main" val="19944978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C61BBE-4BE4-ED23-A422-621566FDC3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0153E6-9E1D-A533-F69B-6297F8B79199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D5350-9DB5-2E54-FA49-A4BFA053C860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CHECK YOUR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42E8E-B8EF-E545-DA12-4DF201D62EA3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Scenario 11: Answer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F5DE27-F688-C0B2-FC64-97268BFA1DE3}"/>
              </a:ext>
            </a:extLst>
          </p:cNvPr>
          <p:cNvSpPr txBox="1"/>
          <p:nvPr/>
        </p:nvSpPr>
        <p:spPr>
          <a:xfrm>
            <a:off x="685800" y="1371600"/>
            <a:ext cx="10414000" cy="71814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000" b="1">
                <a:solidFill>
                  <a:srgbClr val="243F68"/>
                </a:solidFill>
                <a:latin typeface="Aptos" panose="020B0004020202020204" pitchFamily="34" charset="0"/>
              </a:rPr>
              <a:t>Challenge: Which Mimikatz artifact was blocked, and what hash identifies it in alert evidence?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DE2B14-9CBB-71DB-D15B-CB249155BE85}"/>
              </a:ext>
            </a:extLst>
          </p:cNvPr>
          <p:cNvSpPr/>
          <p:nvPr/>
        </p:nvSpPr>
        <p:spPr>
          <a:xfrm>
            <a:off x="685800" y="2336800"/>
            <a:ext cx="10414000" cy="12065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C6FDC-57B9-22BE-89E5-3D9DB8AB33D8}"/>
              </a:ext>
            </a:extLst>
          </p:cNvPr>
          <p:cNvSpPr txBox="1"/>
          <p:nvPr/>
        </p:nvSpPr>
        <p:spPr>
          <a:xfrm>
            <a:off x="812800" y="2438400"/>
            <a:ext cx="10160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Artifact: mimikatz-x64.zip. Verdict: Mimikatz credential theft tool. Hash: 29a3e90d067a848bac1d7301e22d6ac7b6979c89be10373b98a47845e94c45b8.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986A0-0095-3781-939C-C7D7E767A7D5}"/>
              </a:ext>
            </a:extLst>
          </p:cNvPr>
          <p:cNvSpPr txBox="1"/>
          <p:nvPr/>
        </p:nvSpPr>
        <p:spPr>
          <a:xfrm>
            <a:off x="914400" y="3937000"/>
            <a:ext cx="10033000" cy="1456809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How the KQL finds it: start with the table most likely to hold the evidence.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where filters to reduce to the device, time, and scenario clue.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Use project to show only the columns that prove the answer.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111111"/>
                </a:solidFill>
                <a:latin typeface="Aptos" panose="020B0004020202020204" pitchFamily="34" charset="0"/>
              </a:rPr>
              <a:t>- If one table is incomplete, pivot to file or alert evidence.</a:t>
            </a:r>
          </a:p>
        </p:txBody>
      </p:sp>
    </p:spTree>
    <p:extLst>
      <p:ext uri="{BB962C8B-B14F-4D97-AF65-F5344CB8AC3E}">
        <p14:creationId xmlns:p14="http://schemas.microsoft.com/office/powerpoint/2010/main" val="26409024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121AB3-90BB-FB5A-9F01-72AE3BCAB6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4F8812-904A-EBE3-4AB1-C5C0625293BE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CEBA0-5C75-F627-21F3-A43BEBF3C3EF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DELIVERY SUPPORT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4B93F6-5A3F-F6FB-5841-277F131DDCBE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Instructor Notes: When Students Get Lost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0CD67-EDE4-9B6A-0D40-C81B339F4DCF}"/>
              </a:ext>
            </a:extLst>
          </p:cNvPr>
          <p:cNvSpPr txBox="1"/>
          <p:nvPr/>
        </p:nvSpPr>
        <p:spPr>
          <a:xfrm>
            <a:off x="685800" y="1333500"/>
            <a:ext cx="10795000" cy="205184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000">
                <a:solidFill>
                  <a:srgbClr val="111111"/>
                </a:solidFill>
                <a:latin typeface="Aptos" panose="020B0004020202020204" pitchFamily="34" charset="0"/>
              </a:rPr>
              <a:t>- Ask: which table should contain this evidence: process, file, or alert?</a:t>
            </a:r>
          </a:p>
          <a:p>
            <a:pPr>
              <a:spcAft>
                <a:spcPts val="800"/>
              </a:spcAft>
            </a:pPr>
            <a:r>
              <a:rPr lang="en-US" sz="2000">
                <a:solidFill>
                  <a:srgbClr val="111111"/>
                </a:solidFill>
                <a:latin typeface="Aptos" panose="020B0004020202020204" pitchFamily="34" charset="0"/>
              </a:rPr>
              <a:t>- Ask: which column contains the command line?</a:t>
            </a:r>
          </a:p>
          <a:p>
            <a:pPr>
              <a:spcAft>
                <a:spcPts val="800"/>
              </a:spcAft>
            </a:pPr>
            <a:r>
              <a:rPr lang="en-US" sz="2000">
                <a:solidFill>
                  <a:srgbClr val="111111"/>
                </a:solidFill>
                <a:latin typeface="Aptos" panose="020B0004020202020204" pitchFamily="34" charset="0"/>
              </a:rPr>
              <a:t>- Ask: which column contains the Defender verdict?</a:t>
            </a:r>
          </a:p>
          <a:p>
            <a:pPr>
              <a:spcAft>
                <a:spcPts val="800"/>
              </a:spcAft>
            </a:pPr>
            <a:r>
              <a:rPr lang="en-US" sz="2000">
                <a:solidFill>
                  <a:srgbClr val="111111"/>
                </a:solidFill>
                <a:latin typeface="Aptos" panose="020B0004020202020204" pitchFamily="34" charset="0"/>
              </a:rPr>
              <a:t>- Ask: can we reduce noise with DeviceName == TargetDevice?</a:t>
            </a:r>
          </a:p>
          <a:p>
            <a:pPr>
              <a:spcAft>
                <a:spcPts val="800"/>
              </a:spcAft>
            </a:pPr>
            <a:r>
              <a:rPr lang="en-US" sz="2000">
                <a:solidFill>
                  <a:srgbClr val="111111"/>
                </a:solidFill>
                <a:latin typeface="Aptos" panose="020B0004020202020204" pitchFamily="34" charset="0"/>
              </a:rPr>
              <a:t>- Ask: can we prove when, where, what, and why it matters?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EA2C4F-396A-5878-C94A-4C6DF67FAF5A}"/>
              </a:ext>
            </a:extLst>
          </p:cNvPr>
          <p:cNvSpPr/>
          <p:nvPr/>
        </p:nvSpPr>
        <p:spPr>
          <a:xfrm>
            <a:off x="965200" y="5207000"/>
            <a:ext cx="10033000" cy="736600"/>
          </a:xfrm>
          <a:prstGeom prst="rect">
            <a:avLst/>
          </a:prstGeom>
          <a:solidFill>
            <a:srgbClr val="FFF6E5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96E4F6-5C06-764A-4B39-86BF8CC2B6E7}"/>
              </a:ext>
            </a:extLst>
          </p:cNvPr>
          <p:cNvSpPr txBox="1"/>
          <p:nvPr/>
        </p:nvSpPr>
        <p:spPr>
          <a:xfrm>
            <a:off x="1092200" y="5308600"/>
            <a:ext cx="9779000" cy="3488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Keep coming back to the same rhythm: table -&gt; filter -&gt; pivot -&gt; evidence.</a:t>
            </a:r>
          </a:p>
        </p:txBody>
      </p:sp>
    </p:spTree>
    <p:extLst>
      <p:ext uri="{BB962C8B-B14F-4D97-AF65-F5344CB8AC3E}">
        <p14:creationId xmlns:p14="http://schemas.microsoft.com/office/powerpoint/2010/main" val="37385118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7840DF-EFFA-73DA-2E4C-5BD3833FF4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89D47E-73C7-291B-F35E-90BA14409377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7F53A-DA61-6060-34A9-A64DD8BBE144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USE ONLY IF THE CUSTOMER HAS THE INCIDENT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D97ED-7E30-FA65-4777-0F02372A90F4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Optional XDR Incident Pivot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0BA4B-0493-F1F0-3870-CB383A71C1A8}"/>
              </a:ext>
            </a:extLst>
          </p:cNvPr>
          <p:cNvSpPr txBox="1"/>
          <p:nvPr/>
        </p:nvSpPr>
        <p:spPr>
          <a:xfrm>
            <a:off x="685800" y="1295400"/>
            <a:ext cx="4953000" cy="272895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Incident IDs are tenant-specific.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Alert grouping can vary by tenant and policy.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Do not make the class depend on a matching incident.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If present, use the incident as a story hook, then pivot back to Advanced Hunting.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11111"/>
                </a:solidFill>
                <a:latin typeface="Aptos" panose="020B0004020202020204" pitchFamily="34" charset="0"/>
              </a:rPr>
              <a:t>- Endpoint telemetry remains the ground truth for the lab.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6E5A3E-63C5-D10F-52E1-D86D02818E19}"/>
              </a:ext>
            </a:extLst>
          </p:cNvPr>
          <p:cNvSpPr/>
          <p:nvPr/>
        </p:nvSpPr>
        <p:spPr>
          <a:xfrm>
            <a:off x="6159500" y="1333500"/>
            <a:ext cx="4953000" cy="3619500"/>
          </a:xfrm>
          <a:prstGeom prst="rect">
            <a:avLst/>
          </a:prstGeom>
          <a:solidFill>
            <a:srgbClr val="F4F7FB"/>
          </a:solidFill>
          <a:ln w="12700">
            <a:solidFill>
              <a:srgbClr val="D6E0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B982B-5BC0-3E1A-1C3B-DC19ECA8320B}"/>
              </a:ext>
            </a:extLst>
          </p:cNvPr>
          <p:cNvSpPr txBox="1"/>
          <p:nvPr/>
        </p:nvSpPr>
        <p:spPr>
          <a:xfrm>
            <a:off x="6311900" y="1460500"/>
            <a:ext cx="4648200" cy="1395254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1. Open the incident in Microsoft Defender XDR.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2. Copy the affected device name, alert titles, entities, and rough time range.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3. Pivot to Advanced Hunting using the affected device name.</a:t>
            </a:r>
          </a:p>
          <a:p>
            <a:r>
              <a:rPr lang="en-US" sz="1200">
                <a:solidFill>
                  <a:srgbClr val="0B1F3A"/>
                </a:solidFill>
                <a:latin typeface="Cascadia Mono" panose="020B0609020000020004" pitchFamily="49" charset="0"/>
              </a:rPr>
              <a:t>4. Continue with the scenario queries in this guide.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D44BCC-538C-71E2-7C1E-34E043F67736}"/>
              </a:ext>
            </a:extLst>
          </p:cNvPr>
          <p:cNvSpPr/>
          <p:nvPr/>
        </p:nvSpPr>
        <p:spPr>
          <a:xfrm>
            <a:off x="6159500" y="5257800"/>
            <a:ext cx="4953000" cy="635000"/>
          </a:xfrm>
          <a:prstGeom prst="rect">
            <a:avLst/>
          </a:prstGeom>
          <a:solidFill>
            <a:srgbClr val="EAF3FF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667C4D-E97F-C068-B65D-A17037042505}"/>
              </a:ext>
            </a:extLst>
          </p:cNvPr>
          <p:cNvSpPr txBox="1"/>
          <p:nvPr/>
        </p:nvSpPr>
        <p:spPr>
          <a:xfrm>
            <a:off x="6286500" y="5359400"/>
            <a:ext cx="46990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Treat this as an instructor workflow, not a required student query.</a:t>
            </a:r>
          </a:p>
        </p:txBody>
      </p:sp>
    </p:spTree>
    <p:extLst>
      <p:ext uri="{BB962C8B-B14F-4D97-AF65-F5344CB8AC3E}">
        <p14:creationId xmlns:p14="http://schemas.microsoft.com/office/powerpoint/2010/main" val="24110184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D0A9CE-D458-EEEF-1232-B84F02AB87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C33DF0-AB90-3F23-5CCD-D5691484F076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243F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D046DE-7CDC-BA86-68B6-BF343CB704E6}"/>
              </a:ext>
            </a:extLst>
          </p:cNvPr>
          <p:cNvSpPr txBox="1"/>
          <p:nvPr/>
        </p:nvSpPr>
        <p:spPr>
          <a:xfrm>
            <a:off x="406400" y="127000"/>
            <a:ext cx="11176000" cy="24109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900" b="1">
                <a:solidFill>
                  <a:srgbClr val="BFD7FF"/>
                </a:solidFill>
                <a:latin typeface="Aptos" panose="020B0004020202020204" pitchFamily="34" charset="0"/>
              </a:rPr>
              <a:t>END OF CLASS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D73C8-9487-025B-CE54-2D072737F1E4}"/>
              </a:ext>
            </a:extLst>
          </p:cNvPr>
          <p:cNvSpPr txBox="1"/>
          <p:nvPr/>
        </p:nvSpPr>
        <p:spPr>
          <a:xfrm>
            <a:off x="406400" y="342900"/>
            <a:ext cx="11176000" cy="487313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ptos" panose="020B0004020202020204" pitchFamily="34" charset="0"/>
              </a:rPr>
              <a:t>Wrap-Up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0DD808-9228-55C4-B60D-868E20F7089C}"/>
              </a:ext>
            </a:extLst>
          </p:cNvPr>
          <p:cNvSpPr txBox="1"/>
          <p:nvPr/>
        </p:nvSpPr>
        <p:spPr>
          <a:xfrm>
            <a:off x="685800" y="1333500"/>
            <a:ext cx="10795000" cy="2205732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200">
                <a:solidFill>
                  <a:srgbClr val="111111"/>
                </a:solidFill>
                <a:latin typeface="Aptos" panose="020B0004020202020204" pitchFamily="34" charset="0"/>
              </a:rPr>
              <a:t>- Which scenarios produced process execution evidence?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111111"/>
                </a:solidFill>
                <a:latin typeface="Aptos" panose="020B0004020202020204" pitchFamily="34" charset="0"/>
              </a:rPr>
              <a:t>- Which scenarios were primarily caught through AlertEvidence?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111111"/>
                </a:solidFill>
                <a:latin typeface="Aptos" panose="020B0004020202020204" pitchFamily="34" charset="0"/>
              </a:rPr>
              <a:t>- Which scenarios left file-staging artifacts?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111111"/>
                </a:solidFill>
                <a:latin typeface="Aptos" panose="020B0004020202020204" pitchFamily="34" charset="0"/>
              </a:rPr>
              <a:t>- Which KQL operator helped most today?</a:t>
            </a:r>
          </a:p>
          <a:p>
            <a:pPr>
              <a:spcAft>
                <a:spcPts val="800"/>
              </a:spcAft>
            </a:pPr>
            <a:r>
              <a:rPr lang="en-US" sz="2200">
                <a:solidFill>
                  <a:srgbClr val="111111"/>
                </a:solidFill>
                <a:latin typeface="Aptos" panose="020B0004020202020204" pitchFamily="34" charset="0"/>
              </a:rPr>
              <a:t>- If this were a real workstation compromise, what would you investigate next?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1EFA7C-81CA-AC88-70C0-35378ED40A61}"/>
              </a:ext>
            </a:extLst>
          </p:cNvPr>
          <p:cNvSpPr/>
          <p:nvPr/>
        </p:nvSpPr>
        <p:spPr>
          <a:xfrm>
            <a:off x="939800" y="5207000"/>
            <a:ext cx="10096500" cy="736600"/>
          </a:xfrm>
          <a:prstGeom prst="rect">
            <a:avLst/>
          </a:prstGeom>
          <a:solidFill>
            <a:srgbClr val="EEF7ED"/>
          </a:solidFill>
          <a:ln w="12700">
            <a:solidFill>
              <a:srgbClr val="7FA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221BC3-E0C9-8429-91F4-858E9F7796CE}"/>
              </a:ext>
            </a:extLst>
          </p:cNvPr>
          <p:cNvSpPr txBox="1"/>
          <p:nvPr/>
        </p:nvSpPr>
        <p:spPr>
          <a:xfrm>
            <a:off x="1066800" y="5308600"/>
            <a:ext cx="9842500" cy="595035"/>
          </a:xfrm>
          <a:prstGeom prst="rect">
            <a:avLst/>
          </a:prstGeom>
          <a:noFill/>
        </p:spPr>
        <p:txBody>
          <a:bodyPr vert="horz" wrap="square" lIns="101600" tIns="50800" rIns="101600" bIns="50800" rtlCol="0">
            <a:spAutoFit/>
          </a:bodyPr>
          <a:lstStyle/>
          <a:p>
            <a:r>
              <a:rPr lang="en-US" sz="1600" b="1">
                <a:solidFill>
                  <a:srgbClr val="15375F"/>
                </a:solidFill>
                <a:latin typeface="Aptos" panose="020B0004020202020204" pitchFamily="34" charset="0"/>
              </a:rPr>
              <a:t>Instructor closer: the goal is not memorizing queries; the goal is learning how to ask better questions of endpoint telemetry.</a:t>
            </a:r>
          </a:p>
        </p:txBody>
      </p:sp>
    </p:spTree>
    <p:extLst>
      <p:ext uri="{BB962C8B-B14F-4D97-AF65-F5344CB8AC3E}">
        <p14:creationId xmlns:p14="http://schemas.microsoft.com/office/powerpoint/2010/main" val="1301295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4-bc88714345d2}" enabled="1" method="Standard" siteId="{b22dee98-83da-4207-b9ab-5ba931866f4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5346</Words>
  <Application>Microsoft Office PowerPoint</Application>
  <PresentationFormat>Custom</PresentationFormat>
  <Paragraphs>526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Crane</dc:creator>
  <cp:lastModifiedBy>Michael Crane</cp:lastModifiedBy>
  <cp:revision>1</cp:revision>
  <dcterms:created xsi:type="dcterms:W3CDTF">2026-05-04T16:43:19Z</dcterms:created>
  <dcterms:modified xsi:type="dcterms:W3CDTF">2026-05-04T16:43:19Z</dcterms:modified>
</cp:coreProperties>
</file>