
<file path=[Content_Types].xml><?xml version="1.0" encoding="utf-8"?>
<Types xmlns="http://schemas.openxmlformats.org/package/2006/content-types"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0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  <Override PartName="/docMetadata/LabelInfo.xml" ContentType="application/vnd.ms-office.classificationlabel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5" Type="http://schemas.microsoft.com/office/2020/02/relationships/classificationlabels" Target="docMetadata/LabelInfo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notesMasterIdLst>
    <p:notesMasterId r:id="rId52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  <p:sldId id="289" r:id="rId35"/>
    <p:sldId id="290" r:id="rId36"/>
    <p:sldId id="291" r:id="rId37"/>
    <p:sldId id="292" r:id="rId38"/>
    <p:sldId id="293" r:id="rId39"/>
    <p:sldId id="294" r:id="rId40"/>
    <p:sldId id="295" r:id="rId41"/>
    <p:sldId id="296" r:id="rId42"/>
    <p:sldId id="297" r:id="rId43"/>
    <p:sldId id="298" r:id="rId44"/>
    <p:sldId id="299" r:id="rId45"/>
    <p:sldId id="300" r:id="rId46"/>
    <p:sldId id="301" r:id="rId47"/>
    <p:sldId id="302" r:id="rId48"/>
    <p:sldId id="303" r:id="rId49"/>
    <p:sldId id="304" r:id="rId50"/>
    <p:sldId id="305" r:id="rId51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>
      <p:cViewPr varScale="1">
        <p:scale>
          <a:sx n="150" d="100"/>
          <a:sy n="150" d="100"/>
        </p:scale>
        <p:origin x="7920" y="13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39" Type="http://schemas.openxmlformats.org/officeDocument/2006/relationships/slide" Target="slides/slide38.xml"/><Relationship Id="rId21" Type="http://schemas.openxmlformats.org/officeDocument/2006/relationships/slide" Target="slides/slide20.xml"/><Relationship Id="rId34" Type="http://schemas.openxmlformats.org/officeDocument/2006/relationships/slide" Target="slides/slide33.xml"/><Relationship Id="rId42" Type="http://schemas.openxmlformats.org/officeDocument/2006/relationships/slide" Target="slides/slide41.xml"/><Relationship Id="rId47" Type="http://schemas.openxmlformats.org/officeDocument/2006/relationships/slide" Target="slides/slide46.xml"/><Relationship Id="rId50" Type="http://schemas.openxmlformats.org/officeDocument/2006/relationships/slide" Target="slides/slide49.xml"/><Relationship Id="rId55" Type="http://schemas.openxmlformats.org/officeDocument/2006/relationships/theme" Target="theme/theme1.xml"/><Relationship Id="rId7" Type="http://schemas.openxmlformats.org/officeDocument/2006/relationships/slide" Target="slides/slide6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9" Type="http://schemas.openxmlformats.org/officeDocument/2006/relationships/slide" Target="slides/slide28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slide" Target="slides/slide31.xml"/><Relationship Id="rId37" Type="http://schemas.openxmlformats.org/officeDocument/2006/relationships/slide" Target="slides/slide36.xml"/><Relationship Id="rId40" Type="http://schemas.openxmlformats.org/officeDocument/2006/relationships/slide" Target="slides/slide39.xml"/><Relationship Id="rId45" Type="http://schemas.openxmlformats.org/officeDocument/2006/relationships/slide" Target="slides/slide44.xml"/><Relationship Id="rId53" Type="http://schemas.openxmlformats.org/officeDocument/2006/relationships/presProps" Target="presProps.xml"/><Relationship Id="rId5" Type="http://schemas.openxmlformats.org/officeDocument/2006/relationships/slide" Target="slides/slide4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slide" Target="slides/slide30.xml"/><Relationship Id="rId44" Type="http://schemas.openxmlformats.org/officeDocument/2006/relationships/slide" Target="slides/slide43.xml"/><Relationship Id="rId52" Type="http://schemas.openxmlformats.org/officeDocument/2006/relationships/notesMaster" Target="notesMasters/notesMaster1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slide" Target="slides/slide29.xml"/><Relationship Id="rId35" Type="http://schemas.openxmlformats.org/officeDocument/2006/relationships/slide" Target="slides/slide34.xml"/><Relationship Id="rId43" Type="http://schemas.openxmlformats.org/officeDocument/2006/relationships/slide" Target="slides/slide42.xml"/><Relationship Id="rId48" Type="http://schemas.openxmlformats.org/officeDocument/2006/relationships/slide" Target="slides/slide47.xml"/><Relationship Id="rId56" Type="http://schemas.openxmlformats.org/officeDocument/2006/relationships/tableStyles" Target="tableStyles.xml"/><Relationship Id="rId8" Type="http://schemas.openxmlformats.org/officeDocument/2006/relationships/slide" Target="slides/slide7.xml"/><Relationship Id="rId51" Type="http://schemas.openxmlformats.org/officeDocument/2006/relationships/slide" Target="slides/slide50.xml"/><Relationship Id="rId3" Type="http://schemas.openxmlformats.org/officeDocument/2006/relationships/slide" Target="slides/slide2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slide" Target="slides/slide32.xml"/><Relationship Id="rId38" Type="http://schemas.openxmlformats.org/officeDocument/2006/relationships/slide" Target="slides/slide37.xml"/><Relationship Id="rId46" Type="http://schemas.openxmlformats.org/officeDocument/2006/relationships/slide" Target="slides/slide45.xml"/><Relationship Id="rId20" Type="http://schemas.openxmlformats.org/officeDocument/2006/relationships/slide" Target="slides/slide19.xml"/><Relationship Id="rId41" Type="http://schemas.openxmlformats.org/officeDocument/2006/relationships/slide" Target="slides/slide40.xml"/><Relationship Id="rId54" Type="http://schemas.openxmlformats.org/officeDocument/2006/relationships/viewProps" Target="view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openxmlformats.org/officeDocument/2006/relationships/slide" Target="slides/slide35.xml"/><Relationship Id="rId49" Type="http://schemas.openxmlformats.org/officeDocument/2006/relationships/slide" Target="slides/slide48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133AF500-C550-4C33-9275-8766B268F3DF}" type="datetimeFigureOut">
              <a:rPr lang="en-US" smtClean="0"/>
              <a:t>5/4/2026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8D9037BC-3A46-4DD7-9FFD-A89B6E8D52C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270618304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/>
              <a:t>Keep the class paced. Do not start with the final full query. Let students build confidence with small query pieces first.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8D9037BC-3A46-4DD7-9FFD-A89B6E8D52C4}" type="slidenum">
              <a:rPr lang="en-US" smtClean="0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315735392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C227FDA-8725-B704-3E0A-8512B52E4999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B8386B42-5526-F6BA-CE51-F00E041F3ADF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7CCF67DC-77D4-7CB5-D4C4-4D3D585CE30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F9D323F-703E-4E21-B214-E8116E050035}" type="datetimeFigureOut">
              <a:rPr lang="en-US" smtClean="0"/>
              <a:t>5/4/2026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3D7DBDCF-2DFC-FA52-DD56-5D113D98D9C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732F2665-ABF3-5946-45F2-2B4781FED7A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05737C-23A9-40BE-8E11-FE111A409DB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055653111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D3D3D00-55F8-7E66-6585-BB3C13276F4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7D05DB8-D833-C2F5-DC0B-90D2EE2B276A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AC501521-2B85-9D88-5C1F-E49EB94EB60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F9D323F-703E-4E21-B214-E8116E050035}" type="datetimeFigureOut">
              <a:rPr lang="en-US" smtClean="0"/>
              <a:t>5/4/2026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154452D1-F8D9-69AD-A932-F8352F5D8DB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52EACFF4-779C-DA4D-9187-2A7413ABD7A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05737C-23A9-40BE-8E11-FE111A409DB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5820664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B031B01-32E2-4499-1C12-2219E62BA41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506AADBD-417C-7C69-C5B2-AC4506D770F6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36289BFB-4417-5E36-2BC7-B433C5FDCDD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F9D323F-703E-4E21-B214-E8116E050035}" type="datetimeFigureOut">
              <a:rPr lang="en-US" smtClean="0"/>
              <a:t>5/4/2026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1C19F9E5-9376-8B84-AA5A-E9ACDA22601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775D304F-8317-B37A-E1A0-FDDF65688E9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05737C-23A9-40BE-8E11-FE111A409DB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59666310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20126D6-D578-4409-E314-CC64107A6FA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CC9BC64-67DC-97EC-9D4D-6322DF921CAF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E38FBB8F-6906-4C58-51E5-EF2CB4A60137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259A3A75-8039-93F7-7D8E-BFC88E19BA7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F9D323F-703E-4E21-B214-E8116E050035}" type="datetimeFigureOut">
              <a:rPr lang="en-US" smtClean="0"/>
              <a:t>5/4/2026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D8B7004F-1E73-A221-F841-E878C20867D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45E6CE0F-8697-B8D7-4FB1-C75A0BDD5A1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05737C-23A9-40BE-8E11-FE111A409DB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888259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3745098-D759-8C05-67D9-6E8843BF814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62C95278-E91B-A878-49EE-500701B67CB7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82BE0CD7-AB76-2918-5031-5B42945ADDD2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10B0C986-F4B8-74FC-6F42-0A42A295244A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D5FC2E74-6C39-1D36-242C-05CCC2F8B306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D3FE13B6-40A7-9979-0334-B1F729B721C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F9D323F-703E-4E21-B214-E8116E050035}" type="datetimeFigureOut">
              <a:rPr lang="en-US" smtClean="0"/>
              <a:t>5/4/2026</a:t>
            </a:fld>
            <a:endParaRPr lang="en-US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4895472E-B0AE-28CA-EC24-B6E5325B2A4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E35B9D7E-882E-3776-AD31-9FC789B34A2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05737C-23A9-40BE-8E11-FE111A409DB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026633975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8280D66-3CD8-C717-2D2E-7F6DBB248B1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EC9EFBF3-0196-919C-A25E-925D4EEC1CD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F9D323F-703E-4E21-B214-E8116E050035}" type="datetimeFigureOut">
              <a:rPr lang="en-US" smtClean="0"/>
              <a:t>5/4/2026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EEDD1298-302B-0C51-A326-2368FBBCBCD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174D715C-C921-AABA-12D4-763226D3066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05737C-23A9-40BE-8E11-FE111A409DB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22003547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29382A08-9E6A-582F-C3CB-96E23E2D943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F9D323F-703E-4E21-B214-E8116E050035}" type="datetimeFigureOut">
              <a:rPr lang="en-US" smtClean="0"/>
              <a:t>5/4/2026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F9D7506B-3182-8126-9281-40672A55FDF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7FCA6C12-4FF3-BA22-5370-A74706CA1DE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05737C-23A9-40BE-8E11-FE111A409DB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638025741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B86A312-9718-138F-C8D6-E2E57FF4054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C7E544A-9850-2246-A9E0-AFABDAC1C26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DFDB6AD2-54FE-4E8E-C575-4CCE913A2359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7EBACD97-7423-7D0B-70A1-8DE9AEC8B73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F9D323F-703E-4E21-B214-E8116E050035}" type="datetimeFigureOut">
              <a:rPr lang="en-US" smtClean="0"/>
              <a:t>5/4/2026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1C98F061-B429-2510-0152-1E3999DBCBA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BDD88323-C222-BC59-D5A1-3E072E17F82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05737C-23A9-40BE-8E11-FE111A409DB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14845095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59A7D0F-66C7-4EB2-6D39-65E78EFE556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34205CEB-BA8E-79AC-EE9E-D0533CABCC7B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4B018689-D864-671F-B453-6AB2FECD76F7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5698B6E2-C4A4-8D48-22F0-2E5A79C133F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F9D323F-703E-4E21-B214-E8116E050035}" type="datetimeFigureOut">
              <a:rPr lang="en-US" smtClean="0"/>
              <a:t>5/4/2026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D34E25BA-F7C5-C2AD-7238-1057CD19558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45192B61-DF48-D31B-1AD4-CC948537B51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05737C-23A9-40BE-8E11-FE111A409DB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85261080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C02921D-CF22-5CC2-FB81-E05EA702155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1B774C83-8FBE-EC64-EF2C-748CA4760745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1C622A91-8230-0E57-3050-605478019EA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F9D323F-703E-4E21-B214-E8116E050035}" type="datetimeFigureOut">
              <a:rPr lang="en-US" smtClean="0"/>
              <a:t>5/4/2026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CD8177D0-AC34-60AA-5BC3-94FA4D74151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855C46A0-E5E8-C9BB-2CF0-0D2F7C15B29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05737C-23A9-40BE-8E11-FE111A409DB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805601273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95274CC3-0848-B344-3033-1CD87068BAF3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626F4F00-83AE-8DCE-8A8B-9B8A5EB0D53A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91C79C4B-7149-874A-BBB8-AABE9ABD517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F9D323F-703E-4E21-B214-E8116E050035}" type="datetimeFigureOut">
              <a:rPr lang="en-US" smtClean="0"/>
              <a:t>5/4/2026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BB0C5B9B-6535-D07E-8296-CDECDB87D20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4BAE1C17-52EA-858D-E403-6EFB371DACE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05737C-23A9-40BE-8E11-FE111A409DB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373056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D932BE65-7B60-810C-1C3A-30D2C686A54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00F0EDC7-E3F0-473A-8749-41344843CC6A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FA5328A3-BEBF-1708-0A02-E852E9984066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0F9D323F-703E-4E21-B214-E8116E050035}" type="datetimeFigureOut">
              <a:rPr lang="en-US" smtClean="0"/>
              <a:t>5/4/2026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6BD66427-DE43-0214-297D-EA1E7875BE61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92F724FC-42FA-4D75-2525-9421C1C1BF36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C505737C-23A9-40BE-8E11-FE111A409DB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65147126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7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>
            <a:extLst>
              <a:ext uri="{FF2B5EF4-FFF2-40B4-BE49-F238E27FC236}">
                <a16:creationId xmlns:a16="http://schemas.microsoft.com/office/drawing/2014/main" id="{1C8A7FC3-E6BF-F653-7B7B-FFC43C431DA6}"/>
              </a:ext>
            </a:extLst>
          </p:cNvPr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36DF0DB5-B24A-9A87-26E9-05DCE399680C}"/>
              </a:ext>
            </a:extLst>
          </p:cNvPr>
          <p:cNvSpPr/>
          <p:nvPr/>
        </p:nvSpPr>
        <p:spPr>
          <a:xfrm>
            <a:off x="0" y="0"/>
            <a:ext cx="12192000" cy="939800"/>
          </a:xfrm>
          <a:prstGeom prst="rect">
            <a:avLst/>
          </a:prstGeom>
          <a:solidFill>
            <a:srgbClr val="243F68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DDF84149-F46F-6DDA-493D-B2D45EC6B858}"/>
              </a:ext>
            </a:extLst>
          </p:cNvPr>
          <p:cNvSpPr txBox="1"/>
          <p:nvPr/>
        </p:nvSpPr>
        <p:spPr>
          <a:xfrm>
            <a:off x="406400" y="127000"/>
            <a:ext cx="11176000" cy="241092"/>
          </a:xfrm>
          <a:prstGeom prst="rect">
            <a:avLst/>
          </a:prstGeom>
          <a:noFill/>
        </p:spPr>
        <p:txBody>
          <a:bodyPr vert="horz" wrap="square" lIns="101600" tIns="50800" rIns="101600" bIns="50800" rtlCol="0">
            <a:spAutoFit/>
          </a:bodyPr>
          <a:lstStyle/>
          <a:p>
            <a:r>
              <a:rPr lang="en-US" sz="900" b="1">
                <a:solidFill>
                  <a:srgbClr val="BFD7FF"/>
                </a:solidFill>
                <a:latin typeface="Aptos" panose="020B0004020202020204" pitchFamily="34" charset="0"/>
              </a:rPr>
              <a:t>MICROSOFT DEFENDER XDR ADVANCED HUNTING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9A57A6C1-D503-041E-10EB-60E07FEC7632}"/>
              </a:ext>
            </a:extLst>
          </p:cNvPr>
          <p:cNvSpPr txBox="1"/>
          <p:nvPr/>
        </p:nvSpPr>
        <p:spPr>
          <a:xfrm>
            <a:off x="406400" y="342900"/>
            <a:ext cx="11176000" cy="487313"/>
          </a:xfrm>
          <a:prstGeom prst="rect">
            <a:avLst/>
          </a:prstGeom>
          <a:noFill/>
        </p:spPr>
        <p:txBody>
          <a:bodyPr vert="horz" wrap="square" lIns="101600" tIns="50800" rIns="101600" bIns="50800" rtlCol="0">
            <a:spAutoFit/>
          </a:bodyPr>
          <a:lstStyle/>
          <a:p>
            <a:r>
              <a:rPr lang="en-US" sz="2500" b="1">
                <a:solidFill>
                  <a:srgbClr val="FFFFFF"/>
                </a:solidFill>
                <a:latin typeface="Aptos" panose="020B0004020202020204" pitchFamily="34" charset="0"/>
              </a:rPr>
              <a:t>AttackIQ Endpoint EDR KQL CTF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A510D65E-1F88-C6F4-46FA-5AEBFE7983E2}"/>
              </a:ext>
            </a:extLst>
          </p:cNvPr>
          <p:cNvSpPr txBox="1"/>
          <p:nvPr/>
        </p:nvSpPr>
        <p:spPr>
          <a:xfrm>
            <a:off x="685800" y="1625600"/>
            <a:ext cx="7747000" cy="1256754"/>
          </a:xfrm>
          <a:prstGeom prst="rect">
            <a:avLst/>
          </a:prstGeom>
          <a:noFill/>
        </p:spPr>
        <p:txBody>
          <a:bodyPr vert="horz" wrap="square" lIns="101600" tIns="50800" rIns="101600" bIns="50800" rtlCol="0">
            <a:spAutoFit/>
          </a:bodyPr>
          <a:lstStyle/>
          <a:p>
            <a:r>
              <a:rPr lang="en-US" sz="2500" b="1">
                <a:solidFill>
                  <a:srgbClr val="111111"/>
                </a:solidFill>
                <a:latin typeface="Aptos" panose="020B0004020202020204" pitchFamily="34" charset="0"/>
              </a:rPr>
              <a:t>Beginner-friendly hunting lab built from an authorized AttackIQ Security Control Baseline - Endpoint EDR run.</a:t>
            </a:r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0ED74937-2F04-F938-C78E-B6A58C1BEF52}"/>
              </a:ext>
            </a:extLst>
          </p:cNvPr>
          <p:cNvSpPr/>
          <p:nvPr/>
        </p:nvSpPr>
        <p:spPr>
          <a:xfrm>
            <a:off x="685800" y="3073400"/>
            <a:ext cx="5016500" cy="1143000"/>
          </a:xfrm>
          <a:prstGeom prst="rect">
            <a:avLst/>
          </a:prstGeom>
          <a:solidFill>
            <a:srgbClr val="EAF3FF"/>
          </a:solidFill>
          <a:ln w="12700">
            <a:solidFill>
              <a:srgbClr val="7FA9DA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61890983-CC14-6404-5330-02CE545F1BCF}"/>
              </a:ext>
            </a:extLst>
          </p:cNvPr>
          <p:cNvSpPr txBox="1"/>
          <p:nvPr/>
        </p:nvSpPr>
        <p:spPr>
          <a:xfrm>
            <a:off x="812800" y="3175000"/>
            <a:ext cx="4762500" cy="841256"/>
          </a:xfrm>
          <a:prstGeom prst="rect">
            <a:avLst/>
          </a:prstGeom>
          <a:noFill/>
        </p:spPr>
        <p:txBody>
          <a:bodyPr vert="horz" wrap="square" lIns="101600" tIns="50800" rIns="101600" bIns="50800" rtlCol="0">
            <a:spAutoFit/>
          </a:bodyPr>
          <a:lstStyle/>
          <a:p>
            <a:r>
              <a:rPr lang="en-US" sz="1600" b="1">
                <a:solidFill>
                  <a:srgbClr val="15375F"/>
                </a:solidFill>
                <a:latin typeface="Aptos" panose="020B0004020202020204" pitchFamily="34" charset="0"/>
              </a:rPr>
              <a:t>Target workstation: usm262346
Time filter: Timestamp &gt; ago(7d)
Mode: Learn, build, challenge, prove</a:t>
            </a:r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890BF287-7481-C6CE-6667-313E146785D4}"/>
              </a:ext>
            </a:extLst>
          </p:cNvPr>
          <p:cNvSpPr/>
          <p:nvPr/>
        </p:nvSpPr>
        <p:spPr>
          <a:xfrm>
            <a:off x="6146800" y="3073400"/>
            <a:ext cx="4635500" cy="1143000"/>
          </a:xfrm>
          <a:prstGeom prst="rect">
            <a:avLst/>
          </a:prstGeom>
          <a:solidFill>
            <a:srgbClr val="EEF7ED"/>
          </a:solidFill>
          <a:ln w="12700">
            <a:solidFill>
              <a:srgbClr val="7FA9DA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0AD57C7A-E5F0-56A1-09E2-C7BFC10B7544}"/>
              </a:ext>
            </a:extLst>
          </p:cNvPr>
          <p:cNvSpPr txBox="1"/>
          <p:nvPr/>
        </p:nvSpPr>
        <p:spPr>
          <a:xfrm>
            <a:off x="6273800" y="3175000"/>
            <a:ext cx="4381500" cy="841256"/>
          </a:xfrm>
          <a:prstGeom prst="rect">
            <a:avLst/>
          </a:prstGeom>
          <a:noFill/>
        </p:spPr>
        <p:txBody>
          <a:bodyPr vert="horz" wrap="square" lIns="101600" tIns="50800" rIns="101600" bIns="50800" rtlCol="0">
            <a:spAutoFit/>
          </a:bodyPr>
          <a:lstStyle/>
          <a:p>
            <a:r>
              <a:rPr lang="en-US" sz="1600" b="1">
                <a:solidFill>
                  <a:srgbClr val="15375F"/>
                </a:solidFill>
                <a:latin typeface="Aptos" panose="020B0004020202020204" pitchFamily="34" charset="0"/>
              </a:rPr>
              <a:t>Audience: beginner KQL learners
Platform: Defender XDR Advanced Hunting
Theme: credential-access CTF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9D066DA7-DB3F-4E73-5357-87C93AF7A7B7}"/>
              </a:ext>
            </a:extLst>
          </p:cNvPr>
          <p:cNvSpPr txBox="1"/>
          <p:nvPr/>
        </p:nvSpPr>
        <p:spPr>
          <a:xfrm>
            <a:off x="685800" y="6121400"/>
            <a:ext cx="10795000" cy="302647"/>
          </a:xfrm>
          <a:prstGeom prst="rect">
            <a:avLst/>
          </a:prstGeom>
          <a:noFill/>
        </p:spPr>
        <p:txBody>
          <a:bodyPr vert="horz" wrap="square" lIns="101600" tIns="50800" rIns="101600" bIns="50800" rtlCol="0">
            <a:spAutoFit/>
          </a:bodyPr>
          <a:lstStyle/>
          <a:p>
            <a:r>
              <a:rPr lang="en-US" sz="1300">
                <a:solidFill>
                  <a:srgbClr val="666666"/>
                </a:solidFill>
                <a:latin typeface="Aptos" panose="020B0004020202020204" pitchFamily="34" charset="0"/>
              </a:rPr>
              <a:t>Instructor deck generated from the attackiqkqlsession README.</a:t>
            </a:r>
          </a:p>
        </p:txBody>
      </p:sp>
    </p:spTree>
    <p:extLst>
      <p:ext uri="{BB962C8B-B14F-4D97-AF65-F5344CB8AC3E}">
        <p14:creationId xmlns:p14="http://schemas.microsoft.com/office/powerpoint/2010/main" val="8484057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>
            <a:extLst>
              <a:ext uri="{FF2B5EF4-FFF2-40B4-BE49-F238E27FC236}">
                <a16:creationId xmlns:a16="http://schemas.microsoft.com/office/drawing/2014/main" id="{537A3A62-0731-41D6-4849-2B6F891624DB}"/>
              </a:ext>
            </a:extLst>
          </p:cNvPr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FA719890-3352-9412-2E09-B94E5C147193}"/>
              </a:ext>
            </a:extLst>
          </p:cNvPr>
          <p:cNvSpPr/>
          <p:nvPr/>
        </p:nvSpPr>
        <p:spPr>
          <a:xfrm>
            <a:off x="0" y="0"/>
            <a:ext cx="12192000" cy="939800"/>
          </a:xfrm>
          <a:prstGeom prst="rect">
            <a:avLst/>
          </a:prstGeom>
          <a:solidFill>
            <a:srgbClr val="243F68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775815E9-15EA-3A92-9D1A-33E4DD053693}"/>
              </a:ext>
            </a:extLst>
          </p:cNvPr>
          <p:cNvSpPr txBox="1"/>
          <p:nvPr/>
        </p:nvSpPr>
        <p:spPr>
          <a:xfrm>
            <a:off x="406400" y="127000"/>
            <a:ext cx="11176000" cy="241092"/>
          </a:xfrm>
          <a:prstGeom prst="rect">
            <a:avLst/>
          </a:prstGeom>
          <a:noFill/>
        </p:spPr>
        <p:txBody>
          <a:bodyPr vert="horz" wrap="square" lIns="101600" tIns="50800" rIns="101600" bIns="50800" rtlCol="0">
            <a:spAutoFit/>
          </a:bodyPr>
          <a:lstStyle/>
          <a:p>
            <a:r>
              <a:rPr lang="en-US" sz="900" b="1">
                <a:solidFill>
                  <a:srgbClr val="BFD7FF"/>
                </a:solidFill>
                <a:latin typeface="Aptos" panose="020B0004020202020204" pitchFamily="34" charset="0"/>
              </a:rPr>
              <a:t>INSTRUCTOR ORIENTATION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B29E3D07-662F-B8FE-2376-E8CD4B9E4C17}"/>
              </a:ext>
            </a:extLst>
          </p:cNvPr>
          <p:cNvSpPr txBox="1"/>
          <p:nvPr/>
        </p:nvSpPr>
        <p:spPr>
          <a:xfrm>
            <a:off x="406400" y="342900"/>
            <a:ext cx="11176000" cy="487313"/>
          </a:xfrm>
          <a:prstGeom prst="rect">
            <a:avLst/>
          </a:prstGeom>
          <a:noFill/>
        </p:spPr>
        <p:txBody>
          <a:bodyPr vert="horz" wrap="square" lIns="101600" tIns="50800" rIns="101600" bIns="50800" rtlCol="0">
            <a:spAutoFit/>
          </a:bodyPr>
          <a:lstStyle/>
          <a:p>
            <a:r>
              <a:rPr lang="en-US" sz="2500" b="1">
                <a:solidFill>
                  <a:srgbClr val="FFFFFF"/>
                </a:solidFill>
                <a:latin typeface="Aptos" panose="020B0004020202020204" pitchFamily="34" charset="0"/>
              </a:rPr>
              <a:t>How This Class Flows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F3A8ED3D-ED71-A0AE-8FB4-32E3BF15B984}"/>
              </a:ext>
            </a:extLst>
          </p:cNvPr>
          <p:cNvSpPr txBox="1"/>
          <p:nvPr/>
        </p:nvSpPr>
        <p:spPr>
          <a:xfrm>
            <a:off x="685800" y="1333500"/>
            <a:ext cx="10795000" cy="2205732"/>
          </a:xfrm>
          <a:prstGeom prst="rect">
            <a:avLst/>
          </a:prstGeom>
          <a:noFill/>
        </p:spPr>
        <p:txBody>
          <a:bodyPr vert="horz" wrap="square" lIns="101600" tIns="50800" rIns="101600" bIns="50800" rtlCol="0">
            <a:spAutoFit/>
          </a:bodyPr>
          <a:lstStyle/>
          <a:p>
            <a:pPr>
              <a:spcAft>
                <a:spcPts val="800"/>
              </a:spcAft>
            </a:pPr>
            <a:r>
              <a:rPr lang="en-US" sz="2200">
                <a:solidFill>
                  <a:srgbClr val="111111"/>
                </a:solidFill>
                <a:latin typeface="Aptos" panose="020B0004020202020204" pitchFamily="34" charset="0"/>
              </a:rPr>
              <a:t>- Start with KQL 101 so students understand the shape of a query.</a:t>
            </a:r>
          </a:p>
          <a:p>
            <a:pPr>
              <a:spcAft>
                <a:spcPts val="800"/>
              </a:spcAft>
            </a:pPr>
            <a:r>
              <a:rPr lang="en-US" sz="2200">
                <a:solidFill>
                  <a:srgbClr val="111111"/>
                </a:solidFill>
                <a:latin typeface="Aptos" panose="020B0004020202020204" pitchFamily="34" charset="0"/>
              </a:rPr>
              <a:t>- Run the pre-CTF refresher: where, project, summarize, order by, pivoting, union.</a:t>
            </a:r>
          </a:p>
          <a:p>
            <a:pPr>
              <a:spcAft>
                <a:spcPts val="800"/>
              </a:spcAft>
            </a:pPr>
            <a:r>
              <a:rPr lang="en-US" sz="2200">
                <a:solidFill>
                  <a:srgbClr val="111111"/>
                </a:solidFill>
                <a:latin typeface="Aptos" panose="020B0004020202020204" pitchFamily="34" charset="0"/>
              </a:rPr>
              <a:t>- Use the warm-up timeline to show the AttackIQ activity cluster.</a:t>
            </a:r>
          </a:p>
          <a:p>
            <a:pPr>
              <a:spcAft>
                <a:spcPts val="800"/>
              </a:spcAft>
            </a:pPr>
            <a:r>
              <a:rPr lang="en-US" sz="2200">
                <a:solidFill>
                  <a:srgbClr val="111111"/>
                </a:solidFill>
                <a:latin typeface="Aptos" panose="020B0004020202020204" pitchFamily="34" charset="0"/>
              </a:rPr>
              <a:t>- Work through each scenario in order: brief, skill, build, challenge, full query, answer.</a:t>
            </a:r>
          </a:p>
          <a:p>
            <a:pPr>
              <a:spcAft>
                <a:spcPts val="800"/>
              </a:spcAft>
            </a:pPr>
            <a:r>
              <a:rPr lang="en-US" sz="2200">
                <a:solidFill>
                  <a:srgbClr val="111111"/>
                </a:solidFill>
                <a:latin typeface="Aptos" panose="020B0004020202020204" pitchFamily="34" charset="0"/>
              </a:rPr>
              <a:t>- Use the optional incident pivot only if the customer has a matching XDR incident.</a:t>
            </a:r>
          </a:p>
        </p:txBody>
      </p:sp>
    </p:spTree>
    <p:extLst>
      <p:ext uri="{BB962C8B-B14F-4D97-AF65-F5344CB8AC3E}">
        <p14:creationId xmlns:p14="http://schemas.microsoft.com/office/powerpoint/2010/main" val="1715163099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>
            <a:extLst>
              <a:ext uri="{FF2B5EF4-FFF2-40B4-BE49-F238E27FC236}">
                <a16:creationId xmlns:a16="http://schemas.microsoft.com/office/drawing/2014/main" id="{8BD916F2-BFB7-8074-6B31-23B694F51696}"/>
              </a:ext>
            </a:extLst>
          </p:cNvPr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0CB99754-FD26-8838-A30D-5A137865D92A}"/>
              </a:ext>
            </a:extLst>
          </p:cNvPr>
          <p:cNvSpPr/>
          <p:nvPr/>
        </p:nvSpPr>
        <p:spPr>
          <a:xfrm>
            <a:off x="0" y="0"/>
            <a:ext cx="12192000" cy="939800"/>
          </a:xfrm>
          <a:prstGeom prst="rect">
            <a:avLst/>
          </a:prstGeom>
          <a:solidFill>
            <a:srgbClr val="243F68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CA4D92DF-56E6-21E5-1D2E-03ACC82DF251}"/>
              </a:ext>
            </a:extLst>
          </p:cNvPr>
          <p:cNvSpPr txBox="1"/>
          <p:nvPr/>
        </p:nvSpPr>
        <p:spPr>
          <a:xfrm>
            <a:off x="406400" y="127000"/>
            <a:ext cx="11176000" cy="241092"/>
          </a:xfrm>
          <a:prstGeom prst="rect">
            <a:avLst/>
          </a:prstGeom>
          <a:noFill/>
        </p:spPr>
        <p:txBody>
          <a:bodyPr vert="horz" wrap="square" lIns="101600" tIns="50800" rIns="101600" bIns="50800" rtlCol="0">
            <a:spAutoFit/>
          </a:bodyPr>
          <a:lstStyle/>
          <a:p>
            <a:r>
              <a:rPr lang="en-US" sz="900" b="1">
                <a:solidFill>
                  <a:srgbClr val="BFD7FF"/>
                </a:solidFill>
                <a:latin typeface="Aptos" panose="020B0004020202020204" pitchFamily="34" charset="0"/>
              </a:rPr>
              <a:t>CTF MINDSET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9FAB1999-7722-0AAC-B6CE-E6FE3A7ACB5E}"/>
              </a:ext>
            </a:extLst>
          </p:cNvPr>
          <p:cNvSpPr txBox="1"/>
          <p:nvPr/>
        </p:nvSpPr>
        <p:spPr>
          <a:xfrm>
            <a:off x="406400" y="342900"/>
            <a:ext cx="11176000" cy="487313"/>
          </a:xfrm>
          <a:prstGeom prst="rect">
            <a:avLst/>
          </a:prstGeom>
          <a:noFill/>
        </p:spPr>
        <p:txBody>
          <a:bodyPr vert="horz" wrap="square" lIns="101600" tIns="50800" rIns="101600" bIns="50800" rtlCol="0">
            <a:spAutoFit/>
          </a:bodyPr>
          <a:lstStyle/>
          <a:p>
            <a:r>
              <a:rPr lang="en-US" sz="2500" b="1">
                <a:solidFill>
                  <a:srgbClr val="FFFFFF"/>
                </a:solidFill>
                <a:latin typeface="Aptos" panose="020B0004020202020204" pitchFamily="34" charset="0"/>
              </a:rPr>
              <a:t>The Student Mental Model</a:t>
            </a:r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75A32403-0B50-21E5-12A3-53CE3B85380C}"/>
              </a:ext>
            </a:extLst>
          </p:cNvPr>
          <p:cNvSpPr/>
          <p:nvPr/>
        </p:nvSpPr>
        <p:spPr>
          <a:xfrm>
            <a:off x="685800" y="1473200"/>
            <a:ext cx="3175000" cy="1206500"/>
          </a:xfrm>
          <a:prstGeom prst="rect">
            <a:avLst/>
          </a:prstGeom>
          <a:solidFill>
            <a:srgbClr val="EAF3FF"/>
          </a:solidFill>
          <a:ln w="12700">
            <a:solidFill>
              <a:srgbClr val="7FA9DA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EFCB5560-3362-15D0-7AEE-92CEFDA51E1D}"/>
              </a:ext>
            </a:extLst>
          </p:cNvPr>
          <p:cNvSpPr txBox="1"/>
          <p:nvPr/>
        </p:nvSpPr>
        <p:spPr>
          <a:xfrm>
            <a:off x="812800" y="1574800"/>
            <a:ext cx="2921000" cy="595035"/>
          </a:xfrm>
          <a:prstGeom prst="rect">
            <a:avLst/>
          </a:prstGeom>
          <a:noFill/>
        </p:spPr>
        <p:txBody>
          <a:bodyPr vert="horz" wrap="square" lIns="101600" tIns="50800" rIns="101600" bIns="50800" rtlCol="0">
            <a:spAutoFit/>
          </a:bodyPr>
          <a:lstStyle/>
          <a:p>
            <a:r>
              <a:rPr lang="en-US" sz="1600" b="1">
                <a:solidFill>
                  <a:srgbClr val="15375F"/>
                </a:solidFill>
                <a:latin typeface="Aptos" panose="020B0004020202020204" pitchFamily="34" charset="0"/>
              </a:rPr>
              <a:t>1. Find the right table
Process, file, or alert</a:t>
            </a:r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E7399D5B-C976-C7E0-839D-4E9CEB330E4A}"/>
              </a:ext>
            </a:extLst>
          </p:cNvPr>
          <p:cNvSpPr/>
          <p:nvPr/>
        </p:nvSpPr>
        <p:spPr>
          <a:xfrm>
            <a:off x="4495800" y="1473200"/>
            <a:ext cx="3175000" cy="1206500"/>
          </a:xfrm>
          <a:prstGeom prst="rect">
            <a:avLst/>
          </a:prstGeom>
          <a:solidFill>
            <a:srgbClr val="F4F0FF"/>
          </a:solidFill>
          <a:ln w="12700">
            <a:solidFill>
              <a:srgbClr val="7FA9DA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60335DEC-5BA2-A6F2-1571-8AE883C6F7EC}"/>
              </a:ext>
            </a:extLst>
          </p:cNvPr>
          <p:cNvSpPr txBox="1"/>
          <p:nvPr/>
        </p:nvSpPr>
        <p:spPr>
          <a:xfrm>
            <a:off x="4622800" y="1574800"/>
            <a:ext cx="2921000" cy="595035"/>
          </a:xfrm>
          <a:prstGeom prst="rect">
            <a:avLst/>
          </a:prstGeom>
          <a:noFill/>
        </p:spPr>
        <p:txBody>
          <a:bodyPr vert="horz" wrap="square" lIns="101600" tIns="50800" rIns="101600" bIns="50800" rtlCol="0">
            <a:spAutoFit/>
          </a:bodyPr>
          <a:lstStyle/>
          <a:p>
            <a:r>
              <a:rPr lang="en-US" sz="1600" b="1">
                <a:solidFill>
                  <a:srgbClr val="15375F"/>
                </a:solidFill>
                <a:latin typeface="Aptos" panose="020B0004020202020204" pitchFamily="34" charset="0"/>
              </a:rPr>
              <a:t>2. Filter the noise
Device + time + clue</a:t>
            </a:r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8BCC6EE1-6907-B297-3CEC-591C8DDE9FF0}"/>
              </a:ext>
            </a:extLst>
          </p:cNvPr>
          <p:cNvSpPr/>
          <p:nvPr/>
        </p:nvSpPr>
        <p:spPr>
          <a:xfrm>
            <a:off x="8305800" y="1473200"/>
            <a:ext cx="3175000" cy="1206500"/>
          </a:xfrm>
          <a:prstGeom prst="rect">
            <a:avLst/>
          </a:prstGeom>
          <a:solidFill>
            <a:srgbClr val="EEF7ED"/>
          </a:solidFill>
          <a:ln w="12700">
            <a:solidFill>
              <a:srgbClr val="7FA9DA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24A3EE24-FFF5-C423-7F35-E8D6E3FBA79F}"/>
              </a:ext>
            </a:extLst>
          </p:cNvPr>
          <p:cNvSpPr txBox="1"/>
          <p:nvPr/>
        </p:nvSpPr>
        <p:spPr>
          <a:xfrm>
            <a:off x="8432800" y="1574800"/>
            <a:ext cx="2921000" cy="595035"/>
          </a:xfrm>
          <a:prstGeom prst="rect">
            <a:avLst/>
          </a:prstGeom>
          <a:noFill/>
        </p:spPr>
        <p:txBody>
          <a:bodyPr vert="horz" wrap="square" lIns="101600" tIns="50800" rIns="101600" bIns="50800" rtlCol="0">
            <a:spAutoFit/>
          </a:bodyPr>
          <a:lstStyle/>
          <a:p>
            <a:r>
              <a:rPr lang="en-US" sz="1600" b="1">
                <a:solidFill>
                  <a:srgbClr val="15375F"/>
                </a:solidFill>
                <a:latin typeface="Aptos" panose="020B0004020202020204" pitchFamily="34" charset="0"/>
              </a:rPr>
              <a:t>3. Prove the answer
When, where, what, why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6F4BC3AF-8FED-73F0-19AC-2D6191744A7F}"/>
              </a:ext>
            </a:extLst>
          </p:cNvPr>
          <p:cNvSpPr txBox="1"/>
          <p:nvPr/>
        </p:nvSpPr>
        <p:spPr>
          <a:xfrm>
            <a:off x="685800" y="3175000"/>
            <a:ext cx="10795000" cy="1641475"/>
          </a:xfrm>
          <a:prstGeom prst="rect">
            <a:avLst/>
          </a:prstGeom>
          <a:noFill/>
        </p:spPr>
        <p:txBody>
          <a:bodyPr vert="horz" wrap="square" lIns="101600" tIns="50800" rIns="101600" bIns="50800" rtlCol="0">
            <a:spAutoFit/>
          </a:bodyPr>
          <a:lstStyle/>
          <a:p>
            <a:pPr>
              <a:spcAft>
                <a:spcPts val="800"/>
              </a:spcAft>
            </a:pPr>
            <a:r>
              <a:rPr lang="en-US" sz="2000">
                <a:solidFill>
                  <a:srgbClr val="111111"/>
                </a:solidFill>
                <a:latin typeface="Aptos" panose="020B0004020202020204" pitchFamily="34" charset="0"/>
              </a:rPr>
              <a:t>- Every CTF answer should be evidence-backed, not guessed.</a:t>
            </a:r>
          </a:p>
          <a:p>
            <a:pPr>
              <a:spcAft>
                <a:spcPts val="800"/>
              </a:spcAft>
            </a:pPr>
            <a:r>
              <a:rPr lang="en-US" sz="2000">
                <a:solidFill>
                  <a:srgbClr val="111111"/>
                </a:solidFill>
                <a:latin typeface="Aptos" panose="020B0004020202020204" pitchFamily="34" charset="0"/>
              </a:rPr>
              <a:t>- The query does not need to start perfect. It should get better with each filter.</a:t>
            </a:r>
          </a:p>
          <a:p>
            <a:pPr>
              <a:spcAft>
                <a:spcPts val="800"/>
              </a:spcAft>
            </a:pPr>
            <a:r>
              <a:rPr lang="en-US" sz="2000">
                <a:solidFill>
                  <a:srgbClr val="111111"/>
                </a:solidFill>
                <a:latin typeface="Aptos" panose="020B0004020202020204" pitchFamily="34" charset="0"/>
              </a:rPr>
              <a:t>- If the process table is quiet, check file and alert evidence.</a:t>
            </a:r>
          </a:p>
          <a:p>
            <a:pPr>
              <a:spcAft>
                <a:spcPts val="800"/>
              </a:spcAft>
            </a:pPr>
            <a:r>
              <a:rPr lang="en-US" sz="2000">
                <a:solidFill>
                  <a:srgbClr val="111111"/>
                </a:solidFill>
                <a:latin typeface="Aptos" panose="020B0004020202020204" pitchFamily="34" charset="0"/>
              </a:rPr>
              <a:t>- The answer key is for explanation, not the first place students should look.</a:t>
            </a:r>
          </a:p>
        </p:txBody>
      </p:sp>
    </p:spTree>
    <p:extLst>
      <p:ext uri="{BB962C8B-B14F-4D97-AF65-F5344CB8AC3E}">
        <p14:creationId xmlns:p14="http://schemas.microsoft.com/office/powerpoint/2010/main" val="3034086018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>
            <a:extLst>
              <a:ext uri="{FF2B5EF4-FFF2-40B4-BE49-F238E27FC236}">
                <a16:creationId xmlns:a16="http://schemas.microsoft.com/office/drawing/2014/main" id="{039FEFA9-AF01-1EE2-7D10-87611124F586}"/>
              </a:ext>
            </a:extLst>
          </p:cNvPr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B17D94AF-F29D-D159-3FEE-F8A12840E820}"/>
              </a:ext>
            </a:extLst>
          </p:cNvPr>
          <p:cNvSpPr/>
          <p:nvPr/>
        </p:nvSpPr>
        <p:spPr>
          <a:xfrm>
            <a:off x="0" y="0"/>
            <a:ext cx="12192000" cy="939800"/>
          </a:xfrm>
          <a:prstGeom prst="rect">
            <a:avLst/>
          </a:prstGeom>
          <a:solidFill>
            <a:srgbClr val="243F68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23C7AA76-FDD4-17BE-D0D4-C8FE7F039DCF}"/>
              </a:ext>
            </a:extLst>
          </p:cNvPr>
          <p:cNvSpPr txBox="1"/>
          <p:nvPr/>
        </p:nvSpPr>
        <p:spPr>
          <a:xfrm>
            <a:off x="406400" y="127000"/>
            <a:ext cx="11176000" cy="241092"/>
          </a:xfrm>
          <a:prstGeom prst="rect">
            <a:avLst/>
          </a:prstGeom>
          <a:noFill/>
        </p:spPr>
        <p:txBody>
          <a:bodyPr vert="horz" wrap="square" lIns="101600" tIns="50800" rIns="101600" bIns="50800" rtlCol="0">
            <a:spAutoFit/>
          </a:bodyPr>
          <a:lstStyle/>
          <a:p>
            <a:r>
              <a:rPr lang="en-US" sz="900" b="1">
                <a:solidFill>
                  <a:srgbClr val="BFD7FF"/>
                </a:solidFill>
                <a:latin typeface="Aptos" panose="020B0004020202020204" pitchFamily="34" charset="0"/>
              </a:rPr>
              <a:t>BEFORE THE CTF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C58AA75D-C88A-F5BE-0415-C4C4545CF1E3}"/>
              </a:ext>
            </a:extLst>
          </p:cNvPr>
          <p:cNvSpPr txBox="1"/>
          <p:nvPr/>
        </p:nvSpPr>
        <p:spPr>
          <a:xfrm>
            <a:off x="406400" y="342900"/>
            <a:ext cx="11176000" cy="487313"/>
          </a:xfrm>
          <a:prstGeom prst="rect">
            <a:avLst/>
          </a:prstGeom>
          <a:noFill/>
        </p:spPr>
        <p:txBody>
          <a:bodyPr vert="horz" wrap="square" lIns="101600" tIns="50800" rIns="101600" bIns="50800" rtlCol="0">
            <a:spAutoFit/>
          </a:bodyPr>
          <a:lstStyle/>
          <a:p>
            <a:r>
              <a:rPr lang="en-US" sz="2500" b="1">
                <a:solidFill>
                  <a:srgbClr val="FFFFFF"/>
                </a:solidFill>
                <a:latin typeface="Aptos" panose="020B0004020202020204" pitchFamily="34" charset="0"/>
              </a:rPr>
              <a:t>KQL 101: Read Top To Bottom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5173E5A1-B036-7E39-D834-6E302D69E58B}"/>
              </a:ext>
            </a:extLst>
          </p:cNvPr>
          <p:cNvSpPr txBox="1"/>
          <p:nvPr/>
        </p:nvSpPr>
        <p:spPr>
          <a:xfrm>
            <a:off x="685800" y="1371600"/>
            <a:ext cx="4953000" cy="2267287"/>
          </a:xfrm>
          <a:prstGeom prst="rect">
            <a:avLst/>
          </a:prstGeom>
          <a:noFill/>
        </p:spPr>
        <p:txBody>
          <a:bodyPr vert="horz" wrap="square" lIns="101600" tIns="50800" rIns="101600" bIns="50800" rtlCol="0">
            <a:spAutoFit/>
          </a:bodyPr>
          <a:lstStyle/>
          <a:p>
            <a:pPr>
              <a:spcAft>
                <a:spcPts val="800"/>
              </a:spcAft>
            </a:pPr>
            <a:r>
              <a:rPr lang="en-US" sz="1900">
                <a:solidFill>
                  <a:srgbClr val="111111"/>
                </a:solidFill>
                <a:latin typeface="Aptos" panose="020B0004020202020204" pitchFamily="34" charset="0"/>
              </a:rPr>
              <a:t>- The table name starts the query.</a:t>
            </a:r>
          </a:p>
          <a:p>
            <a:pPr>
              <a:spcAft>
                <a:spcPts val="800"/>
              </a:spcAft>
            </a:pPr>
            <a:r>
              <a:rPr lang="en-US" sz="1900">
                <a:solidFill>
                  <a:srgbClr val="111111"/>
                </a:solidFill>
                <a:latin typeface="Aptos" panose="020B0004020202020204" pitchFamily="34" charset="0"/>
              </a:rPr>
              <a:t>- The pipe character sends rows to the next step.</a:t>
            </a:r>
          </a:p>
          <a:p>
            <a:pPr>
              <a:spcAft>
                <a:spcPts val="800"/>
              </a:spcAft>
            </a:pPr>
            <a:r>
              <a:rPr lang="en-US" sz="1900">
                <a:solidFill>
                  <a:srgbClr val="111111"/>
                </a:solidFill>
                <a:latin typeface="Aptos" panose="020B0004020202020204" pitchFamily="34" charset="0"/>
              </a:rPr>
              <a:t>- where reduces noise.</a:t>
            </a:r>
          </a:p>
          <a:p>
            <a:pPr>
              <a:spcAft>
                <a:spcPts val="800"/>
              </a:spcAft>
            </a:pPr>
            <a:r>
              <a:rPr lang="en-US" sz="1900">
                <a:solidFill>
                  <a:srgbClr val="111111"/>
                </a:solidFill>
                <a:latin typeface="Aptos" panose="020B0004020202020204" pitchFamily="34" charset="0"/>
              </a:rPr>
              <a:t>- project chooses the evidence columns.</a:t>
            </a:r>
          </a:p>
          <a:p>
            <a:pPr>
              <a:spcAft>
                <a:spcPts val="800"/>
              </a:spcAft>
            </a:pPr>
            <a:r>
              <a:rPr lang="en-US" sz="1900">
                <a:solidFill>
                  <a:srgbClr val="111111"/>
                </a:solidFill>
                <a:latin typeface="Aptos" panose="020B0004020202020204" pitchFamily="34" charset="0"/>
              </a:rPr>
              <a:t>- order by makes the result readable.</a:t>
            </a:r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001FA321-14D2-BCBB-E0A5-0462F9CFEADE}"/>
              </a:ext>
            </a:extLst>
          </p:cNvPr>
          <p:cNvSpPr/>
          <p:nvPr/>
        </p:nvSpPr>
        <p:spPr>
          <a:xfrm>
            <a:off x="6172200" y="1422400"/>
            <a:ext cx="4953000" cy="3048000"/>
          </a:xfrm>
          <a:prstGeom prst="rect">
            <a:avLst/>
          </a:prstGeom>
          <a:solidFill>
            <a:srgbClr val="F4F7FB"/>
          </a:solidFill>
          <a:ln w="12700">
            <a:solidFill>
              <a:srgbClr val="D6E0EF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F1BEC964-19B8-3644-A097-D3F56CA49B51}"/>
              </a:ext>
            </a:extLst>
          </p:cNvPr>
          <p:cNvSpPr txBox="1"/>
          <p:nvPr/>
        </p:nvSpPr>
        <p:spPr>
          <a:xfrm>
            <a:off x="6324600" y="1549400"/>
            <a:ext cx="4648200" cy="1502976"/>
          </a:xfrm>
          <a:prstGeom prst="rect">
            <a:avLst/>
          </a:prstGeom>
          <a:noFill/>
        </p:spPr>
        <p:txBody>
          <a:bodyPr vert="horz" wrap="square" lIns="101600" tIns="50800" rIns="101600" bIns="50800" rtlCol="0">
            <a:spAutoFit/>
          </a:bodyPr>
          <a:lstStyle/>
          <a:p>
            <a:r>
              <a:rPr lang="en-US" sz="1300">
                <a:solidFill>
                  <a:srgbClr val="0B1F3A"/>
                </a:solidFill>
                <a:latin typeface="Cascadia Mono" panose="020B0609020000020004" pitchFamily="49" charset="0"/>
              </a:rPr>
              <a:t>DeviceProcessEvents</a:t>
            </a:r>
          </a:p>
          <a:p>
            <a:r>
              <a:rPr lang="en-US" sz="1300">
                <a:solidFill>
                  <a:srgbClr val="0B1F3A"/>
                </a:solidFill>
                <a:latin typeface="Cascadia Mono" panose="020B0609020000020004" pitchFamily="49" charset="0"/>
              </a:rPr>
              <a:t>| where Timestamp &gt; ago(7d)</a:t>
            </a:r>
          </a:p>
          <a:p>
            <a:r>
              <a:rPr lang="en-US" sz="1300">
                <a:solidFill>
                  <a:srgbClr val="0B1F3A"/>
                </a:solidFill>
                <a:latin typeface="Cascadia Mono" panose="020B0609020000020004" pitchFamily="49" charset="0"/>
              </a:rPr>
              <a:t>| where DeviceName == TargetDevice</a:t>
            </a:r>
          </a:p>
          <a:p>
            <a:r>
              <a:rPr lang="en-US" sz="1300">
                <a:solidFill>
                  <a:srgbClr val="0B1F3A"/>
                </a:solidFill>
                <a:latin typeface="Cascadia Mono" panose="020B0609020000020004" pitchFamily="49" charset="0"/>
              </a:rPr>
              <a:t>| where ProcessCommandLine has "reg save"</a:t>
            </a:r>
          </a:p>
          <a:p>
            <a:r>
              <a:rPr lang="en-US" sz="1300">
                <a:solidFill>
                  <a:srgbClr val="0B1F3A"/>
                </a:solidFill>
                <a:latin typeface="Cascadia Mono" panose="020B0609020000020004" pitchFamily="49" charset="0"/>
              </a:rPr>
              <a:t>| project Timestamp, DeviceName, FileName, ProcessCommandLine</a:t>
            </a:r>
          </a:p>
          <a:p>
            <a:r>
              <a:rPr lang="en-US" sz="1300">
                <a:solidFill>
                  <a:srgbClr val="0B1F3A"/>
                </a:solidFill>
                <a:latin typeface="Cascadia Mono" panose="020B0609020000020004" pitchFamily="49" charset="0"/>
              </a:rPr>
              <a:t>| order by Timestamp asc</a:t>
            </a:r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FAE03E2F-9CF5-5DF4-4927-37ECACEA2C9A}"/>
              </a:ext>
            </a:extLst>
          </p:cNvPr>
          <p:cNvSpPr/>
          <p:nvPr/>
        </p:nvSpPr>
        <p:spPr>
          <a:xfrm>
            <a:off x="6172200" y="4749800"/>
            <a:ext cx="4953000" cy="736600"/>
          </a:xfrm>
          <a:prstGeom prst="rect">
            <a:avLst/>
          </a:prstGeom>
          <a:solidFill>
            <a:srgbClr val="FFF6E5"/>
          </a:solidFill>
          <a:ln w="12700">
            <a:solidFill>
              <a:srgbClr val="7FA9DA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704B35E2-F710-BBED-CE48-1BC70FE58E60}"/>
              </a:ext>
            </a:extLst>
          </p:cNvPr>
          <p:cNvSpPr txBox="1"/>
          <p:nvPr/>
        </p:nvSpPr>
        <p:spPr>
          <a:xfrm>
            <a:off x="6299200" y="4851400"/>
            <a:ext cx="4699000" cy="348813"/>
          </a:xfrm>
          <a:prstGeom prst="rect">
            <a:avLst/>
          </a:prstGeom>
          <a:noFill/>
        </p:spPr>
        <p:txBody>
          <a:bodyPr vert="horz" wrap="square" lIns="101600" tIns="50800" rIns="101600" bIns="50800" rtlCol="0">
            <a:spAutoFit/>
          </a:bodyPr>
          <a:lstStyle/>
          <a:p>
            <a:r>
              <a:rPr lang="en-US" sz="1600" b="1">
                <a:solidFill>
                  <a:srgbClr val="15375F"/>
                </a:solidFill>
                <a:latin typeface="Aptos" panose="020B0004020202020204" pitchFamily="34" charset="0"/>
              </a:rPr>
              <a:t>Coach line: read every pipe as "and then..."</a:t>
            </a:r>
          </a:p>
        </p:txBody>
      </p:sp>
    </p:spTree>
    <p:extLst>
      <p:ext uri="{BB962C8B-B14F-4D97-AF65-F5344CB8AC3E}">
        <p14:creationId xmlns:p14="http://schemas.microsoft.com/office/powerpoint/2010/main" val="1527428465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>
            <a:extLst>
              <a:ext uri="{FF2B5EF4-FFF2-40B4-BE49-F238E27FC236}">
                <a16:creationId xmlns:a16="http://schemas.microsoft.com/office/drawing/2014/main" id="{C6D3F73A-F87B-AC00-CE4E-46D600741938}"/>
              </a:ext>
            </a:extLst>
          </p:cNvPr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291956CC-781E-2A9C-C676-DE0E1499BE4A}"/>
              </a:ext>
            </a:extLst>
          </p:cNvPr>
          <p:cNvSpPr/>
          <p:nvPr/>
        </p:nvSpPr>
        <p:spPr>
          <a:xfrm>
            <a:off x="0" y="0"/>
            <a:ext cx="12192000" cy="939800"/>
          </a:xfrm>
          <a:prstGeom prst="rect">
            <a:avLst/>
          </a:prstGeom>
          <a:solidFill>
            <a:srgbClr val="243F68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EB1872F5-EF5D-A2F1-3B51-BFB4E8FD71A9}"/>
              </a:ext>
            </a:extLst>
          </p:cNvPr>
          <p:cNvSpPr txBox="1"/>
          <p:nvPr/>
        </p:nvSpPr>
        <p:spPr>
          <a:xfrm>
            <a:off x="406400" y="127000"/>
            <a:ext cx="11176000" cy="241092"/>
          </a:xfrm>
          <a:prstGeom prst="rect">
            <a:avLst/>
          </a:prstGeom>
          <a:noFill/>
        </p:spPr>
        <p:txBody>
          <a:bodyPr vert="horz" wrap="square" lIns="101600" tIns="50800" rIns="101600" bIns="50800" rtlCol="0">
            <a:spAutoFit/>
          </a:bodyPr>
          <a:lstStyle/>
          <a:p>
            <a:r>
              <a:rPr lang="en-US" sz="900" b="1">
                <a:solidFill>
                  <a:srgbClr val="BFD7FF"/>
                </a:solidFill>
                <a:latin typeface="Aptos" panose="020B0004020202020204" pitchFamily="34" charset="0"/>
              </a:rPr>
              <a:t>DATA -&gt; FILTER -&gt; ANALYZE -&gt; EVIDENCE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667E88AF-6605-89EC-153B-2DF2F91F8D80}"/>
              </a:ext>
            </a:extLst>
          </p:cNvPr>
          <p:cNvSpPr txBox="1"/>
          <p:nvPr/>
        </p:nvSpPr>
        <p:spPr>
          <a:xfrm>
            <a:off x="406400" y="342900"/>
            <a:ext cx="11176000" cy="487313"/>
          </a:xfrm>
          <a:prstGeom prst="rect">
            <a:avLst/>
          </a:prstGeom>
          <a:noFill/>
        </p:spPr>
        <p:txBody>
          <a:bodyPr vert="horz" wrap="square" lIns="101600" tIns="50800" rIns="101600" bIns="50800" rtlCol="0">
            <a:spAutoFit/>
          </a:bodyPr>
          <a:lstStyle/>
          <a:p>
            <a:r>
              <a:rPr lang="en-US" sz="2500" b="1">
                <a:solidFill>
                  <a:srgbClr val="FFFFFF"/>
                </a:solidFill>
                <a:latin typeface="Aptos" panose="020B0004020202020204" pitchFamily="34" charset="0"/>
              </a:rPr>
              <a:t>Query Construction Flow</a:t>
            </a:r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2ADE712C-1AB6-3C36-058F-0A47E1C1E974}"/>
              </a:ext>
            </a:extLst>
          </p:cNvPr>
          <p:cNvSpPr/>
          <p:nvPr/>
        </p:nvSpPr>
        <p:spPr>
          <a:xfrm>
            <a:off x="762000" y="1651000"/>
            <a:ext cx="2222500" cy="1041400"/>
          </a:xfrm>
          <a:prstGeom prst="rect">
            <a:avLst/>
          </a:prstGeom>
          <a:solidFill>
            <a:srgbClr val="EAF3FF"/>
          </a:solidFill>
          <a:ln w="12700">
            <a:solidFill>
              <a:srgbClr val="7FA9DA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8DDE2D85-3ECB-951B-161E-164B46388256}"/>
              </a:ext>
            </a:extLst>
          </p:cNvPr>
          <p:cNvSpPr txBox="1"/>
          <p:nvPr/>
        </p:nvSpPr>
        <p:spPr>
          <a:xfrm>
            <a:off x="889000" y="1752600"/>
            <a:ext cx="1968500" cy="595035"/>
          </a:xfrm>
          <a:prstGeom prst="rect">
            <a:avLst/>
          </a:prstGeom>
          <a:noFill/>
        </p:spPr>
        <p:txBody>
          <a:bodyPr vert="horz" wrap="square" lIns="101600" tIns="50800" rIns="101600" bIns="50800" rtlCol="0">
            <a:spAutoFit/>
          </a:bodyPr>
          <a:lstStyle/>
          <a:p>
            <a:r>
              <a:rPr lang="en-US" sz="1600" b="1">
                <a:solidFill>
                  <a:srgbClr val="15375F"/>
                </a:solidFill>
                <a:latin typeface="Aptos" panose="020B0004020202020204" pitchFamily="34" charset="0"/>
              </a:rPr>
              <a:t>DATA
Choose a table</a:t>
            </a:r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5AF4D580-393F-A8C2-CDF9-73E227A5BD2C}"/>
              </a:ext>
            </a:extLst>
          </p:cNvPr>
          <p:cNvSpPr/>
          <p:nvPr/>
        </p:nvSpPr>
        <p:spPr>
          <a:xfrm>
            <a:off x="3429000" y="1651000"/>
            <a:ext cx="2222500" cy="1041400"/>
          </a:xfrm>
          <a:prstGeom prst="rect">
            <a:avLst/>
          </a:prstGeom>
          <a:solidFill>
            <a:srgbClr val="F4F0FF"/>
          </a:solidFill>
          <a:ln w="12700">
            <a:solidFill>
              <a:srgbClr val="7FA9DA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B6F657CA-599E-8A5C-516D-662C6B5353B8}"/>
              </a:ext>
            </a:extLst>
          </p:cNvPr>
          <p:cNvSpPr txBox="1"/>
          <p:nvPr/>
        </p:nvSpPr>
        <p:spPr>
          <a:xfrm>
            <a:off x="3556000" y="1752600"/>
            <a:ext cx="1968500" cy="595035"/>
          </a:xfrm>
          <a:prstGeom prst="rect">
            <a:avLst/>
          </a:prstGeom>
          <a:noFill/>
        </p:spPr>
        <p:txBody>
          <a:bodyPr vert="horz" wrap="square" lIns="101600" tIns="50800" rIns="101600" bIns="50800" rtlCol="0">
            <a:spAutoFit/>
          </a:bodyPr>
          <a:lstStyle/>
          <a:p>
            <a:r>
              <a:rPr lang="en-US" sz="1600" b="1">
                <a:solidFill>
                  <a:srgbClr val="15375F"/>
                </a:solidFill>
                <a:latin typeface="Aptos" panose="020B0004020202020204" pitchFamily="34" charset="0"/>
              </a:rPr>
              <a:t>FILTER
Reduce noise</a:t>
            </a:r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94A2D35C-4312-4C3C-1B1F-02E51DD2E624}"/>
              </a:ext>
            </a:extLst>
          </p:cNvPr>
          <p:cNvSpPr/>
          <p:nvPr/>
        </p:nvSpPr>
        <p:spPr>
          <a:xfrm>
            <a:off x="6096000" y="1651000"/>
            <a:ext cx="2222500" cy="1041400"/>
          </a:xfrm>
          <a:prstGeom prst="rect">
            <a:avLst/>
          </a:prstGeom>
          <a:solidFill>
            <a:srgbClr val="EEF7ED"/>
          </a:solidFill>
          <a:ln w="12700">
            <a:solidFill>
              <a:srgbClr val="7FA9DA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D307652D-629B-ADE3-86AA-5BDE897378D3}"/>
              </a:ext>
            </a:extLst>
          </p:cNvPr>
          <p:cNvSpPr txBox="1"/>
          <p:nvPr/>
        </p:nvSpPr>
        <p:spPr>
          <a:xfrm>
            <a:off x="6223000" y="1752600"/>
            <a:ext cx="1968500" cy="595035"/>
          </a:xfrm>
          <a:prstGeom prst="rect">
            <a:avLst/>
          </a:prstGeom>
          <a:noFill/>
        </p:spPr>
        <p:txBody>
          <a:bodyPr vert="horz" wrap="square" lIns="101600" tIns="50800" rIns="101600" bIns="50800" rtlCol="0">
            <a:spAutoFit/>
          </a:bodyPr>
          <a:lstStyle/>
          <a:p>
            <a:r>
              <a:rPr lang="en-US" sz="1600" b="1">
                <a:solidFill>
                  <a:srgbClr val="15375F"/>
                </a:solidFill>
                <a:latin typeface="Aptos" panose="020B0004020202020204" pitchFamily="34" charset="0"/>
              </a:rPr>
              <a:t>ANALYZE
Pivot or count</a:t>
            </a:r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561C8230-62BF-F453-1000-05212B5B30CB}"/>
              </a:ext>
            </a:extLst>
          </p:cNvPr>
          <p:cNvSpPr/>
          <p:nvPr/>
        </p:nvSpPr>
        <p:spPr>
          <a:xfrm>
            <a:off x="8763000" y="1651000"/>
            <a:ext cx="2222500" cy="1041400"/>
          </a:xfrm>
          <a:prstGeom prst="rect">
            <a:avLst/>
          </a:prstGeom>
          <a:solidFill>
            <a:srgbClr val="FFF6E5"/>
          </a:solidFill>
          <a:ln w="12700">
            <a:solidFill>
              <a:srgbClr val="7FA9DA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0EE4A87F-7A43-30CD-EA10-8CE1768D975B}"/>
              </a:ext>
            </a:extLst>
          </p:cNvPr>
          <p:cNvSpPr txBox="1"/>
          <p:nvPr/>
        </p:nvSpPr>
        <p:spPr>
          <a:xfrm>
            <a:off x="8890000" y="1752600"/>
            <a:ext cx="1968500" cy="595035"/>
          </a:xfrm>
          <a:prstGeom prst="rect">
            <a:avLst/>
          </a:prstGeom>
          <a:noFill/>
        </p:spPr>
        <p:txBody>
          <a:bodyPr vert="horz" wrap="square" lIns="101600" tIns="50800" rIns="101600" bIns="50800" rtlCol="0">
            <a:spAutoFit/>
          </a:bodyPr>
          <a:lstStyle/>
          <a:p>
            <a:r>
              <a:rPr lang="en-US" sz="1600" b="1">
                <a:solidFill>
                  <a:srgbClr val="15375F"/>
                </a:solidFill>
                <a:latin typeface="Aptos" panose="020B0004020202020204" pitchFamily="34" charset="0"/>
              </a:rPr>
              <a:t>PRESENT
Show proof</a:t>
            </a:r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60FC8D45-D076-6BB8-0220-4F92BF1E3974}"/>
              </a:ext>
            </a:extLst>
          </p:cNvPr>
          <p:cNvSpPr/>
          <p:nvPr/>
        </p:nvSpPr>
        <p:spPr>
          <a:xfrm>
            <a:off x="1168400" y="3530600"/>
            <a:ext cx="9779000" cy="1524000"/>
          </a:xfrm>
          <a:prstGeom prst="rect">
            <a:avLst/>
          </a:prstGeom>
          <a:solidFill>
            <a:srgbClr val="F4F7FB"/>
          </a:solidFill>
          <a:ln w="12700">
            <a:solidFill>
              <a:srgbClr val="D6E0EF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8A103021-D6BB-E4E0-43F9-5052AF0AF492}"/>
              </a:ext>
            </a:extLst>
          </p:cNvPr>
          <p:cNvSpPr txBox="1"/>
          <p:nvPr/>
        </p:nvSpPr>
        <p:spPr>
          <a:xfrm>
            <a:off x="1320800" y="3657600"/>
            <a:ext cx="9474200" cy="1256754"/>
          </a:xfrm>
          <a:prstGeom prst="rect">
            <a:avLst/>
          </a:prstGeom>
          <a:noFill/>
        </p:spPr>
        <p:txBody>
          <a:bodyPr vert="horz" wrap="square" lIns="101600" tIns="50800" rIns="101600" bIns="50800" rtlCol="0">
            <a:spAutoFit/>
          </a:bodyPr>
          <a:lstStyle/>
          <a:p>
            <a:r>
              <a:rPr lang="en-US" sz="1500">
                <a:solidFill>
                  <a:srgbClr val="0B1F3A"/>
                </a:solidFill>
                <a:latin typeface="Cascadia Mono" panose="020B0609020000020004" pitchFamily="49" charset="0"/>
              </a:rPr>
              <a:t>DeviceProcessEvents</a:t>
            </a:r>
          </a:p>
          <a:p>
            <a:r>
              <a:rPr lang="en-US" sz="1500">
                <a:solidFill>
                  <a:srgbClr val="0B1F3A"/>
                </a:solidFill>
                <a:latin typeface="Cascadia Mono" panose="020B0609020000020004" pitchFamily="49" charset="0"/>
              </a:rPr>
              <a:t>| where Timestamp &gt; ago(7d)</a:t>
            </a:r>
          </a:p>
          <a:p>
            <a:r>
              <a:rPr lang="en-US" sz="1500">
                <a:solidFill>
                  <a:srgbClr val="0B1F3A"/>
                </a:solidFill>
                <a:latin typeface="Cascadia Mono" panose="020B0609020000020004" pitchFamily="49" charset="0"/>
              </a:rPr>
              <a:t>| where DeviceName == TargetDevice</a:t>
            </a:r>
          </a:p>
          <a:p>
            <a:r>
              <a:rPr lang="en-US" sz="1500">
                <a:solidFill>
                  <a:srgbClr val="0B1F3A"/>
                </a:solidFill>
                <a:latin typeface="Cascadia Mono" panose="020B0609020000020004" pitchFamily="49" charset="0"/>
              </a:rPr>
              <a:t>| summarize count() by FileName</a:t>
            </a:r>
          </a:p>
          <a:p>
            <a:r>
              <a:rPr lang="en-US" sz="1500">
                <a:solidFill>
                  <a:srgbClr val="0B1F3A"/>
                </a:solidFill>
                <a:latin typeface="Cascadia Mono" panose="020B0609020000020004" pitchFamily="49" charset="0"/>
              </a:rPr>
              <a:t>| order by count_ desc</a:t>
            </a: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14E55C58-36AF-3F2E-A4FB-1C6D6F86C5B9}"/>
              </a:ext>
            </a:extLst>
          </p:cNvPr>
          <p:cNvSpPr txBox="1"/>
          <p:nvPr/>
        </p:nvSpPr>
        <p:spPr>
          <a:xfrm>
            <a:off x="1206500" y="5334000"/>
            <a:ext cx="9652000" cy="687368"/>
          </a:xfrm>
          <a:prstGeom prst="rect">
            <a:avLst/>
          </a:prstGeom>
          <a:noFill/>
        </p:spPr>
        <p:txBody>
          <a:bodyPr vert="horz" wrap="square" lIns="101600" tIns="50800" rIns="101600" bIns="50800" rtlCol="0">
            <a:spAutoFit/>
          </a:bodyPr>
          <a:lstStyle/>
          <a:p>
            <a:r>
              <a:rPr lang="en-US" sz="1900" b="1">
                <a:solidFill>
                  <a:srgbClr val="243F68"/>
                </a:solidFill>
                <a:latin typeface="Aptos" panose="020B0004020202020204" pitchFamily="34" charset="0"/>
              </a:rPr>
              <a:t>The goal is not a fancy query. The goal is a query that answers the question with evidence.</a:t>
            </a:r>
          </a:p>
        </p:txBody>
      </p:sp>
    </p:spTree>
    <p:extLst>
      <p:ext uri="{BB962C8B-B14F-4D97-AF65-F5344CB8AC3E}">
        <p14:creationId xmlns:p14="http://schemas.microsoft.com/office/powerpoint/2010/main" val="3115873277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>
            <a:extLst>
              <a:ext uri="{FF2B5EF4-FFF2-40B4-BE49-F238E27FC236}">
                <a16:creationId xmlns:a16="http://schemas.microsoft.com/office/drawing/2014/main" id="{D03A7C30-370E-F7B7-964D-6B218FB986D0}"/>
              </a:ext>
            </a:extLst>
          </p:cNvPr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6DDDD55F-2787-0944-A02F-6CFD87C02E1A}"/>
              </a:ext>
            </a:extLst>
          </p:cNvPr>
          <p:cNvSpPr/>
          <p:nvPr/>
        </p:nvSpPr>
        <p:spPr>
          <a:xfrm>
            <a:off x="0" y="0"/>
            <a:ext cx="12192000" cy="939800"/>
          </a:xfrm>
          <a:prstGeom prst="rect">
            <a:avLst/>
          </a:prstGeom>
          <a:solidFill>
            <a:srgbClr val="243F68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4509CD69-C96A-2351-B09C-7CBB4642D2AB}"/>
              </a:ext>
            </a:extLst>
          </p:cNvPr>
          <p:cNvSpPr txBox="1"/>
          <p:nvPr/>
        </p:nvSpPr>
        <p:spPr>
          <a:xfrm>
            <a:off x="406400" y="127000"/>
            <a:ext cx="11176000" cy="241092"/>
          </a:xfrm>
          <a:prstGeom prst="rect">
            <a:avLst/>
          </a:prstGeom>
          <a:noFill/>
        </p:spPr>
        <p:txBody>
          <a:bodyPr vert="horz" wrap="square" lIns="101600" tIns="50800" rIns="101600" bIns="50800" rtlCol="0">
            <a:spAutoFit/>
          </a:bodyPr>
          <a:lstStyle/>
          <a:p>
            <a:r>
              <a:rPr lang="en-US" sz="900" b="1">
                <a:solidFill>
                  <a:srgbClr val="BFD7FF"/>
                </a:solidFill>
                <a:latin typeface="Aptos" panose="020B0004020202020204" pitchFamily="34" charset="0"/>
              </a:rPr>
              <a:t>MOST IMPORTANT BEGINNER OPERATOR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3ECD14EB-D0EE-6B0B-94B9-ECA812F4F19A}"/>
              </a:ext>
            </a:extLst>
          </p:cNvPr>
          <p:cNvSpPr txBox="1"/>
          <p:nvPr/>
        </p:nvSpPr>
        <p:spPr>
          <a:xfrm>
            <a:off x="406400" y="342900"/>
            <a:ext cx="11176000" cy="487313"/>
          </a:xfrm>
          <a:prstGeom prst="rect">
            <a:avLst/>
          </a:prstGeom>
          <a:noFill/>
        </p:spPr>
        <p:txBody>
          <a:bodyPr vert="horz" wrap="square" lIns="101600" tIns="50800" rIns="101600" bIns="50800" rtlCol="0">
            <a:spAutoFit/>
          </a:bodyPr>
          <a:lstStyle/>
          <a:p>
            <a:r>
              <a:rPr lang="en-US" sz="2500" b="1">
                <a:solidFill>
                  <a:srgbClr val="FFFFFF"/>
                </a:solidFill>
                <a:latin typeface="Aptos" panose="020B0004020202020204" pitchFamily="34" charset="0"/>
              </a:rPr>
              <a:t>Filtering With where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13A9E9BF-0BBC-45D7-9283-51A2D8DCF102}"/>
              </a:ext>
            </a:extLst>
          </p:cNvPr>
          <p:cNvSpPr txBox="1"/>
          <p:nvPr/>
        </p:nvSpPr>
        <p:spPr>
          <a:xfrm>
            <a:off x="685800" y="1320800"/>
            <a:ext cx="4953000" cy="2457083"/>
          </a:xfrm>
          <a:prstGeom prst="rect">
            <a:avLst/>
          </a:prstGeom>
          <a:noFill/>
        </p:spPr>
        <p:txBody>
          <a:bodyPr vert="horz" wrap="square" lIns="101600" tIns="50800" rIns="101600" bIns="50800" rtlCol="0">
            <a:spAutoFit/>
          </a:bodyPr>
          <a:lstStyle/>
          <a:p>
            <a:pPr>
              <a:spcAft>
                <a:spcPts val="800"/>
              </a:spcAft>
            </a:pPr>
            <a:r>
              <a:rPr lang="en-US" sz="1900">
                <a:solidFill>
                  <a:srgbClr val="111111"/>
                </a:solidFill>
                <a:latin typeface="Aptos" panose="020B0004020202020204" pitchFamily="34" charset="0"/>
              </a:rPr>
              <a:t>- where keeps rows that match your condition.</a:t>
            </a:r>
          </a:p>
          <a:p>
            <a:pPr>
              <a:spcAft>
                <a:spcPts val="800"/>
              </a:spcAft>
            </a:pPr>
            <a:r>
              <a:rPr lang="en-US" sz="1900">
                <a:solidFill>
                  <a:srgbClr val="111111"/>
                </a:solidFill>
                <a:latin typeface="Aptos" panose="020B0004020202020204" pitchFamily="34" charset="0"/>
              </a:rPr>
              <a:t>- Use one where line per idea so beginners can read the query.</a:t>
            </a:r>
          </a:p>
          <a:p>
            <a:pPr>
              <a:spcAft>
                <a:spcPts val="800"/>
              </a:spcAft>
            </a:pPr>
            <a:r>
              <a:rPr lang="en-US" sz="1900">
                <a:solidFill>
                  <a:srgbClr val="111111"/>
                </a:solidFill>
                <a:latin typeface="Aptos" panose="020B0004020202020204" pitchFamily="34" charset="0"/>
              </a:rPr>
              <a:t>- Start broad, then add filters one at a time.</a:t>
            </a:r>
          </a:p>
          <a:p>
            <a:pPr>
              <a:spcAft>
                <a:spcPts val="800"/>
              </a:spcAft>
            </a:pPr>
            <a:r>
              <a:rPr lang="en-US" sz="1900">
                <a:solidFill>
                  <a:srgbClr val="111111"/>
                </a:solidFill>
                <a:latin typeface="Aptos" panose="020B0004020202020204" pitchFamily="34" charset="0"/>
              </a:rPr>
              <a:t>- Common filters: time, device, filename, command-line keyword.</a:t>
            </a:r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07061A04-FB5B-A6F1-895E-D4D8BC0BDA44}"/>
              </a:ext>
            </a:extLst>
          </p:cNvPr>
          <p:cNvSpPr/>
          <p:nvPr/>
        </p:nvSpPr>
        <p:spPr>
          <a:xfrm>
            <a:off x="6172200" y="1333500"/>
            <a:ext cx="4953000" cy="2984500"/>
          </a:xfrm>
          <a:prstGeom prst="rect">
            <a:avLst/>
          </a:prstGeom>
          <a:solidFill>
            <a:srgbClr val="F4F7FB"/>
          </a:solidFill>
          <a:ln w="12700">
            <a:solidFill>
              <a:srgbClr val="D6E0EF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F271D332-99F9-4256-595E-4A88B156C461}"/>
              </a:ext>
            </a:extLst>
          </p:cNvPr>
          <p:cNvSpPr txBox="1"/>
          <p:nvPr/>
        </p:nvSpPr>
        <p:spPr>
          <a:xfrm>
            <a:off x="6324600" y="1460500"/>
            <a:ext cx="4648200" cy="1302921"/>
          </a:xfrm>
          <a:prstGeom prst="rect">
            <a:avLst/>
          </a:prstGeom>
          <a:noFill/>
        </p:spPr>
        <p:txBody>
          <a:bodyPr vert="horz" wrap="square" lIns="101600" tIns="50800" rIns="101600" bIns="50800" rtlCol="0">
            <a:spAutoFit/>
          </a:bodyPr>
          <a:lstStyle/>
          <a:p>
            <a:r>
              <a:rPr lang="en-US" sz="1300">
                <a:solidFill>
                  <a:srgbClr val="0B1F3A"/>
                </a:solidFill>
                <a:latin typeface="Cascadia Mono" panose="020B0609020000020004" pitchFamily="49" charset="0"/>
              </a:rPr>
              <a:t>DeviceProcessEvents</a:t>
            </a:r>
          </a:p>
          <a:p>
            <a:r>
              <a:rPr lang="en-US" sz="1300">
                <a:solidFill>
                  <a:srgbClr val="0B1F3A"/>
                </a:solidFill>
                <a:latin typeface="Cascadia Mono" panose="020B0609020000020004" pitchFamily="49" charset="0"/>
              </a:rPr>
              <a:t>| where Timestamp &gt; ago(7d)</a:t>
            </a:r>
          </a:p>
          <a:p>
            <a:r>
              <a:rPr lang="en-US" sz="1300">
                <a:solidFill>
                  <a:srgbClr val="0B1F3A"/>
                </a:solidFill>
                <a:latin typeface="Cascadia Mono" panose="020B0609020000020004" pitchFamily="49" charset="0"/>
              </a:rPr>
              <a:t>| where DeviceName == TargetDevice</a:t>
            </a:r>
          </a:p>
          <a:p>
            <a:r>
              <a:rPr lang="en-US" sz="1300">
                <a:solidFill>
                  <a:srgbClr val="0B1F3A"/>
                </a:solidFill>
                <a:latin typeface="Cascadia Mono" panose="020B0609020000020004" pitchFamily="49" charset="0"/>
              </a:rPr>
              <a:t>| where FileName =~ "powershell.exe"</a:t>
            </a:r>
          </a:p>
          <a:p>
            <a:r>
              <a:rPr lang="en-US" sz="1300">
                <a:solidFill>
                  <a:srgbClr val="0B1F3A"/>
                </a:solidFill>
                <a:latin typeface="Cascadia Mono" panose="020B0609020000020004" pitchFamily="49" charset="0"/>
              </a:rPr>
              <a:t>| project Timestamp, DeviceName, FileName, ProcessCommandLine</a:t>
            </a:r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D550FE94-A35F-D7D4-4988-7BE51157AA17}"/>
              </a:ext>
            </a:extLst>
          </p:cNvPr>
          <p:cNvSpPr/>
          <p:nvPr/>
        </p:nvSpPr>
        <p:spPr>
          <a:xfrm>
            <a:off x="6172200" y="4610100"/>
            <a:ext cx="4953000" cy="914400"/>
          </a:xfrm>
          <a:prstGeom prst="rect">
            <a:avLst/>
          </a:prstGeom>
          <a:solidFill>
            <a:srgbClr val="EAF3FF"/>
          </a:solidFill>
          <a:ln w="12700">
            <a:solidFill>
              <a:srgbClr val="7FA9DA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F628ACFE-30C8-6D88-23C8-754EF29C2DC7}"/>
              </a:ext>
            </a:extLst>
          </p:cNvPr>
          <p:cNvSpPr txBox="1"/>
          <p:nvPr/>
        </p:nvSpPr>
        <p:spPr>
          <a:xfrm>
            <a:off x="6299200" y="4711700"/>
            <a:ext cx="4699000" cy="841256"/>
          </a:xfrm>
          <a:prstGeom prst="rect">
            <a:avLst/>
          </a:prstGeom>
          <a:noFill/>
        </p:spPr>
        <p:txBody>
          <a:bodyPr vert="horz" wrap="square" lIns="101600" tIns="50800" rIns="101600" bIns="50800" rtlCol="0">
            <a:spAutoFit/>
          </a:bodyPr>
          <a:lstStyle/>
          <a:p>
            <a:r>
              <a:rPr lang="en-US" sz="1600" b="1">
                <a:solidFill>
                  <a:srgbClr val="15375F"/>
                </a:solidFill>
                <a:latin typeface="Aptos" panose="020B0004020202020204" pitchFamily="34" charset="0"/>
              </a:rPr>
              <a:t>Ask students: which line scoped time, which line scoped device, and which line searched process name?</a:t>
            </a:r>
          </a:p>
        </p:txBody>
      </p:sp>
    </p:spTree>
    <p:extLst>
      <p:ext uri="{BB962C8B-B14F-4D97-AF65-F5344CB8AC3E}">
        <p14:creationId xmlns:p14="http://schemas.microsoft.com/office/powerpoint/2010/main" val="2476374733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>
            <a:extLst>
              <a:ext uri="{FF2B5EF4-FFF2-40B4-BE49-F238E27FC236}">
                <a16:creationId xmlns:a16="http://schemas.microsoft.com/office/drawing/2014/main" id="{6B2618A3-3ECD-2320-41A9-D8585B7E5DD8}"/>
              </a:ext>
            </a:extLst>
          </p:cNvPr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F6253681-1CCB-9D12-C2A5-4C989307B42A}"/>
              </a:ext>
            </a:extLst>
          </p:cNvPr>
          <p:cNvSpPr/>
          <p:nvPr/>
        </p:nvSpPr>
        <p:spPr>
          <a:xfrm>
            <a:off x="0" y="0"/>
            <a:ext cx="12192000" cy="939800"/>
          </a:xfrm>
          <a:prstGeom prst="rect">
            <a:avLst/>
          </a:prstGeom>
          <a:solidFill>
            <a:srgbClr val="243F68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E69BEBFF-BDAC-E398-9670-F9131F7B2CF9}"/>
              </a:ext>
            </a:extLst>
          </p:cNvPr>
          <p:cNvSpPr txBox="1"/>
          <p:nvPr/>
        </p:nvSpPr>
        <p:spPr>
          <a:xfrm>
            <a:off x="406400" y="127000"/>
            <a:ext cx="11176000" cy="241092"/>
          </a:xfrm>
          <a:prstGeom prst="rect">
            <a:avLst/>
          </a:prstGeom>
          <a:noFill/>
        </p:spPr>
        <p:txBody>
          <a:bodyPr vert="horz" wrap="square" lIns="101600" tIns="50800" rIns="101600" bIns="50800" rtlCol="0">
            <a:spAutoFit/>
          </a:bodyPr>
          <a:lstStyle/>
          <a:p>
            <a:r>
              <a:rPr lang="en-US" sz="900" b="1">
                <a:solidFill>
                  <a:srgbClr val="BFD7FF"/>
                </a:solidFill>
                <a:latin typeface="Aptos" panose="020B0004020202020204" pitchFamily="34" charset="0"/>
              </a:rPr>
              <a:t>OPERATOR CHEAT SHEET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5F105128-A9BB-8397-EAC8-04F57C671D3C}"/>
              </a:ext>
            </a:extLst>
          </p:cNvPr>
          <p:cNvSpPr txBox="1"/>
          <p:nvPr/>
        </p:nvSpPr>
        <p:spPr>
          <a:xfrm>
            <a:off x="406400" y="342900"/>
            <a:ext cx="11176000" cy="487313"/>
          </a:xfrm>
          <a:prstGeom prst="rect">
            <a:avLst/>
          </a:prstGeom>
          <a:noFill/>
        </p:spPr>
        <p:txBody>
          <a:bodyPr vert="horz" wrap="square" lIns="101600" tIns="50800" rIns="101600" bIns="50800" rtlCol="0">
            <a:spAutoFit/>
          </a:bodyPr>
          <a:lstStyle/>
          <a:p>
            <a:r>
              <a:rPr lang="en-US" sz="2500" b="1">
                <a:solidFill>
                  <a:srgbClr val="FFFFFF"/>
                </a:solidFill>
                <a:latin typeface="Aptos" panose="020B0004020202020204" pitchFamily="34" charset="0"/>
              </a:rPr>
              <a:t>Where Patterns Students Will Use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3355B897-1620-1863-5DD7-2F55308F653B}"/>
              </a:ext>
            </a:extLst>
          </p:cNvPr>
          <p:cNvSpPr txBox="1"/>
          <p:nvPr/>
        </p:nvSpPr>
        <p:spPr>
          <a:xfrm>
            <a:off x="660400" y="1295400"/>
            <a:ext cx="5207000" cy="2277547"/>
          </a:xfrm>
          <a:prstGeom prst="rect">
            <a:avLst/>
          </a:prstGeom>
          <a:noFill/>
        </p:spPr>
        <p:txBody>
          <a:bodyPr vert="horz" wrap="square" lIns="101600" tIns="50800" rIns="101600" bIns="50800" rtlCol="0">
            <a:spAutoFit/>
          </a:bodyPr>
          <a:lstStyle/>
          <a:p>
            <a:pPr>
              <a:spcAft>
                <a:spcPts val="800"/>
              </a:spcAft>
            </a:pPr>
            <a:r>
              <a:rPr lang="en-US">
                <a:solidFill>
                  <a:srgbClr val="111111"/>
                </a:solidFill>
                <a:latin typeface="Aptos" panose="020B0004020202020204" pitchFamily="34" charset="0"/>
              </a:rPr>
              <a:t>- == exact match: DeviceName == TargetDevice</a:t>
            </a:r>
          </a:p>
          <a:p>
            <a:pPr>
              <a:spcAft>
                <a:spcPts val="800"/>
              </a:spcAft>
            </a:pPr>
            <a:r>
              <a:rPr lang="en-US">
                <a:solidFill>
                  <a:srgbClr val="111111"/>
                </a:solidFill>
                <a:latin typeface="Aptos" panose="020B0004020202020204" pitchFamily="34" charset="0"/>
              </a:rPr>
              <a:t>- =~ case-insensitive exact filename match</a:t>
            </a:r>
          </a:p>
          <a:p>
            <a:pPr>
              <a:spcAft>
                <a:spcPts val="800"/>
              </a:spcAft>
            </a:pPr>
            <a:r>
              <a:rPr lang="en-US">
                <a:solidFill>
                  <a:srgbClr val="111111"/>
                </a:solidFill>
                <a:latin typeface="Aptos" panose="020B0004020202020204" pitchFamily="34" charset="0"/>
              </a:rPr>
              <a:t>- has: one word-based clue</a:t>
            </a:r>
          </a:p>
          <a:p>
            <a:pPr>
              <a:spcAft>
                <a:spcPts val="800"/>
              </a:spcAft>
            </a:pPr>
            <a:r>
              <a:rPr lang="en-US">
                <a:solidFill>
                  <a:srgbClr val="111111"/>
                </a:solidFill>
                <a:latin typeface="Aptos" panose="020B0004020202020204" pitchFamily="34" charset="0"/>
              </a:rPr>
              <a:t>- has_any: any clue in a list can match</a:t>
            </a:r>
          </a:p>
          <a:p>
            <a:pPr>
              <a:spcAft>
                <a:spcPts val="800"/>
              </a:spcAft>
            </a:pPr>
            <a:r>
              <a:rPr lang="en-US">
                <a:solidFill>
                  <a:srgbClr val="111111"/>
                </a:solidFill>
                <a:latin typeface="Aptos" panose="020B0004020202020204" pitchFamily="34" charset="0"/>
              </a:rPr>
              <a:t>- has_all: every clue in a list must match</a:t>
            </a:r>
          </a:p>
          <a:p>
            <a:pPr>
              <a:spcAft>
                <a:spcPts val="800"/>
              </a:spcAft>
            </a:pPr>
            <a:r>
              <a:rPr lang="en-US">
                <a:solidFill>
                  <a:srgbClr val="111111"/>
                </a:solidFill>
                <a:latin typeface="Aptos" panose="020B0004020202020204" pitchFamily="34" charset="0"/>
              </a:rPr>
              <a:t>- endswith: file extensions like .dmp</a:t>
            </a:r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167CA158-4238-AC6D-1AF9-D4D2E3F685DF}"/>
              </a:ext>
            </a:extLst>
          </p:cNvPr>
          <p:cNvSpPr/>
          <p:nvPr/>
        </p:nvSpPr>
        <p:spPr>
          <a:xfrm>
            <a:off x="6350000" y="1346200"/>
            <a:ext cx="4572000" cy="3111500"/>
          </a:xfrm>
          <a:prstGeom prst="rect">
            <a:avLst/>
          </a:prstGeom>
          <a:solidFill>
            <a:srgbClr val="F4F7FB"/>
          </a:solidFill>
          <a:ln w="12700">
            <a:solidFill>
              <a:srgbClr val="D6E0EF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210AB11F-2250-ED9A-988B-4A911B166D08}"/>
              </a:ext>
            </a:extLst>
          </p:cNvPr>
          <p:cNvSpPr txBox="1"/>
          <p:nvPr/>
        </p:nvSpPr>
        <p:spPr>
          <a:xfrm>
            <a:off x="6502400" y="1473200"/>
            <a:ext cx="4267200" cy="1502976"/>
          </a:xfrm>
          <a:prstGeom prst="rect">
            <a:avLst/>
          </a:prstGeom>
          <a:noFill/>
        </p:spPr>
        <p:txBody>
          <a:bodyPr vert="horz" wrap="square" lIns="101600" tIns="50800" rIns="101600" bIns="50800" rtlCol="0">
            <a:spAutoFit/>
          </a:bodyPr>
          <a:lstStyle/>
          <a:p>
            <a:r>
              <a:rPr lang="en-US" sz="1300">
                <a:solidFill>
                  <a:srgbClr val="0B1F3A"/>
                </a:solidFill>
                <a:latin typeface="Cascadia Mono" panose="020B0609020000020004" pitchFamily="49" charset="0"/>
              </a:rPr>
              <a:t>| where FileName =~ "Rubeus.exe"</a:t>
            </a:r>
          </a:p>
          <a:p>
            <a:r>
              <a:rPr lang="en-US" sz="1300">
                <a:solidFill>
                  <a:srgbClr val="0B1F3A"/>
                </a:solidFill>
                <a:latin typeface="Cascadia Mono" panose="020B0609020000020004" pitchFamily="49" charset="0"/>
              </a:rPr>
              <a:t>| where ProcessCommandLine has "reg save"</a:t>
            </a:r>
          </a:p>
          <a:p>
            <a:r>
              <a:rPr lang="en-US" sz="1300">
                <a:solidFill>
                  <a:srgbClr val="0B1F3A"/>
                </a:solidFill>
                <a:latin typeface="Cascadia Mono" panose="020B0609020000020004" pitchFamily="49" charset="0"/>
              </a:rPr>
              <a:t>| where FileName has_any ("mimikatz", "rubeus")</a:t>
            </a:r>
          </a:p>
          <a:p>
            <a:r>
              <a:rPr lang="en-US" sz="1300">
                <a:solidFill>
                  <a:srgbClr val="0B1F3A"/>
                </a:solidFill>
                <a:latin typeface="Cascadia Mono" panose="020B0609020000020004" pitchFamily="49" charset="0"/>
              </a:rPr>
              <a:t>| where ProcessCommandLine has_all ("reg save", "hklm\\sam")</a:t>
            </a:r>
          </a:p>
          <a:p>
            <a:r>
              <a:rPr lang="en-US" sz="1300">
                <a:solidFill>
                  <a:srgbClr val="0B1F3A"/>
                </a:solidFill>
                <a:latin typeface="Cascadia Mono" panose="020B0609020000020004" pitchFamily="49" charset="0"/>
              </a:rPr>
              <a:t>| where FileName endswith ".dmp"</a:t>
            </a:r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CFFF1A88-4615-689B-E336-93184870CF6E}"/>
              </a:ext>
            </a:extLst>
          </p:cNvPr>
          <p:cNvSpPr/>
          <p:nvPr/>
        </p:nvSpPr>
        <p:spPr>
          <a:xfrm>
            <a:off x="6350000" y="4762500"/>
            <a:ext cx="4572000" cy="762000"/>
          </a:xfrm>
          <a:prstGeom prst="rect">
            <a:avLst/>
          </a:prstGeom>
          <a:solidFill>
            <a:srgbClr val="FFF6E5"/>
          </a:solidFill>
          <a:ln w="12700">
            <a:solidFill>
              <a:srgbClr val="7FA9DA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2D55A6BE-BEB4-C3C8-7735-A2D4FEAC06D6}"/>
              </a:ext>
            </a:extLst>
          </p:cNvPr>
          <p:cNvSpPr txBox="1"/>
          <p:nvPr/>
        </p:nvSpPr>
        <p:spPr>
          <a:xfrm>
            <a:off x="6477000" y="4864100"/>
            <a:ext cx="4318000" cy="595035"/>
          </a:xfrm>
          <a:prstGeom prst="rect">
            <a:avLst/>
          </a:prstGeom>
          <a:noFill/>
        </p:spPr>
        <p:txBody>
          <a:bodyPr vert="horz" wrap="square" lIns="101600" tIns="50800" rIns="101600" bIns="50800" rtlCol="0">
            <a:spAutoFit/>
          </a:bodyPr>
          <a:lstStyle/>
          <a:p>
            <a:r>
              <a:rPr lang="en-US" sz="1600" b="1">
                <a:solidFill>
                  <a:srgbClr val="15375F"/>
                </a:solidFill>
                <a:latin typeface="Aptos" panose="020B0004020202020204" pitchFamily="34" charset="0"/>
              </a:rPr>
              <a:t>Coach line: choose the operator based on how specific your clue is.</a:t>
            </a:r>
          </a:p>
        </p:txBody>
      </p:sp>
    </p:spTree>
    <p:extLst>
      <p:ext uri="{BB962C8B-B14F-4D97-AF65-F5344CB8AC3E}">
        <p14:creationId xmlns:p14="http://schemas.microsoft.com/office/powerpoint/2010/main" val="937903666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>
            <a:extLst>
              <a:ext uri="{FF2B5EF4-FFF2-40B4-BE49-F238E27FC236}">
                <a16:creationId xmlns:a16="http://schemas.microsoft.com/office/drawing/2014/main" id="{DE22EB75-735E-74C1-B100-D3FA50C89754}"/>
              </a:ext>
            </a:extLst>
          </p:cNvPr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BD3EB8BD-9D17-48FC-9A46-4FD093FD3595}"/>
              </a:ext>
            </a:extLst>
          </p:cNvPr>
          <p:cNvSpPr/>
          <p:nvPr/>
        </p:nvSpPr>
        <p:spPr>
          <a:xfrm>
            <a:off x="0" y="0"/>
            <a:ext cx="12192000" cy="939800"/>
          </a:xfrm>
          <a:prstGeom prst="rect">
            <a:avLst/>
          </a:prstGeom>
          <a:solidFill>
            <a:srgbClr val="243F68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C88E1B2A-5AD2-BD13-64BA-219161B5BFAF}"/>
              </a:ext>
            </a:extLst>
          </p:cNvPr>
          <p:cNvSpPr txBox="1"/>
          <p:nvPr/>
        </p:nvSpPr>
        <p:spPr>
          <a:xfrm>
            <a:off x="406400" y="127000"/>
            <a:ext cx="11176000" cy="241092"/>
          </a:xfrm>
          <a:prstGeom prst="rect">
            <a:avLst/>
          </a:prstGeom>
          <a:noFill/>
        </p:spPr>
        <p:txBody>
          <a:bodyPr vert="horz" wrap="square" lIns="101600" tIns="50800" rIns="101600" bIns="50800" rtlCol="0">
            <a:spAutoFit/>
          </a:bodyPr>
          <a:lstStyle/>
          <a:p>
            <a:r>
              <a:rPr lang="en-US" sz="900" b="1">
                <a:solidFill>
                  <a:srgbClr val="BFD7FF"/>
                </a:solidFill>
                <a:latin typeface="Aptos" panose="020B0004020202020204" pitchFamily="34" charset="0"/>
              </a:rPr>
              <a:t>MAKE RESULTS READABLE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2C5128D5-E1DC-17D6-1213-7A466E1AFED5}"/>
              </a:ext>
            </a:extLst>
          </p:cNvPr>
          <p:cNvSpPr txBox="1"/>
          <p:nvPr/>
        </p:nvSpPr>
        <p:spPr>
          <a:xfrm>
            <a:off x="406400" y="342900"/>
            <a:ext cx="11176000" cy="487313"/>
          </a:xfrm>
          <a:prstGeom prst="rect">
            <a:avLst/>
          </a:prstGeom>
          <a:noFill/>
        </p:spPr>
        <p:txBody>
          <a:bodyPr vert="horz" wrap="square" lIns="101600" tIns="50800" rIns="101600" bIns="50800" rtlCol="0">
            <a:spAutoFit/>
          </a:bodyPr>
          <a:lstStyle/>
          <a:p>
            <a:r>
              <a:rPr lang="en-US" sz="2500" b="1">
                <a:solidFill>
                  <a:srgbClr val="FFFFFF"/>
                </a:solidFill>
                <a:latin typeface="Aptos" panose="020B0004020202020204" pitchFamily="34" charset="0"/>
              </a:rPr>
              <a:t>Presenting Evidence With project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18B3496B-A16B-4C41-5DB4-66564D7F9BB3}"/>
              </a:ext>
            </a:extLst>
          </p:cNvPr>
          <p:cNvSpPr txBox="1"/>
          <p:nvPr/>
        </p:nvSpPr>
        <p:spPr>
          <a:xfrm>
            <a:off x="685800" y="1320800"/>
            <a:ext cx="5016500" cy="3041858"/>
          </a:xfrm>
          <a:prstGeom prst="rect">
            <a:avLst/>
          </a:prstGeom>
          <a:noFill/>
        </p:spPr>
        <p:txBody>
          <a:bodyPr vert="horz" wrap="square" lIns="101600" tIns="50800" rIns="101600" bIns="50800" rtlCol="0">
            <a:spAutoFit/>
          </a:bodyPr>
          <a:lstStyle/>
          <a:p>
            <a:pPr>
              <a:spcAft>
                <a:spcPts val="800"/>
              </a:spcAft>
            </a:pPr>
            <a:r>
              <a:rPr lang="en-US" sz="1900">
                <a:solidFill>
                  <a:srgbClr val="111111"/>
                </a:solidFill>
                <a:latin typeface="Aptos" panose="020B0004020202020204" pitchFamily="34" charset="0"/>
              </a:rPr>
              <a:t>- project keeps only the columns that answer the question.</a:t>
            </a:r>
          </a:p>
          <a:p>
            <a:pPr>
              <a:spcAft>
                <a:spcPts val="800"/>
              </a:spcAft>
            </a:pPr>
            <a:r>
              <a:rPr lang="en-US" sz="1900">
                <a:solidFill>
                  <a:srgbClr val="111111"/>
                </a:solidFill>
                <a:latin typeface="Aptos" panose="020B0004020202020204" pitchFamily="34" charset="0"/>
              </a:rPr>
              <a:t>- Good evidence columns: Timestamp, DeviceName, FileName, command line, SHA256.</a:t>
            </a:r>
          </a:p>
          <a:p>
            <a:pPr>
              <a:spcAft>
                <a:spcPts val="800"/>
              </a:spcAft>
            </a:pPr>
            <a:r>
              <a:rPr lang="en-US" sz="1900">
                <a:solidFill>
                  <a:srgbClr val="111111"/>
                </a:solidFill>
                <a:latin typeface="Aptos" panose="020B0004020202020204" pitchFamily="34" charset="0"/>
              </a:rPr>
              <a:t>- For file events, keep ActionType and FolderPath.</a:t>
            </a:r>
          </a:p>
          <a:p>
            <a:pPr>
              <a:spcAft>
                <a:spcPts val="800"/>
              </a:spcAft>
            </a:pPr>
            <a:r>
              <a:rPr lang="en-US" sz="1900">
                <a:solidFill>
                  <a:srgbClr val="111111"/>
                </a:solidFill>
                <a:latin typeface="Aptos" panose="020B0004020202020204" pitchFamily="34" charset="0"/>
              </a:rPr>
              <a:t>- For alerts, keep Title, Severity, AttackTechniques.</a:t>
            </a:r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C7128BB1-BB18-AB0F-77FA-32FF32127129}"/>
              </a:ext>
            </a:extLst>
          </p:cNvPr>
          <p:cNvSpPr/>
          <p:nvPr/>
        </p:nvSpPr>
        <p:spPr>
          <a:xfrm>
            <a:off x="6223000" y="1422400"/>
            <a:ext cx="4826000" cy="2667000"/>
          </a:xfrm>
          <a:prstGeom prst="rect">
            <a:avLst/>
          </a:prstGeom>
          <a:solidFill>
            <a:srgbClr val="F4F7FB"/>
          </a:solidFill>
          <a:ln w="12700">
            <a:solidFill>
              <a:srgbClr val="D6E0EF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C1774341-7881-2A8E-56F0-B310FF0B1467}"/>
              </a:ext>
            </a:extLst>
          </p:cNvPr>
          <p:cNvSpPr txBox="1"/>
          <p:nvPr/>
        </p:nvSpPr>
        <p:spPr>
          <a:xfrm>
            <a:off x="6375400" y="1549400"/>
            <a:ext cx="4521200" cy="1302921"/>
          </a:xfrm>
          <a:prstGeom prst="rect">
            <a:avLst/>
          </a:prstGeom>
          <a:noFill/>
        </p:spPr>
        <p:txBody>
          <a:bodyPr vert="horz" wrap="square" lIns="101600" tIns="50800" rIns="101600" bIns="50800" rtlCol="0">
            <a:spAutoFit/>
          </a:bodyPr>
          <a:lstStyle/>
          <a:p>
            <a:r>
              <a:rPr lang="en-US" sz="1300">
                <a:solidFill>
                  <a:srgbClr val="0B1F3A"/>
                </a:solidFill>
                <a:latin typeface="Cascadia Mono" panose="020B0609020000020004" pitchFamily="49" charset="0"/>
              </a:rPr>
              <a:t>DeviceFileEvents</a:t>
            </a:r>
          </a:p>
          <a:p>
            <a:r>
              <a:rPr lang="en-US" sz="1300">
                <a:solidFill>
                  <a:srgbClr val="0B1F3A"/>
                </a:solidFill>
                <a:latin typeface="Cascadia Mono" panose="020B0609020000020004" pitchFamily="49" charset="0"/>
              </a:rPr>
              <a:t>| where Timestamp &gt; ago(7d)</a:t>
            </a:r>
          </a:p>
          <a:p>
            <a:r>
              <a:rPr lang="en-US" sz="1300">
                <a:solidFill>
                  <a:srgbClr val="0B1F3A"/>
                </a:solidFill>
                <a:latin typeface="Cascadia Mono" panose="020B0609020000020004" pitchFamily="49" charset="0"/>
              </a:rPr>
              <a:t>| where DeviceName == TargetDevice</a:t>
            </a:r>
          </a:p>
          <a:p>
            <a:r>
              <a:rPr lang="en-US" sz="1300">
                <a:solidFill>
                  <a:srgbClr val="0B1F3A"/>
                </a:solidFill>
                <a:latin typeface="Cascadia Mono" panose="020B0609020000020004" pitchFamily="49" charset="0"/>
              </a:rPr>
              <a:t>| where FileName has "mimikatz"</a:t>
            </a:r>
          </a:p>
          <a:p>
            <a:r>
              <a:rPr lang="en-US" sz="1300">
                <a:solidFill>
                  <a:srgbClr val="0B1F3A"/>
                </a:solidFill>
                <a:latin typeface="Cascadia Mono" panose="020B0609020000020004" pitchFamily="49" charset="0"/>
              </a:rPr>
              <a:t>| project Timestamp, DeviceName, ActionType, FileName, FolderPath, SHA256</a:t>
            </a:r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B2204112-A32D-3E50-C035-99DB21ABDF67}"/>
              </a:ext>
            </a:extLst>
          </p:cNvPr>
          <p:cNvSpPr/>
          <p:nvPr/>
        </p:nvSpPr>
        <p:spPr>
          <a:xfrm>
            <a:off x="6223000" y="4445000"/>
            <a:ext cx="4826000" cy="812800"/>
          </a:xfrm>
          <a:prstGeom prst="rect">
            <a:avLst/>
          </a:prstGeom>
          <a:solidFill>
            <a:srgbClr val="EEF7ED"/>
          </a:solidFill>
          <a:ln w="12700">
            <a:solidFill>
              <a:srgbClr val="7FA9DA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8FB2ED38-23BF-9F6A-F447-E7F5A1863695}"/>
              </a:ext>
            </a:extLst>
          </p:cNvPr>
          <p:cNvSpPr txBox="1"/>
          <p:nvPr/>
        </p:nvSpPr>
        <p:spPr>
          <a:xfrm>
            <a:off x="6350000" y="4546600"/>
            <a:ext cx="4572000" cy="595035"/>
          </a:xfrm>
          <a:prstGeom prst="rect">
            <a:avLst/>
          </a:prstGeom>
          <a:noFill/>
        </p:spPr>
        <p:txBody>
          <a:bodyPr vert="horz" wrap="square" lIns="101600" tIns="50800" rIns="101600" bIns="50800" rtlCol="0">
            <a:spAutoFit/>
          </a:bodyPr>
          <a:lstStyle/>
          <a:p>
            <a:r>
              <a:rPr lang="en-US" sz="1600" b="1">
                <a:solidFill>
                  <a:srgbClr val="15375F"/>
                </a:solidFill>
                <a:latin typeface="Aptos" panose="020B0004020202020204" pitchFamily="34" charset="0"/>
              </a:rPr>
              <a:t>Mini-exercise: remove SHA256, run it, then add it back. Which result is better for reporting?</a:t>
            </a:r>
          </a:p>
        </p:txBody>
      </p:sp>
    </p:spTree>
    <p:extLst>
      <p:ext uri="{BB962C8B-B14F-4D97-AF65-F5344CB8AC3E}">
        <p14:creationId xmlns:p14="http://schemas.microsoft.com/office/powerpoint/2010/main" val="3768275741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>
            <a:extLst>
              <a:ext uri="{FF2B5EF4-FFF2-40B4-BE49-F238E27FC236}">
                <a16:creationId xmlns:a16="http://schemas.microsoft.com/office/drawing/2014/main" id="{BDDEA6F7-5F9C-699E-4AF0-5118AF33C7D5}"/>
              </a:ext>
            </a:extLst>
          </p:cNvPr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96F14197-935D-84D1-EE04-0FEA41C099FB}"/>
              </a:ext>
            </a:extLst>
          </p:cNvPr>
          <p:cNvSpPr/>
          <p:nvPr/>
        </p:nvSpPr>
        <p:spPr>
          <a:xfrm>
            <a:off x="0" y="0"/>
            <a:ext cx="12192000" cy="939800"/>
          </a:xfrm>
          <a:prstGeom prst="rect">
            <a:avLst/>
          </a:prstGeom>
          <a:solidFill>
            <a:srgbClr val="243F68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136D3521-3477-41CD-A6F1-A11B6A9840F4}"/>
              </a:ext>
            </a:extLst>
          </p:cNvPr>
          <p:cNvSpPr txBox="1"/>
          <p:nvPr/>
        </p:nvSpPr>
        <p:spPr>
          <a:xfrm>
            <a:off x="406400" y="127000"/>
            <a:ext cx="11176000" cy="241092"/>
          </a:xfrm>
          <a:prstGeom prst="rect">
            <a:avLst/>
          </a:prstGeom>
          <a:noFill/>
        </p:spPr>
        <p:txBody>
          <a:bodyPr vert="horz" wrap="square" lIns="101600" tIns="50800" rIns="101600" bIns="50800" rtlCol="0">
            <a:spAutoFit/>
          </a:bodyPr>
          <a:lstStyle/>
          <a:p>
            <a:r>
              <a:rPr lang="en-US" sz="900" b="1">
                <a:solidFill>
                  <a:srgbClr val="BFD7FF"/>
                </a:solidFill>
                <a:latin typeface="Aptos" panose="020B0004020202020204" pitchFamily="34" charset="0"/>
              </a:rPr>
              <a:t>ANSWER HOW MANY AND WHICH ONES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561E2D6C-F795-0DE0-EDA4-3A55238053DD}"/>
              </a:ext>
            </a:extLst>
          </p:cNvPr>
          <p:cNvSpPr txBox="1"/>
          <p:nvPr/>
        </p:nvSpPr>
        <p:spPr>
          <a:xfrm>
            <a:off x="406400" y="342900"/>
            <a:ext cx="11176000" cy="487313"/>
          </a:xfrm>
          <a:prstGeom prst="rect">
            <a:avLst/>
          </a:prstGeom>
          <a:noFill/>
        </p:spPr>
        <p:txBody>
          <a:bodyPr vert="horz" wrap="square" lIns="101600" tIns="50800" rIns="101600" bIns="50800" rtlCol="0">
            <a:spAutoFit/>
          </a:bodyPr>
          <a:lstStyle/>
          <a:p>
            <a:r>
              <a:rPr lang="en-US" sz="2500" b="1">
                <a:solidFill>
                  <a:srgbClr val="FFFFFF"/>
                </a:solidFill>
                <a:latin typeface="Aptos" panose="020B0004020202020204" pitchFamily="34" charset="0"/>
              </a:rPr>
              <a:t>Counting With summarize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B3DA9A9A-B6D0-5F50-3CB5-525AE4C21A12}"/>
              </a:ext>
            </a:extLst>
          </p:cNvPr>
          <p:cNvSpPr txBox="1"/>
          <p:nvPr/>
        </p:nvSpPr>
        <p:spPr>
          <a:xfrm>
            <a:off x="685800" y="1320800"/>
            <a:ext cx="4953000" cy="1974900"/>
          </a:xfrm>
          <a:prstGeom prst="rect">
            <a:avLst/>
          </a:prstGeom>
          <a:noFill/>
        </p:spPr>
        <p:txBody>
          <a:bodyPr vert="horz" wrap="square" lIns="101600" tIns="50800" rIns="101600" bIns="50800" rtlCol="0">
            <a:spAutoFit/>
          </a:bodyPr>
          <a:lstStyle/>
          <a:p>
            <a:pPr>
              <a:spcAft>
                <a:spcPts val="800"/>
              </a:spcAft>
            </a:pPr>
            <a:r>
              <a:rPr lang="en-US" sz="1900">
                <a:solidFill>
                  <a:srgbClr val="111111"/>
                </a:solidFill>
                <a:latin typeface="Aptos" panose="020B0004020202020204" pitchFamily="34" charset="0"/>
              </a:rPr>
              <a:t>- summarize turns many rows into an answer.</a:t>
            </a:r>
          </a:p>
          <a:p>
            <a:pPr>
              <a:spcAft>
                <a:spcPts val="800"/>
              </a:spcAft>
            </a:pPr>
            <a:r>
              <a:rPr lang="en-US" sz="1900">
                <a:solidFill>
                  <a:srgbClr val="111111"/>
                </a:solidFill>
                <a:latin typeface="Aptos" panose="020B0004020202020204" pitchFamily="34" charset="0"/>
              </a:rPr>
              <a:t>- count() answers how many rows matched.</a:t>
            </a:r>
          </a:p>
          <a:p>
            <a:pPr>
              <a:spcAft>
                <a:spcPts val="800"/>
              </a:spcAft>
            </a:pPr>
            <a:r>
              <a:rPr lang="en-US" sz="1900">
                <a:solidFill>
                  <a:srgbClr val="111111"/>
                </a:solidFill>
                <a:latin typeface="Aptos" panose="020B0004020202020204" pitchFamily="34" charset="0"/>
              </a:rPr>
              <a:t>- by chooses the grouping column.</a:t>
            </a:r>
          </a:p>
          <a:p>
            <a:pPr>
              <a:spcAft>
                <a:spcPts val="800"/>
              </a:spcAft>
            </a:pPr>
            <a:r>
              <a:rPr lang="en-US" sz="1900">
                <a:solidFill>
                  <a:srgbClr val="111111"/>
                </a:solidFill>
                <a:latin typeface="Aptos" panose="020B0004020202020204" pitchFamily="34" charset="0"/>
              </a:rPr>
              <a:t>- min() and max() find first and last seen.</a:t>
            </a:r>
          </a:p>
          <a:p>
            <a:pPr>
              <a:spcAft>
                <a:spcPts val="800"/>
              </a:spcAft>
            </a:pPr>
            <a:r>
              <a:rPr lang="en-US" sz="1900">
                <a:solidFill>
                  <a:srgbClr val="111111"/>
                </a:solidFill>
                <a:latin typeface="Aptos" panose="020B0004020202020204" pitchFamily="34" charset="0"/>
              </a:rPr>
              <a:t>- make_set() collects distinct values.</a:t>
            </a:r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3D11D6A6-7C66-A510-7A54-3460336E6D34}"/>
              </a:ext>
            </a:extLst>
          </p:cNvPr>
          <p:cNvSpPr/>
          <p:nvPr/>
        </p:nvSpPr>
        <p:spPr>
          <a:xfrm>
            <a:off x="6223000" y="1320800"/>
            <a:ext cx="4826000" cy="3238500"/>
          </a:xfrm>
          <a:prstGeom prst="rect">
            <a:avLst/>
          </a:prstGeom>
          <a:solidFill>
            <a:srgbClr val="F4F7FB"/>
          </a:solidFill>
          <a:ln w="12700">
            <a:solidFill>
              <a:srgbClr val="D6E0EF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98492D1D-9C6E-FB48-CF37-46FBEAC1337F}"/>
              </a:ext>
            </a:extLst>
          </p:cNvPr>
          <p:cNvSpPr txBox="1"/>
          <p:nvPr/>
        </p:nvSpPr>
        <p:spPr>
          <a:xfrm>
            <a:off x="6375400" y="1447800"/>
            <a:ext cx="4521200" cy="1502976"/>
          </a:xfrm>
          <a:prstGeom prst="rect">
            <a:avLst/>
          </a:prstGeom>
          <a:noFill/>
        </p:spPr>
        <p:txBody>
          <a:bodyPr vert="horz" wrap="square" lIns="101600" tIns="50800" rIns="101600" bIns="50800" rtlCol="0">
            <a:spAutoFit/>
          </a:bodyPr>
          <a:lstStyle/>
          <a:p>
            <a:r>
              <a:rPr lang="en-US" sz="1300">
                <a:solidFill>
                  <a:srgbClr val="0B1F3A"/>
                </a:solidFill>
                <a:latin typeface="Cascadia Mono" panose="020B0609020000020004" pitchFamily="49" charset="0"/>
              </a:rPr>
              <a:t>DeviceFileEvents</a:t>
            </a:r>
          </a:p>
          <a:p>
            <a:r>
              <a:rPr lang="en-US" sz="1300">
                <a:solidFill>
                  <a:srgbClr val="0B1F3A"/>
                </a:solidFill>
                <a:latin typeface="Cascadia Mono" panose="020B0609020000020004" pitchFamily="49" charset="0"/>
              </a:rPr>
              <a:t>| where Timestamp &gt; ago(7d)</a:t>
            </a:r>
          </a:p>
          <a:p>
            <a:r>
              <a:rPr lang="en-US" sz="1300">
                <a:solidFill>
                  <a:srgbClr val="0B1F3A"/>
                </a:solidFill>
                <a:latin typeface="Cascadia Mono" panose="020B0609020000020004" pitchFamily="49" charset="0"/>
              </a:rPr>
              <a:t>| where DeviceName == TargetDevice</a:t>
            </a:r>
          </a:p>
          <a:p>
            <a:r>
              <a:rPr lang="en-US" sz="1300">
                <a:solidFill>
                  <a:srgbClr val="0B1F3A"/>
                </a:solidFill>
                <a:latin typeface="Cascadia Mono" panose="020B0609020000020004" pitchFamily="49" charset="0"/>
              </a:rPr>
              <a:t>| summarize Events=count(), FirstSeen=min(Timestamp), LastSeen=max(Timestamp) by FileName</a:t>
            </a:r>
          </a:p>
          <a:p>
            <a:r>
              <a:rPr lang="en-US" sz="1300">
                <a:solidFill>
                  <a:srgbClr val="0B1F3A"/>
                </a:solidFill>
                <a:latin typeface="Cascadia Mono" panose="020B0609020000020004" pitchFamily="49" charset="0"/>
              </a:rPr>
              <a:t>| order by Events desc</a:t>
            </a:r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432F7313-033C-F4AC-DBBF-AEB95FF92B2A}"/>
              </a:ext>
            </a:extLst>
          </p:cNvPr>
          <p:cNvSpPr/>
          <p:nvPr/>
        </p:nvSpPr>
        <p:spPr>
          <a:xfrm>
            <a:off x="6223000" y="4851400"/>
            <a:ext cx="4826000" cy="711200"/>
          </a:xfrm>
          <a:prstGeom prst="rect">
            <a:avLst/>
          </a:prstGeom>
          <a:solidFill>
            <a:srgbClr val="F4F0FF"/>
          </a:solidFill>
          <a:ln w="12700">
            <a:solidFill>
              <a:srgbClr val="7FA9DA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0EB79771-E25A-E5A4-03E2-6BC1A7569FBA}"/>
              </a:ext>
            </a:extLst>
          </p:cNvPr>
          <p:cNvSpPr txBox="1"/>
          <p:nvPr/>
        </p:nvSpPr>
        <p:spPr>
          <a:xfrm>
            <a:off x="6350000" y="4953000"/>
            <a:ext cx="4572000" cy="595035"/>
          </a:xfrm>
          <a:prstGeom prst="rect">
            <a:avLst/>
          </a:prstGeom>
          <a:noFill/>
        </p:spPr>
        <p:txBody>
          <a:bodyPr vert="horz" wrap="square" lIns="101600" tIns="50800" rIns="101600" bIns="50800" rtlCol="0">
            <a:spAutoFit/>
          </a:bodyPr>
          <a:lstStyle/>
          <a:p>
            <a:r>
              <a:rPr lang="en-US" sz="1600" b="1">
                <a:solidFill>
                  <a:srgbClr val="15375F"/>
                </a:solidFill>
                <a:latin typeface="Aptos" panose="020B0004020202020204" pitchFamily="34" charset="0"/>
              </a:rPr>
              <a:t>Use summarize when the CTF asks for counts, first/last seen, or file lifecycle.</a:t>
            </a:r>
          </a:p>
        </p:txBody>
      </p:sp>
    </p:spTree>
    <p:extLst>
      <p:ext uri="{BB962C8B-B14F-4D97-AF65-F5344CB8AC3E}">
        <p14:creationId xmlns:p14="http://schemas.microsoft.com/office/powerpoint/2010/main" val="1107090610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>
            <a:extLst>
              <a:ext uri="{FF2B5EF4-FFF2-40B4-BE49-F238E27FC236}">
                <a16:creationId xmlns:a16="http://schemas.microsoft.com/office/drawing/2014/main" id="{8120C0C5-29B6-0F23-4B48-18A8A14D8164}"/>
              </a:ext>
            </a:extLst>
          </p:cNvPr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6F2A5AB4-E4C3-9F07-8ECF-302FA9FFDF61}"/>
              </a:ext>
            </a:extLst>
          </p:cNvPr>
          <p:cNvSpPr/>
          <p:nvPr/>
        </p:nvSpPr>
        <p:spPr>
          <a:xfrm>
            <a:off x="0" y="0"/>
            <a:ext cx="12192000" cy="939800"/>
          </a:xfrm>
          <a:prstGeom prst="rect">
            <a:avLst/>
          </a:prstGeom>
          <a:solidFill>
            <a:srgbClr val="243F68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8CB44CEC-FD20-B80F-4896-7686AF91FEAD}"/>
              </a:ext>
            </a:extLst>
          </p:cNvPr>
          <p:cNvSpPr txBox="1"/>
          <p:nvPr/>
        </p:nvSpPr>
        <p:spPr>
          <a:xfrm>
            <a:off x="406400" y="127000"/>
            <a:ext cx="11176000" cy="241092"/>
          </a:xfrm>
          <a:prstGeom prst="rect">
            <a:avLst/>
          </a:prstGeom>
          <a:noFill/>
        </p:spPr>
        <p:txBody>
          <a:bodyPr vert="horz" wrap="square" lIns="101600" tIns="50800" rIns="101600" bIns="50800" rtlCol="0">
            <a:spAutoFit/>
          </a:bodyPr>
          <a:lstStyle/>
          <a:p>
            <a:r>
              <a:rPr lang="en-US" sz="900" b="1">
                <a:solidFill>
                  <a:srgbClr val="BFD7FF"/>
                </a:solidFill>
                <a:latin typeface="Aptos" panose="020B0004020202020204" pitchFamily="34" charset="0"/>
              </a:rPr>
              <a:t>ONE CLUE CREATES THE NEXT QUERY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5E2BABDF-CB86-0615-40A1-3EC650A9ADC3}"/>
              </a:ext>
            </a:extLst>
          </p:cNvPr>
          <p:cNvSpPr txBox="1"/>
          <p:nvPr/>
        </p:nvSpPr>
        <p:spPr>
          <a:xfrm>
            <a:off x="406400" y="342900"/>
            <a:ext cx="11176000" cy="487313"/>
          </a:xfrm>
          <a:prstGeom prst="rect">
            <a:avLst/>
          </a:prstGeom>
          <a:noFill/>
        </p:spPr>
        <p:txBody>
          <a:bodyPr vert="horz" wrap="square" lIns="101600" tIns="50800" rIns="101600" bIns="50800" rtlCol="0">
            <a:spAutoFit/>
          </a:bodyPr>
          <a:lstStyle/>
          <a:p>
            <a:r>
              <a:rPr lang="en-US" sz="2500" b="1">
                <a:solidFill>
                  <a:srgbClr val="FFFFFF"/>
                </a:solidFill>
                <a:latin typeface="Aptos" panose="020B0004020202020204" pitchFamily="34" charset="0"/>
              </a:rPr>
              <a:t>Pivoting Like A Hunter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EFF24B58-6359-7A16-DC51-C88458B70AD7}"/>
              </a:ext>
            </a:extLst>
          </p:cNvPr>
          <p:cNvSpPr txBox="1"/>
          <p:nvPr/>
        </p:nvSpPr>
        <p:spPr>
          <a:xfrm>
            <a:off x="685800" y="1320800"/>
            <a:ext cx="4826000" cy="2559675"/>
          </a:xfrm>
          <a:prstGeom prst="rect">
            <a:avLst/>
          </a:prstGeom>
          <a:noFill/>
        </p:spPr>
        <p:txBody>
          <a:bodyPr vert="horz" wrap="square" lIns="101600" tIns="50800" rIns="101600" bIns="50800" rtlCol="0">
            <a:spAutoFit/>
          </a:bodyPr>
          <a:lstStyle/>
          <a:p>
            <a:pPr>
              <a:spcAft>
                <a:spcPts val="800"/>
              </a:spcAft>
            </a:pPr>
            <a:r>
              <a:rPr lang="en-US" sz="1900">
                <a:solidFill>
                  <a:srgbClr val="111111"/>
                </a:solidFill>
                <a:latin typeface="Aptos" panose="020B0004020202020204" pitchFamily="34" charset="0"/>
              </a:rPr>
              <a:t>- Find a suspicious file.</a:t>
            </a:r>
          </a:p>
          <a:p>
            <a:pPr>
              <a:spcAft>
                <a:spcPts val="800"/>
              </a:spcAft>
            </a:pPr>
            <a:r>
              <a:rPr lang="en-US" sz="1900">
                <a:solidFill>
                  <a:srgbClr val="111111"/>
                </a:solidFill>
                <a:latin typeface="Aptos" panose="020B0004020202020204" pitchFamily="34" charset="0"/>
              </a:rPr>
              <a:t>- Copy the filename or hash.</a:t>
            </a:r>
          </a:p>
          <a:p>
            <a:pPr>
              <a:spcAft>
                <a:spcPts val="800"/>
              </a:spcAft>
            </a:pPr>
            <a:r>
              <a:rPr lang="en-US" sz="1900">
                <a:solidFill>
                  <a:srgbClr val="111111"/>
                </a:solidFill>
                <a:latin typeface="Aptos" panose="020B0004020202020204" pitchFamily="34" charset="0"/>
              </a:rPr>
              <a:t>- Search alerts for that clue.</a:t>
            </a:r>
          </a:p>
          <a:p>
            <a:pPr>
              <a:spcAft>
                <a:spcPts val="800"/>
              </a:spcAft>
            </a:pPr>
            <a:r>
              <a:rPr lang="en-US" sz="1900">
                <a:solidFill>
                  <a:srgbClr val="111111"/>
                </a:solidFill>
                <a:latin typeface="Aptos" panose="020B0004020202020204" pitchFamily="34" charset="0"/>
              </a:rPr>
              <a:t>- Use alert title and technique to explain why it matters.</a:t>
            </a:r>
          </a:p>
          <a:p>
            <a:pPr>
              <a:spcAft>
                <a:spcPts val="800"/>
              </a:spcAft>
            </a:pPr>
            <a:r>
              <a:rPr lang="en-US" sz="1900">
                <a:solidFill>
                  <a:srgbClr val="111111"/>
                </a:solidFill>
                <a:latin typeface="Aptos" panose="020B0004020202020204" pitchFamily="34" charset="0"/>
              </a:rPr>
              <a:t>- Return to file/process evidence to prove the timeline.</a:t>
            </a:r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775ADC0B-B010-21CA-F5B3-E03C997C6456}"/>
              </a:ext>
            </a:extLst>
          </p:cNvPr>
          <p:cNvSpPr/>
          <p:nvPr/>
        </p:nvSpPr>
        <p:spPr>
          <a:xfrm>
            <a:off x="6019800" y="1244600"/>
            <a:ext cx="5207000" cy="3619500"/>
          </a:xfrm>
          <a:prstGeom prst="rect">
            <a:avLst/>
          </a:prstGeom>
          <a:solidFill>
            <a:srgbClr val="F4F7FB"/>
          </a:solidFill>
          <a:ln w="12700">
            <a:solidFill>
              <a:srgbClr val="D6E0EF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C749332B-077E-1D59-74BE-9B390CBCFF1B}"/>
              </a:ext>
            </a:extLst>
          </p:cNvPr>
          <p:cNvSpPr txBox="1"/>
          <p:nvPr/>
        </p:nvSpPr>
        <p:spPr>
          <a:xfrm>
            <a:off x="6172200" y="1371600"/>
            <a:ext cx="4902200" cy="1949252"/>
          </a:xfrm>
          <a:prstGeom prst="rect">
            <a:avLst/>
          </a:prstGeom>
          <a:noFill/>
        </p:spPr>
        <p:txBody>
          <a:bodyPr vert="horz" wrap="square" lIns="101600" tIns="50800" rIns="101600" bIns="50800" rtlCol="0">
            <a:spAutoFit/>
          </a:bodyPr>
          <a:lstStyle/>
          <a:p>
            <a:r>
              <a:rPr lang="en-US" sz="1200">
                <a:solidFill>
                  <a:srgbClr val="0B1F3A"/>
                </a:solidFill>
                <a:latin typeface="Cascadia Mono" panose="020B0609020000020004" pitchFamily="49" charset="0"/>
              </a:rPr>
              <a:t>DeviceFileEvents</a:t>
            </a:r>
          </a:p>
          <a:p>
            <a:r>
              <a:rPr lang="en-US" sz="1200">
                <a:solidFill>
                  <a:srgbClr val="0B1F3A"/>
                </a:solidFill>
                <a:latin typeface="Cascadia Mono" panose="020B0609020000020004" pitchFamily="49" charset="0"/>
              </a:rPr>
              <a:t>| where Timestamp &gt; ago(7d)</a:t>
            </a:r>
          </a:p>
          <a:p>
            <a:r>
              <a:rPr lang="en-US" sz="1200">
                <a:solidFill>
                  <a:srgbClr val="0B1F3A"/>
                </a:solidFill>
                <a:latin typeface="Cascadia Mono" panose="020B0609020000020004" pitchFamily="49" charset="0"/>
              </a:rPr>
              <a:t>| where DeviceName == TargetDevice</a:t>
            </a:r>
          </a:p>
          <a:p>
            <a:r>
              <a:rPr lang="en-US" sz="1200">
                <a:solidFill>
                  <a:srgbClr val="0B1F3A"/>
                </a:solidFill>
                <a:latin typeface="Cascadia Mono" panose="020B0609020000020004" pitchFamily="49" charset="0"/>
              </a:rPr>
              <a:t>| where FileName has "rubeus"</a:t>
            </a:r>
          </a:p>
          <a:p>
            <a:r>
              <a:rPr lang="en-US" sz="1200">
                <a:solidFill>
                  <a:srgbClr val="0B1F3A"/>
                </a:solidFill>
                <a:latin typeface="Cascadia Mono" panose="020B0609020000020004" pitchFamily="49" charset="0"/>
              </a:rPr>
              <a:t>| project Timestamp, FileName, FolderPath, SHA256</a:t>
            </a:r>
          </a:p>
          <a:p>
            <a:endParaRPr lang="en-US" sz="1200">
              <a:solidFill>
                <a:srgbClr val="0B1F3A"/>
              </a:solidFill>
              <a:latin typeface="Cascadia Mono" panose="020B0609020000020004" pitchFamily="49" charset="0"/>
            </a:endParaRPr>
          </a:p>
          <a:p>
            <a:r>
              <a:rPr lang="en-US" sz="1200">
                <a:solidFill>
                  <a:srgbClr val="0B1F3A"/>
                </a:solidFill>
                <a:latin typeface="Cascadia Mono" panose="020B0609020000020004" pitchFamily="49" charset="0"/>
              </a:rPr>
              <a:t>AlertEvidence</a:t>
            </a:r>
          </a:p>
          <a:p>
            <a:r>
              <a:rPr lang="en-US" sz="1200">
                <a:solidFill>
                  <a:srgbClr val="0B1F3A"/>
                </a:solidFill>
                <a:latin typeface="Cascadia Mono" panose="020B0609020000020004" pitchFamily="49" charset="0"/>
              </a:rPr>
              <a:t>| where Timestamp &gt; ago(7d)</a:t>
            </a:r>
          </a:p>
          <a:p>
            <a:r>
              <a:rPr lang="en-US" sz="1200">
                <a:solidFill>
                  <a:srgbClr val="0B1F3A"/>
                </a:solidFill>
                <a:latin typeface="Cascadia Mono" panose="020B0609020000020004" pitchFamily="49" charset="0"/>
              </a:rPr>
              <a:t>| where FileName has "rubeus" or SHA256 == "&lt;hash&gt;"</a:t>
            </a:r>
          </a:p>
          <a:p>
            <a:r>
              <a:rPr lang="en-US" sz="1200">
                <a:solidFill>
                  <a:srgbClr val="0B1F3A"/>
                </a:solidFill>
                <a:latin typeface="Cascadia Mono" panose="020B0609020000020004" pitchFamily="49" charset="0"/>
              </a:rPr>
              <a:t>| project Timestamp, Title, AttackTechniques, SHA256</a:t>
            </a:r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EDF0F04C-120C-6A48-B232-9B229E2054E8}"/>
              </a:ext>
            </a:extLst>
          </p:cNvPr>
          <p:cNvSpPr/>
          <p:nvPr/>
        </p:nvSpPr>
        <p:spPr>
          <a:xfrm>
            <a:off x="6019800" y="5168900"/>
            <a:ext cx="5207000" cy="711200"/>
          </a:xfrm>
          <a:prstGeom prst="rect">
            <a:avLst/>
          </a:prstGeom>
          <a:solidFill>
            <a:srgbClr val="EAF3FF"/>
          </a:solidFill>
          <a:ln w="12700">
            <a:solidFill>
              <a:srgbClr val="7FA9DA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BE39294C-9B11-6334-9EEB-66DE4EF02DEC}"/>
              </a:ext>
            </a:extLst>
          </p:cNvPr>
          <p:cNvSpPr txBox="1"/>
          <p:nvPr/>
        </p:nvSpPr>
        <p:spPr>
          <a:xfrm>
            <a:off x="6146800" y="5270500"/>
            <a:ext cx="4953000" cy="595035"/>
          </a:xfrm>
          <a:prstGeom prst="rect">
            <a:avLst/>
          </a:prstGeom>
          <a:noFill/>
        </p:spPr>
        <p:txBody>
          <a:bodyPr vert="horz" wrap="square" lIns="101600" tIns="50800" rIns="101600" bIns="50800" rtlCol="0">
            <a:spAutoFit/>
          </a:bodyPr>
          <a:lstStyle/>
          <a:p>
            <a:r>
              <a:rPr lang="en-US" sz="1600" b="1">
                <a:solidFill>
                  <a:srgbClr val="15375F"/>
                </a:solidFill>
                <a:latin typeface="Aptos" panose="020B0004020202020204" pitchFamily="34" charset="0"/>
              </a:rPr>
              <a:t>Coach line: do not memorize every query. Learn how to pivot from a clue.</a:t>
            </a:r>
          </a:p>
        </p:txBody>
      </p:sp>
    </p:spTree>
    <p:extLst>
      <p:ext uri="{BB962C8B-B14F-4D97-AF65-F5344CB8AC3E}">
        <p14:creationId xmlns:p14="http://schemas.microsoft.com/office/powerpoint/2010/main" val="3612982135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>
            <a:extLst>
              <a:ext uri="{FF2B5EF4-FFF2-40B4-BE49-F238E27FC236}">
                <a16:creationId xmlns:a16="http://schemas.microsoft.com/office/drawing/2014/main" id="{6964C3DD-D255-D52F-2617-555016B1346F}"/>
              </a:ext>
            </a:extLst>
          </p:cNvPr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FE0AB18F-D6D2-DB32-B8BD-DF19EFBAFF64}"/>
              </a:ext>
            </a:extLst>
          </p:cNvPr>
          <p:cNvSpPr/>
          <p:nvPr/>
        </p:nvSpPr>
        <p:spPr>
          <a:xfrm>
            <a:off x="0" y="0"/>
            <a:ext cx="12192000" cy="939800"/>
          </a:xfrm>
          <a:prstGeom prst="rect">
            <a:avLst/>
          </a:prstGeom>
          <a:solidFill>
            <a:srgbClr val="243F68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98984085-5649-F985-670E-8098E0C0279E}"/>
              </a:ext>
            </a:extLst>
          </p:cNvPr>
          <p:cNvSpPr txBox="1"/>
          <p:nvPr/>
        </p:nvSpPr>
        <p:spPr>
          <a:xfrm>
            <a:off x="406400" y="127000"/>
            <a:ext cx="11176000" cy="241092"/>
          </a:xfrm>
          <a:prstGeom prst="rect">
            <a:avLst/>
          </a:prstGeom>
          <a:noFill/>
        </p:spPr>
        <p:txBody>
          <a:bodyPr vert="horz" wrap="square" lIns="101600" tIns="50800" rIns="101600" bIns="50800" rtlCol="0">
            <a:spAutoFit/>
          </a:bodyPr>
          <a:lstStyle/>
          <a:p>
            <a:r>
              <a:rPr lang="en-US" sz="900" b="1">
                <a:solidFill>
                  <a:srgbClr val="BFD7FF"/>
                </a:solidFill>
                <a:latin typeface="Aptos" panose="020B0004020202020204" pitchFamily="34" charset="0"/>
              </a:rPr>
              <a:t>WHEN ONE TABLE IS NOT ENOUGH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47CCB861-7829-FD14-2437-0F396F316C3E}"/>
              </a:ext>
            </a:extLst>
          </p:cNvPr>
          <p:cNvSpPr txBox="1"/>
          <p:nvPr/>
        </p:nvSpPr>
        <p:spPr>
          <a:xfrm>
            <a:off x="406400" y="342900"/>
            <a:ext cx="11176000" cy="487313"/>
          </a:xfrm>
          <a:prstGeom prst="rect">
            <a:avLst/>
          </a:prstGeom>
          <a:noFill/>
        </p:spPr>
        <p:txBody>
          <a:bodyPr vert="horz" wrap="square" lIns="101600" tIns="50800" rIns="101600" bIns="50800" rtlCol="0">
            <a:spAutoFit/>
          </a:bodyPr>
          <a:lstStyle/>
          <a:p>
            <a:r>
              <a:rPr lang="en-US" sz="2500" b="1">
                <a:solidFill>
                  <a:srgbClr val="FFFFFF"/>
                </a:solidFill>
                <a:latin typeface="Aptos" panose="020B0004020202020204" pitchFamily="34" charset="0"/>
              </a:rPr>
              <a:t>Combining Tables With union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1D61BCF7-28AB-3C2A-9411-CFC49B037733}"/>
              </a:ext>
            </a:extLst>
          </p:cNvPr>
          <p:cNvSpPr txBox="1"/>
          <p:nvPr/>
        </p:nvSpPr>
        <p:spPr>
          <a:xfrm>
            <a:off x="685800" y="1320800"/>
            <a:ext cx="4699000" cy="2349361"/>
          </a:xfrm>
          <a:prstGeom prst="rect">
            <a:avLst/>
          </a:prstGeom>
          <a:noFill/>
        </p:spPr>
        <p:txBody>
          <a:bodyPr vert="horz" wrap="square" lIns="101600" tIns="50800" rIns="101600" bIns="50800" rtlCol="0">
            <a:spAutoFit/>
          </a:bodyPr>
          <a:lstStyle/>
          <a:p>
            <a:pPr>
              <a:spcAft>
                <a:spcPts val="800"/>
              </a:spcAft>
            </a:pPr>
            <a:r>
              <a:rPr lang="en-US">
                <a:solidFill>
                  <a:srgbClr val="111111"/>
                </a:solidFill>
                <a:latin typeface="Aptos" panose="020B0004020202020204" pitchFamily="34" charset="0"/>
              </a:rPr>
              <a:t>- Use union when evidence is split across process, file, and alert tables.</a:t>
            </a:r>
          </a:p>
          <a:p>
            <a:pPr>
              <a:spcAft>
                <a:spcPts val="800"/>
              </a:spcAft>
            </a:pPr>
            <a:r>
              <a:rPr lang="en-US">
                <a:solidFill>
                  <a:srgbClr val="111111"/>
                </a:solidFill>
                <a:latin typeface="Aptos" panose="020B0004020202020204" pitchFamily="34" charset="0"/>
              </a:rPr>
              <a:t>- Each branch should project similar columns.</a:t>
            </a:r>
          </a:p>
          <a:p>
            <a:pPr>
              <a:spcAft>
                <a:spcPts val="800"/>
              </a:spcAft>
            </a:pPr>
            <a:r>
              <a:rPr lang="en-US">
                <a:solidFill>
                  <a:srgbClr val="111111"/>
                </a:solidFill>
                <a:latin typeface="Aptos" panose="020B0004020202020204" pitchFamily="34" charset="0"/>
              </a:rPr>
              <a:t>- Add EvidenceType so students know where the row came from.</a:t>
            </a:r>
          </a:p>
          <a:p>
            <a:pPr>
              <a:spcAft>
                <a:spcPts val="800"/>
              </a:spcAft>
            </a:pPr>
            <a:r>
              <a:rPr lang="en-US">
                <a:solidFill>
                  <a:srgbClr val="111111"/>
                </a:solidFill>
                <a:latin typeface="Aptos" panose="020B0004020202020204" pitchFamily="34" charset="0"/>
              </a:rPr>
              <a:t>- Sort by Timestamp to make a timeline.</a:t>
            </a:r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1C23FFF0-302E-00FD-64FC-1E144F9A2379}"/>
              </a:ext>
            </a:extLst>
          </p:cNvPr>
          <p:cNvSpPr/>
          <p:nvPr/>
        </p:nvSpPr>
        <p:spPr>
          <a:xfrm>
            <a:off x="5778500" y="1244600"/>
            <a:ext cx="5715000" cy="4191000"/>
          </a:xfrm>
          <a:prstGeom prst="rect">
            <a:avLst/>
          </a:prstGeom>
          <a:solidFill>
            <a:srgbClr val="F4F7FB"/>
          </a:solidFill>
          <a:ln w="12700">
            <a:solidFill>
              <a:srgbClr val="D6E0EF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73A1671C-94F0-FC82-EBB8-186606438AE4}"/>
              </a:ext>
            </a:extLst>
          </p:cNvPr>
          <p:cNvSpPr txBox="1"/>
          <p:nvPr/>
        </p:nvSpPr>
        <p:spPr>
          <a:xfrm>
            <a:off x="5930900" y="1371600"/>
            <a:ext cx="5410200" cy="2811026"/>
          </a:xfrm>
          <a:prstGeom prst="rect">
            <a:avLst/>
          </a:prstGeom>
          <a:noFill/>
        </p:spPr>
        <p:txBody>
          <a:bodyPr vert="horz" wrap="square" lIns="101600" tIns="50800" rIns="101600" bIns="50800" rtlCol="0">
            <a:spAutoFit/>
          </a:bodyPr>
          <a:lstStyle/>
          <a:p>
            <a:r>
              <a:rPr lang="en-US" sz="1100">
                <a:solidFill>
                  <a:srgbClr val="0B1F3A"/>
                </a:solidFill>
                <a:latin typeface="Cascadia Mono" panose="020B0609020000020004" pitchFamily="49" charset="0"/>
              </a:rPr>
              <a:t>union isfuzzy=true</a:t>
            </a:r>
          </a:p>
          <a:p>
            <a:r>
              <a:rPr lang="en-US" sz="1100">
                <a:solidFill>
                  <a:srgbClr val="0B1F3A"/>
                </a:solidFill>
                <a:latin typeface="Cascadia Mono" panose="020B0609020000020004" pitchFamily="49" charset="0"/>
              </a:rPr>
              <a:t>(</a:t>
            </a:r>
          </a:p>
          <a:p>
            <a:r>
              <a:rPr lang="en-US" sz="1100">
                <a:solidFill>
                  <a:srgbClr val="0B1F3A"/>
                </a:solidFill>
                <a:latin typeface="Cascadia Mono" panose="020B0609020000020004" pitchFamily="49" charset="0"/>
              </a:rPr>
              <a:t>    DeviceFileEvents</a:t>
            </a:r>
          </a:p>
          <a:p>
            <a:r>
              <a:rPr lang="en-US" sz="1100">
                <a:solidFill>
                  <a:srgbClr val="0B1F3A"/>
                </a:solidFill>
                <a:latin typeface="Cascadia Mono" panose="020B0609020000020004" pitchFamily="49" charset="0"/>
              </a:rPr>
              <a:t>    | where Timestamp &gt; ago(7d)</a:t>
            </a:r>
          </a:p>
          <a:p>
            <a:r>
              <a:rPr lang="en-US" sz="1100">
                <a:solidFill>
                  <a:srgbClr val="0B1F3A"/>
                </a:solidFill>
                <a:latin typeface="Cascadia Mono" panose="020B0609020000020004" pitchFamily="49" charset="0"/>
              </a:rPr>
              <a:t>    | where DeviceName == TargetDevice</a:t>
            </a:r>
          </a:p>
          <a:p>
            <a:r>
              <a:rPr lang="en-US" sz="1100">
                <a:solidFill>
                  <a:srgbClr val="0B1F3A"/>
                </a:solidFill>
                <a:latin typeface="Cascadia Mono" panose="020B0609020000020004" pitchFamily="49" charset="0"/>
              </a:rPr>
              <a:t>    | project Timestamp, EvidenceType="File", Detail=strcat(ActionType, " | ", FileName)</a:t>
            </a:r>
          </a:p>
          <a:p>
            <a:r>
              <a:rPr lang="en-US" sz="1100">
                <a:solidFill>
                  <a:srgbClr val="0B1F3A"/>
                </a:solidFill>
                <a:latin typeface="Cascadia Mono" panose="020B0609020000020004" pitchFamily="49" charset="0"/>
              </a:rPr>
              <a:t>),</a:t>
            </a:r>
          </a:p>
          <a:p>
            <a:r>
              <a:rPr lang="en-US" sz="1100">
                <a:solidFill>
                  <a:srgbClr val="0B1F3A"/>
                </a:solidFill>
                <a:latin typeface="Cascadia Mono" panose="020B0609020000020004" pitchFamily="49" charset="0"/>
              </a:rPr>
              <a:t>(</a:t>
            </a:r>
          </a:p>
          <a:p>
            <a:r>
              <a:rPr lang="en-US" sz="1100">
                <a:solidFill>
                  <a:srgbClr val="0B1F3A"/>
                </a:solidFill>
                <a:latin typeface="Cascadia Mono" panose="020B0609020000020004" pitchFamily="49" charset="0"/>
              </a:rPr>
              <a:t>    AlertEvidence</a:t>
            </a:r>
          </a:p>
          <a:p>
            <a:r>
              <a:rPr lang="en-US" sz="1100">
                <a:solidFill>
                  <a:srgbClr val="0B1F3A"/>
                </a:solidFill>
                <a:latin typeface="Cascadia Mono" panose="020B0609020000020004" pitchFamily="49" charset="0"/>
              </a:rPr>
              <a:t>    | where Timestamp &gt; ago(7d)</a:t>
            </a:r>
          </a:p>
          <a:p>
            <a:r>
              <a:rPr lang="en-US" sz="1100">
                <a:solidFill>
                  <a:srgbClr val="0B1F3A"/>
                </a:solidFill>
                <a:latin typeface="Cascadia Mono" panose="020B0609020000020004" pitchFamily="49" charset="0"/>
              </a:rPr>
              <a:t>    | where DeviceName == TargetDevice</a:t>
            </a:r>
          </a:p>
          <a:p>
            <a:r>
              <a:rPr lang="en-US" sz="1100">
                <a:solidFill>
                  <a:srgbClr val="0B1F3A"/>
                </a:solidFill>
                <a:latin typeface="Cascadia Mono" panose="020B0609020000020004" pitchFamily="49" charset="0"/>
              </a:rPr>
              <a:t>    | project Timestamp, EvidenceType="Alert", Detail=strcat(Title, " | ", FileName)</a:t>
            </a:r>
          </a:p>
          <a:p>
            <a:r>
              <a:rPr lang="en-US" sz="1100">
                <a:solidFill>
                  <a:srgbClr val="0B1F3A"/>
                </a:solidFill>
                <a:latin typeface="Cascadia Mono" panose="020B0609020000020004" pitchFamily="49" charset="0"/>
              </a:rPr>
              <a:t>)</a:t>
            </a:r>
          </a:p>
          <a:p>
            <a:r>
              <a:rPr lang="en-US" sz="1100">
                <a:solidFill>
                  <a:srgbClr val="0B1F3A"/>
                </a:solidFill>
                <a:latin typeface="Cascadia Mono" panose="020B0609020000020004" pitchFamily="49" charset="0"/>
              </a:rPr>
              <a:t>| order by Timestamp asc</a:t>
            </a:r>
          </a:p>
        </p:txBody>
      </p:sp>
    </p:spTree>
    <p:extLst>
      <p:ext uri="{BB962C8B-B14F-4D97-AF65-F5344CB8AC3E}">
        <p14:creationId xmlns:p14="http://schemas.microsoft.com/office/powerpoint/2010/main" val="60374386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>
            <a:extLst>
              <a:ext uri="{FF2B5EF4-FFF2-40B4-BE49-F238E27FC236}">
                <a16:creationId xmlns:a16="http://schemas.microsoft.com/office/drawing/2014/main" id="{0A75B1AF-C9B2-81B0-A11F-0DD192232709}"/>
              </a:ext>
            </a:extLst>
          </p:cNvPr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14B1B0F9-8886-EF56-3ECC-2D40CBE5D0B9}"/>
              </a:ext>
            </a:extLst>
          </p:cNvPr>
          <p:cNvSpPr/>
          <p:nvPr/>
        </p:nvSpPr>
        <p:spPr>
          <a:xfrm>
            <a:off x="0" y="0"/>
            <a:ext cx="12192000" cy="939800"/>
          </a:xfrm>
          <a:prstGeom prst="rect">
            <a:avLst/>
          </a:prstGeom>
          <a:solidFill>
            <a:srgbClr val="243F68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A3C7D5CA-6DE4-11FE-E5FC-EA9D0DE128A0}"/>
              </a:ext>
            </a:extLst>
          </p:cNvPr>
          <p:cNvSpPr txBox="1"/>
          <p:nvPr/>
        </p:nvSpPr>
        <p:spPr>
          <a:xfrm>
            <a:off x="406400" y="127000"/>
            <a:ext cx="11176000" cy="241092"/>
          </a:xfrm>
          <a:prstGeom prst="rect">
            <a:avLst/>
          </a:prstGeom>
          <a:noFill/>
        </p:spPr>
        <p:txBody>
          <a:bodyPr vert="horz" wrap="square" lIns="101600" tIns="50800" rIns="101600" bIns="50800" rtlCol="0">
            <a:spAutoFit/>
          </a:bodyPr>
          <a:lstStyle/>
          <a:p>
            <a:r>
              <a:rPr lang="en-US" sz="900" b="1">
                <a:solidFill>
                  <a:srgbClr val="BFD7FF"/>
                </a:solidFill>
                <a:latin typeface="Aptos" panose="020B0004020202020204" pitchFamily="34" charset="0"/>
              </a:rPr>
              <a:t>SCENARIO BRIEF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D48F0094-DA24-0AFF-74AD-3611C384ED15}"/>
              </a:ext>
            </a:extLst>
          </p:cNvPr>
          <p:cNvSpPr txBox="1"/>
          <p:nvPr/>
        </p:nvSpPr>
        <p:spPr>
          <a:xfrm>
            <a:off x="406400" y="342900"/>
            <a:ext cx="11176000" cy="487313"/>
          </a:xfrm>
          <a:prstGeom prst="rect">
            <a:avLst/>
          </a:prstGeom>
          <a:noFill/>
        </p:spPr>
        <p:txBody>
          <a:bodyPr vert="horz" wrap="square" lIns="101600" tIns="50800" rIns="101600" bIns="50800" rtlCol="0">
            <a:spAutoFit/>
          </a:bodyPr>
          <a:lstStyle/>
          <a:p>
            <a:r>
              <a:rPr lang="en-US" sz="2500" b="1">
                <a:solidFill>
                  <a:srgbClr val="FFFFFF"/>
                </a:solidFill>
                <a:latin typeface="Aptos" panose="020B0004020202020204" pitchFamily="34" charset="0"/>
              </a:rPr>
              <a:t>Scenario 00: Warm-Up: Rebuild the Attack Timeline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D8CCD776-A340-1B64-B1AE-1025B6F1AAC4}"/>
              </a:ext>
            </a:extLst>
          </p:cNvPr>
          <p:cNvSpPr txBox="1"/>
          <p:nvPr/>
        </p:nvSpPr>
        <p:spPr>
          <a:xfrm>
            <a:off x="685800" y="1333500"/>
            <a:ext cx="10795000" cy="1579920"/>
          </a:xfrm>
          <a:prstGeom prst="rect">
            <a:avLst/>
          </a:prstGeom>
          <a:noFill/>
        </p:spPr>
        <p:txBody>
          <a:bodyPr vert="horz" wrap="square" lIns="101600" tIns="50800" rIns="101600" bIns="50800" rtlCol="0">
            <a:spAutoFit/>
          </a:bodyPr>
          <a:lstStyle/>
          <a:p>
            <a:pPr>
              <a:spcAft>
                <a:spcPts val="800"/>
              </a:spcAft>
            </a:pPr>
            <a:r>
              <a:rPr lang="en-US" sz="1900">
                <a:solidFill>
                  <a:srgbClr val="111111"/>
                </a:solidFill>
                <a:latin typeface="Aptos" panose="020B0004020202020204" pitchFamily="34" charset="0"/>
              </a:rPr>
              <a:t>- Before chasing individual scenarios, rebuild the AttackIQ timeline on the workstation.</a:t>
            </a:r>
          </a:p>
          <a:p>
            <a:pPr>
              <a:spcAft>
                <a:spcPts val="800"/>
              </a:spcAft>
            </a:pPr>
            <a:r>
              <a:rPr lang="en-US" sz="1900">
                <a:solidFill>
                  <a:srgbClr val="111111"/>
                </a:solidFill>
                <a:latin typeface="Aptos" panose="020B0004020202020204" pitchFamily="34" charset="0"/>
              </a:rPr>
              <a:t>- KQL skill: let, union, project, order by, workstation scoping</a:t>
            </a:r>
          </a:p>
          <a:p>
            <a:pPr>
              <a:spcAft>
                <a:spcPts val="800"/>
              </a:spcAft>
            </a:pPr>
            <a:r>
              <a:rPr lang="en-US" sz="1900">
                <a:solidFill>
                  <a:srgbClr val="111111"/>
                </a:solidFill>
                <a:latin typeface="Aptos" panose="020B0004020202020204" pitchFamily="34" charset="0"/>
              </a:rPr>
              <a:t>- Student flow: read the brief, learn the query idea, build it slowly, then answer the challenge.</a:t>
            </a:r>
          </a:p>
          <a:p>
            <a:pPr>
              <a:spcAft>
                <a:spcPts val="800"/>
              </a:spcAft>
            </a:pPr>
            <a:r>
              <a:rPr lang="en-US" sz="1900">
                <a:solidFill>
                  <a:srgbClr val="111111"/>
                </a:solidFill>
                <a:latin typeface="Aptos" panose="020B0004020202020204" pitchFamily="34" charset="0"/>
              </a:rPr>
              <a:t>- Instructor reminder: do not show the full query until students have tried the build steps.</a:t>
            </a:r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CF0A317F-A2F1-1D1F-9897-F3ADFCAB10C1}"/>
              </a:ext>
            </a:extLst>
          </p:cNvPr>
          <p:cNvSpPr/>
          <p:nvPr/>
        </p:nvSpPr>
        <p:spPr>
          <a:xfrm>
            <a:off x="889000" y="5130800"/>
            <a:ext cx="10033000" cy="762000"/>
          </a:xfrm>
          <a:prstGeom prst="rect">
            <a:avLst/>
          </a:prstGeom>
          <a:solidFill>
            <a:srgbClr val="FFF6E5"/>
          </a:solidFill>
          <a:ln w="12700">
            <a:solidFill>
              <a:srgbClr val="7FA9DA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50AAF87A-1ABA-5CBA-D3F7-D72148442DD3}"/>
              </a:ext>
            </a:extLst>
          </p:cNvPr>
          <p:cNvSpPr txBox="1"/>
          <p:nvPr/>
        </p:nvSpPr>
        <p:spPr>
          <a:xfrm>
            <a:off x="1016000" y="5232400"/>
            <a:ext cx="9779000" cy="348813"/>
          </a:xfrm>
          <a:prstGeom prst="rect">
            <a:avLst/>
          </a:prstGeom>
          <a:noFill/>
        </p:spPr>
        <p:txBody>
          <a:bodyPr vert="horz" wrap="square" lIns="101600" tIns="50800" rIns="101600" bIns="50800" rtlCol="0">
            <a:spAutoFit/>
          </a:bodyPr>
          <a:lstStyle/>
          <a:p>
            <a:r>
              <a:rPr lang="en-US" sz="1600" b="1">
                <a:solidFill>
                  <a:srgbClr val="15375F"/>
                </a:solidFill>
                <a:latin typeface="Aptos" panose="020B0004020202020204" pitchFamily="34" charset="0"/>
              </a:rPr>
              <a:t>CTF challenge: What launched the attack, what account ran it, and where did the runtime unpack?</a:t>
            </a:r>
          </a:p>
        </p:txBody>
      </p:sp>
    </p:spTree>
    <p:extLst>
      <p:ext uri="{BB962C8B-B14F-4D97-AF65-F5344CB8AC3E}">
        <p14:creationId xmlns:p14="http://schemas.microsoft.com/office/powerpoint/2010/main" val="3725088523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>
            <a:extLst>
              <a:ext uri="{FF2B5EF4-FFF2-40B4-BE49-F238E27FC236}">
                <a16:creationId xmlns:a16="http://schemas.microsoft.com/office/drawing/2014/main" id="{EADFF8E8-9630-7899-D086-3987378D1C16}"/>
              </a:ext>
            </a:extLst>
          </p:cNvPr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3AE228C9-75F2-F328-1E85-C4307CC65DDD}"/>
              </a:ext>
            </a:extLst>
          </p:cNvPr>
          <p:cNvSpPr/>
          <p:nvPr/>
        </p:nvSpPr>
        <p:spPr>
          <a:xfrm>
            <a:off x="0" y="0"/>
            <a:ext cx="12192000" cy="939800"/>
          </a:xfrm>
          <a:prstGeom prst="rect">
            <a:avLst/>
          </a:prstGeom>
          <a:solidFill>
            <a:srgbClr val="243F68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1B610A67-D218-37B6-8E39-397A2D3E2027}"/>
              </a:ext>
            </a:extLst>
          </p:cNvPr>
          <p:cNvSpPr txBox="1"/>
          <p:nvPr/>
        </p:nvSpPr>
        <p:spPr>
          <a:xfrm>
            <a:off x="406400" y="127000"/>
            <a:ext cx="11176000" cy="241092"/>
          </a:xfrm>
          <a:prstGeom prst="rect">
            <a:avLst/>
          </a:prstGeom>
          <a:noFill/>
        </p:spPr>
        <p:txBody>
          <a:bodyPr vert="horz" wrap="square" lIns="101600" tIns="50800" rIns="101600" bIns="50800" rtlCol="0">
            <a:spAutoFit/>
          </a:bodyPr>
          <a:lstStyle/>
          <a:p>
            <a:r>
              <a:rPr lang="en-US" sz="900" b="1">
                <a:solidFill>
                  <a:srgbClr val="BFD7FF"/>
                </a:solidFill>
                <a:latin typeface="Aptos" panose="020B0004020202020204" pitchFamily="34" charset="0"/>
              </a:rPr>
              <a:t>WARM-UP: REBUILD THE ATTACK TIMELINE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166E341C-B12C-A034-A6E6-6527074E2ADB}"/>
              </a:ext>
            </a:extLst>
          </p:cNvPr>
          <p:cNvSpPr txBox="1"/>
          <p:nvPr/>
        </p:nvSpPr>
        <p:spPr>
          <a:xfrm>
            <a:off x="406400" y="342900"/>
            <a:ext cx="11176000" cy="487313"/>
          </a:xfrm>
          <a:prstGeom prst="rect">
            <a:avLst/>
          </a:prstGeom>
          <a:noFill/>
        </p:spPr>
        <p:txBody>
          <a:bodyPr vert="horz" wrap="square" lIns="101600" tIns="50800" rIns="101600" bIns="50800" rtlCol="0">
            <a:spAutoFit/>
          </a:bodyPr>
          <a:lstStyle/>
          <a:p>
            <a:r>
              <a:rPr lang="en-US" sz="2500" b="1">
                <a:solidFill>
                  <a:srgbClr val="FFFFFF"/>
                </a:solidFill>
                <a:latin typeface="Aptos" panose="020B0004020202020204" pitchFamily="34" charset="0"/>
              </a:rPr>
              <a:t>Scenario 00: Build It Slowly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B7EA320C-F7D6-1B1F-D016-FB71B661995E}"/>
              </a:ext>
            </a:extLst>
          </p:cNvPr>
          <p:cNvSpPr txBox="1"/>
          <p:nvPr/>
        </p:nvSpPr>
        <p:spPr>
          <a:xfrm>
            <a:off x="685800" y="1371600"/>
            <a:ext cx="5461000" cy="1795363"/>
          </a:xfrm>
          <a:prstGeom prst="rect">
            <a:avLst/>
          </a:prstGeom>
          <a:noFill/>
        </p:spPr>
        <p:txBody>
          <a:bodyPr vert="horz" wrap="square" lIns="101600" tIns="50800" rIns="101600" bIns="50800" rtlCol="0">
            <a:spAutoFit/>
          </a:bodyPr>
          <a:lstStyle/>
          <a:p>
            <a:pPr>
              <a:spcAft>
                <a:spcPts val="800"/>
              </a:spcAft>
            </a:pPr>
            <a:r>
              <a:rPr lang="en-US">
                <a:solidFill>
                  <a:srgbClr val="111111"/>
                </a:solidFill>
                <a:latin typeface="Aptos" panose="020B0004020202020204" pitchFamily="34" charset="0"/>
              </a:rPr>
              <a:t>- Scope to TargetDevice and last 7 days.</a:t>
            </a:r>
          </a:p>
          <a:p>
            <a:pPr>
              <a:spcAft>
                <a:spcPts val="800"/>
              </a:spcAft>
            </a:pPr>
            <a:r>
              <a:rPr lang="en-US">
                <a:solidFill>
                  <a:srgbClr val="111111"/>
                </a:solidFill>
                <a:latin typeface="Aptos" panose="020B0004020202020204" pitchFamily="34" charset="0"/>
              </a:rPr>
              <a:t>- Start with DeviceProcessEvents and take 20 rows.</a:t>
            </a:r>
          </a:p>
          <a:p>
            <a:pPr>
              <a:spcAft>
                <a:spcPts val="800"/>
              </a:spcAft>
            </a:pPr>
            <a:r>
              <a:rPr lang="en-US">
                <a:solidFill>
                  <a:srgbClr val="111111"/>
                </a:solidFill>
                <a:latin typeface="Aptos" panose="020B0004020202020204" pitchFamily="34" charset="0"/>
              </a:rPr>
              <a:t>- Project Timestamp, EvidenceType, and Detail.</a:t>
            </a:r>
          </a:p>
          <a:p>
            <a:pPr>
              <a:spcAft>
                <a:spcPts val="800"/>
              </a:spcAft>
            </a:pPr>
            <a:r>
              <a:rPr lang="en-US">
                <a:solidFill>
                  <a:srgbClr val="111111"/>
                </a:solidFill>
                <a:latin typeface="Aptos" panose="020B0004020202020204" pitchFamily="34" charset="0"/>
              </a:rPr>
              <a:t>- Use union to combine process, file, and alert evidence.</a:t>
            </a:r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20561C1E-339B-9282-21BD-D15FC9D3F365}"/>
              </a:ext>
            </a:extLst>
          </p:cNvPr>
          <p:cNvSpPr/>
          <p:nvPr/>
        </p:nvSpPr>
        <p:spPr>
          <a:xfrm>
            <a:off x="6604000" y="1397000"/>
            <a:ext cx="4508500" cy="3111500"/>
          </a:xfrm>
          <a:prstGeom prst="rect">
            <a:avLst/>
          </a:prstGeom>
          <a:solidFill>
            <a:srgbClr val="F4F7FB"/>
          </a:solidFill>
          <a:ln w="12700">
            <a:solidFill>
              <a:srgbClr val="D6E0EF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092010F1-ED1F-89AE-9354-E8EC327FA87E}"/>
              </a:ext>
            </a:extLst>
          </p:cNvPr>
          <p:cNvSpPr txBox="1"/>
          <p:nvPr/>
        </p:nvSpPr>
        <p:spPr>
          <a:xfrm>
            <a:off x="6756400" y="1524000"/>
            <a:ext cx="4203700" cy="4165243"/>
          </a:xfrm>
          <a:prstGeom prst="rect">
            <a:avLst/>
          </a:prstGeom>
          <a:noFill/>
        </p:spPr>
        <p:txBody>
          <a:bodyPr vert="horz" wrap="square" lIns="101600" tIns="50800" rIns="101600" bIns="50800" rtlCol="0">
            <a:spAutoFit/>
          </a:bodyPr>
          <a:lstStyle/>
          <a:p>
            <a:r>
              <a:rPr lang="en-US" sz="1100">
                <a:solidFill>
                  <a:srgbClr val="0B1F3A"/>
                </a:solidFill>
                <a:latin typeface="Cascadia Mono" panose="020B0609020000020004" pitchFamily="49" charset="0"/>
              </a:rPr>
              <a:t>let TargetDevice = "usm262346";</a:t>
            </a:r>
          </a:p>
          <a:p>
            <a:r>
              <a:rPr lang="en-US" sz="1100">
                <a:solidFill>
                  <a:srgbClr val="0B1F3A"/>
                </a:solidFill>
                <a:latin typeface="Cascadia Mono" panose="020B0609020000020004" pitchFamily="49" charset="0"/>
              </a:rPr>
              <a:t>union isfuzzy=true</a:t>
            </a:r>
          </a:p>
          <a:p>
            <a:r>
              <a:rPr lang="en-US" sz="1100">
                <a:solidFill>
                  <a:srgbClr val="0B1F3A"/>
                </a:solidFill>
                <a:latin typeface="Cascadia Mono" panose="020B0609020000020004" pitchFamily="49" charset="0"/>
              </a:rPr>
              <a:t>(</a:t>
            </a:r>
          </a:p>
          <a:p>
            <a:r>
              <a:rPr lang="en-US" sz="1100">
                <a:solidFill>
                  <a:srgbClr val="0B1F3A"/>
                </a:solidFill>
                <a:latin typeface="Cascadia Mono" panose="020B0609020000020004" pitchFamily="49" charset="0"/>
              </a:rPr>
              <a:t>    DeviceProcessEvents</a:t>
            </a:r>
          </a:p>
          <a:p>
            <a:r>
              <a:rPr lang="en-US" sz="1100">
                <a:solidFill>
                  <a:srgbClr val="0B1F3A"/>
                </a:solidFill>
                <a:latin typeface="Cascadia Mono" panose="020B0609020000020004" pitchFamily="49" charset="0"/>
              </a:rPr>
              <a:t>    | where Timestamp &gt; ago(7d)</a:t>
            </a:r>
          </a:p>
          <a:p>
            <a:r>
              <a:rPr lang="en-US" sz="1100">
                <a:solidFill>
                  <a:srgbClr val="0B1F3A"/>
                </a:solidFill>
                <a:latin typeface="Cascadia Mono" panose="020B0609020000020004" pitchFamily="49" charset="0"/>
              </a:rPr>
              <a:t>    | where DeviceName == TargetDevice</a:t>
            </a:r>
          </a:p>
          <a:p>
            <a:r>
              <a:rPr lang="en-US" sz="1100">
                <a:solidFill>
                  <a:srgbClr val="0B1F3A"/>
                </a:solidFill>
                <a:latin typeface="Cascadia Mono" panose="020B0609020000020004" pitchFamily="49" charset="0"/>
              </a:rPr>
              <a:t>    | project Timestamp, EvidenceType="Process", Detail=ProcessCommandLine</a:t>
            </a:r>
          </a:p>
          <a:p>
            <a:r>
              <a:rPr lang="en-US" sz="1100">
                <a:solidFill>
                  <a:srgbClr val="0B1F3A"/>
                </a:solidFill>
                <a:latin typeface="Cascadia Mono" panose="020B0609020000020004" pitchFamily="49" charset="0"/>
              </a:rPr>
              <a:t>),</a:t>
            </a:r>
          </a:p>
          <a:p>
            <a:r>
              <a:rPr lang="en-US" sz="1100">
                <a:solidFill>
                  <a:srgbClr val="0B1F3A"/>
                </a:solidFill>
                <a:latin typeface="Cascadia Mono" panose="020B0609020000020004" pitchFamily="49" charset="0"/>
              </a:rPr>
              <a:t>(</a:t>
            </a:r>
          </a:p>
          <a:p>
            <a:r>
              <a:rPr lang="en-US" sz="1100">
                <a:solidFill>
                  <a:srgbClr val="0B1F3A"/>
                </a:solidFill>
                <a:latin typeface="Cascadia Mono" panose="020B0609020000020004" pitchFamily="49" charset="0"/>
              </a:rPr>
              <a:t>    DeviceFileEvents</a:t>
            </a:r>
          </a:p>
          <a:p>
            <a:r>
              <a:rPr lang="en-US" sz="1100">
                <a:solidFill>
                  <a:srgbClr val="0B1F3A"/>
                </a:solidFill>
                <a:latin typeface="Cascadia Mono" panose="020B0609020000020004" pitchFamily="49" charset="0"/>
              </a:rPr>
              <a:t>    | where Timestamp &gt; ago(7d)</a:t>
            </a:r>
          </a:p>
          <a:p>
            <a:r>
              <a:rPr lang="en-US" sz="1100">
                <a:solidFill>
                  <a:srgbClr val="0B1F3A"/>
                </a:solidFill>
                <a:latin typeface="Cascadia Mono" panose="020B0609020000020004" pitchFamily="49" charset="0"/>
              </a:rPr>
              <a:t>    | where DeviceName == TargetDevice</a:t>
            </a:r>
          </a:p>
          <a:p>
            <a:r>
              <a:rPr lang="en-US" sz="1100">
                <a:solidFill>
                  <a:srgbClr val="0B1F3A"/>
                </a:solidFill>
                <a:latin typeface="Cascadia Mono" panose="020B0609020000020004" pitchFamily="49" charset="0"/>
              </a:rPr>
              <a:t>    | project Timestamp, EvidenceType="File", Detail=strcat(ActionType, " | ", FileName)</a:t>
            </a:r>
          </a:p>
          <a:p>
            <a:r>
              <a:rPr lang="en-US" sz="1100">
                <a:solidFill>
                  <a:srgbClr val="0B1F3A"/>
                </a:solidFill>
                <a:latin typeface="Cascadia Mono" panose="020B0609020000020004" pitchFamily="49" charset="0"/>
              </a:rPr>
              <a:t>),</a:t>
            </a:r>
          </a:p>
          <a:p>
            <a:r>
              <a:rPr lang="en-US" sz="1100">
                <a:solidFill>
                  <a:srgbClr val="0B1F3A"/>
                </a:solidFill>
                <a:latin typeface="Cascadia Mono" panose="020B0609020000020004" pitchFamily="49" charset="0"/>
              </a:rPr>
              <a:t>(</a:t>
            </a:r>
          </a:p>
          <a:p>
            <a:r>
              <a:rPr lang="en-US" sz="1100">
                <a:solidFill>
                  <a:srgbClr val="0B1F3A"/>
                </a:solidFill>
                <a:latin typeface="Cascadia Mono" panose="020B0609020000020004" pitchFamily="49" charset="0"/>
              </a:rPr>
              <a:t>    AlertEvidence</a:t>
            </a:r>
          </a:p>
          <a:p>
            <a:r>
              <a:rPr lang="en-US" sz="1100">
                <a:solidFill>
                  <a:srgbClr val="0B1F3A"/>
                </a:solidFill>
                <a:latin typeface="Cascadia Mono" panose="020B0609020000020004" pitchFamily="49" charset="0"/>
              </a:rPr>
              <a:t>    | where Timestamp &gt; ago(7d)</a:t>
            </a:r>
          </a:p>
          <a:p>
            <a:r>
              <a:rPr lang="en-US" sz="1100">
                <a:solidFill>
                  <a:srgbClr val="0B1F3A"/>
                </a:solidFill>
                <a:latin typeface="Cascadia Mono" panose="020B0609020000020004" pitchFamily="49" charset="0"/>
              </a:rPr>
              <a:t>    | where DeviceName == TargetDevice</a:t>
            </a:r>
          </a:p>
          <a:p>
            <a:r>
              <a:rPr lang="en-US" sz="1100">
                <a:solidFill>
                  <a:srgbClr val="0B1F3A"/>
                </a:solidFill>
                <a:latin typeface="Cascadia Mono" panose="020B0609020000020004" pitchFamily="49" charset="0"/>
              </a:rPr>
              <a:t>    | project Timestamp, EvidenceType="Alert", Detail=Title</a:t>
            </a:r>
          </a:p>
          <a:p>
            <a:r>
              <a:rPr lang="en-US" sz="1100">
                <a:solidFill>
                  <a:srgbClr val="0B1F3A"/>
                </a:solidFill>
                <a:latin typeface="Cascadia Mono" panose="020B0609020000020004" pitchFamily="49" charset="0"/>
              </a:rPr>
              <a:t>)</a:t>
            </a:r>
          </a:p>
          <a:p>
            <a:r>
              <a:rPr lang="en-US" sz="1100">
                <a:solidFill>
                  <a:srgbClr val="0B1F3A"/>
                </a:solidFill>
                <a:latin typeface="Cascadia Mono" panose="020B0609020000020004" pitchFamily="49" charset="0"/>
              </a:rPr>
              <a:t>| order by Timestamp asc</a:t>
            </a:r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24081E7C-8E47-60E9-EE62-B0D52FE9AD10}"/>
              </a:ext>
            </a:extLst>
          </p:cNvPr>
          <p:cNvSpPr/>
          <p:nvPr/>
        </p:nvSpPr>
        <p:spPr>
          <a:xfrm>
            <a:off x="6604000" y="4851400"/>
            <a:ext cx="4508500" cy="787400"/>
          </a:xfrm>
          <a:prstGeom prst="rect">
            <a:avLst/>
          </a:prstGeom>
          <a:solidFill>
            <a:srgbClr val="EAF3FF"/>
          </a:solidFill>
          <a:ln w="12700">
            <a:solidFill>
              <a:srgbClr val="7FA9DA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8C4C4752-4A40-9F11-4E80-E9405858ECC5}"/>
              </a:ext>
            </a:extLst>
          </p:cNvPr>
          <p:cNvSpPr txBox="1"/>
          <p:nvPr/>
        </p:nvSpPr>
        <p:spPr>
          <a:xfrm>
            <a:off x="6731000" y="4953000"/>
            <a:ext cx="4254500" cy="595035"/>
          </a:xfrm>
          <a:prstGeom prst="rect">
            <a:avLst/>
          </a:prstGeom>
          <a:noFill/>
        </p:spPr>
        <p:txBody>
          <a:bodyPr vert="horz" wrap="square" lIns="101600" tIns="50800" rIns="101600" bIns="50800" rtlCol="0">
            <a:spAutoFit/>
          </a:bodyPr>
          <a:lstStyle/>
          <a:p>
            <a:r>
              <a:rPr lang="en-US" sz="1600" b="1">
                <a:solidFill>
                  <a:srgbClr val="15375F"/>
                </a:solidFill>
                <a:latin typeface="Aptos" panose="020B0004020202020204" pitchFamily="34" charset="0"/>
              </a:rPr>
              <a:t>Ask: which table, which filter, which proof columns?</a:t>
            </a:r>
          </a:p>
        </p:txBody>
      </p:sp>
    </p:spTree>
    <p:extLst>
      <p:ext uri="{BB962C8B-B14F-4D97-AF65-F5344CB8AC3E}">
        <p14:creationId xmlns:p14="http://schemas.microsoft.com/office/powerpoint/2010/main" val="1775152401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>
            <a:extLst>
              <a:ext uri="{FF2B5EF4-FFF2-40B4-BE49-F238E27FC236}">
                <a16:creationId xmlns:a16="http://schemas.microsoft.com/office/drawing/2014/main" id="{F4A60407-93FA-0CD6-B81A-8C3FB1C9D812}"/>
              </a:ext>
            </a:extLst>
          </p:cNvPr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A7DA390C-BBB0-27CD-66E2-C6EB8C1C6C95}"/>
              </a:ext>
            </a:extLst>
          </p:cNvPr>
          <p:cNvSpPr/>
          <p:nvPr/>
        </p:nvSpPr>
        <p:spPr>
          <a:xfrm>
            <a:off x="0" y="0"/>
            <a:ext cx="12192000" cy="939800"/>
          </a:xfrm>
          <a:prstGeom prst="rect">
            <a:avLst/>
          </a:prstGeom>
          <a:solidFill>
            <a:srgbClr val="243F68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B0D28AD1-817C-2260-3024-2769E66EC707}"/>
              </a:ext>
            </a:extLst>
          </p:cNvPr>
          <p:cNvSpPr txBox="1"/>
          <p:nvPr/>
        </p:nvSpPr>
        <p:spPr>
          <a:xfrm>
            <a:off x="406400" y="127000"/>
            <a:ext cx="11176000" cy="241092"/>
          </a:xfrm>
          <a:prstGeom prst="rect">
            <a:avLst/>
          </a:prstGeom>
          <a:noFill/>
        </p:spPr>
        <p:txBody>
          <a:bodyPr vert="horz" wrap="square" lIns="101600" tIns="50800" rIns="101600" bIns="50800" rtlCol="0">
            <a:spAutoFit/>
          </a:bodyPr>
          <a:lstStyle/>
          <a:p>
            <a:r>
              <a:rPr lang="en-US" sz="900" b="1">
                <a:solidFill>
                  <a:srgbClr val="BFD7FF"/>
                </a:solidFill>
                <a:latin typeface="Aptos" panose="020B0004020202020204" pitchFamily="34" charset="0"/>
              </a:rPr>
              <a:t>CHECK YOUR WORK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A4587A82-BD5E-F34C-6817-C836A166945B}"/>
              </a:ext>
            </a:extLst>
          </p:cNvPr>
          <p:cNvSpPr txBox="1"/>
          <p:nvPr/>
        </p:nvSpPr>
        <p:spPr>
          <a:xfrm>
            <a:off x="406400" y="342900"/>
            <a:ext cx="11176000" cy="487313"/>
          </a:xfrm>
          <a:prstGeom prst="rect">
            <a:avLst/>
          </a:prstGeom>
          <a:noFill/>
        </p:spPr>
        <p:txBody>
          <a:bodyPr vert="horz" wrap="square" lIns="101600" tIns="50800" rIns="101600" bIns="50800" rtlCol="0">
            <a:spAutoFit/>
          </a:bodyPr>
          <a:lstStyle/>
          <a:p>
            <a:r>
              <a:rPr lang="en-US" sz="2500" b="1">
                <a:solidFill>
                  <a:srgbClr val="FFFFFF"/>
                </a:solidFill>
                <a:latin typeface="Aptos" panose="020B0004020202020204" pitchFamily="34" charset="0"/>
              </a:rPr>
              <a:t>Scenario 00: Answer Key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28A7C733-0D4C-E27F-767E-5D11F867D8C7}"/>
              </a:ext>
            </a:extLst>
          </p:cNvPr>
          <p:cNvSpPr txBox="1"/>
          <p:nvPr/>
        </p:nvSpPr>
        <p:spPr>
          <a:xfrm>
            <a:off x="685800" y="1371600"/>
            <a:ext cx="10414000" cy="718145"/>
          </a:xfrm>
          <a:prstGeom prst="rect">
            <a:avLst/>
          </a:prstGeom>
          <a:noFill/>
        </p:spPr>
        <p:txBody>
          <a:bodyPr vert="horz" wrap="square" lIns="101600" tIns="50800" rIns="101600" bIns="50800" rtlCol="0">
            <a:spAutoFit/>
          </a:bodyPr>
          <a:lstStyle/>
          <a:p>
            <a:r>
              <a:rPr lang="en-US" sz="2000" b="1">
                <a:solidFill>
                  <a:srgbClr val="243F68"/>
                </a:solidFill>
                <a:latin typeface="Aptos" panose="020B0004020202020204" pitchFamily="34" charset="0"/>
              </a:rPr>
              <a:t>Challenge: What launched the attack, what account ran it, and where did the runtime unpack?</a:t>
            </a:r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F054A465-8CAF-ED91-4F6B-B88F36D8EA53}"/>
              </a:ext>
            </a:extLst>
          </p:cNvPr>
          <p:cNvSpPr/>
          <p:nvPr/>
        </p:nvSpPr>
        <p:spPr>
          <a:xfrm>
            <a:off x="685800" y="2336800"/>
            <a:ext cx="10414000" cy="1206500"/>
          </a:xfrm>
          <a:prstGeom prst="rect">
            <a:avLst/>
          </a:prstGeom>
          <a:solidFill>
            <a:srgbClr val="EEF7ED"/>
          </a:solidFill>
          <a:ln w="12700">
            <a:solidFill>
              <a:srgbClr val="7FA9DA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B5008572-7F8A-AFF0-2CE2-B0F45ECDEEE7}"/>
              </a:ext>
            </a:extLst>
          </p:cNvPr>
          <p:cNvSpPr txBox="1"/>
          <p:nvPr/>
        </p:nvSpPr>
        <p:spPr>
          <a:xfrm>
            <a:off x="812800" y="2438400"/>
            <a:ext cx="10160000" cy="841256"/>
          </a:xfrm>
          <a:prstGeom prst="rect">
            <a:avLst/>
          </a:prstGeom>
          <a:noFill/>
        </p:spPr>
        <p:txBody>
          <a:bodyPr vert="horz" wrap="square" lIns="101600" tIns="50800" rIns="101600" bIns="50800" rtlCol="0">
            <a:spAutoFit/>
          </a:bodyPr>
          <a:lstStyle/>
          <a:p>
            <a:r>
              <a:rPr lang="en-US" sz="1600" b="1">
                <a:solidFill>
                  <a:srgbClr val="15375F"/>
                </a:solidFill>
                <a:latin typeface="Aptos" panose="020B0004020202020204" pitchFamily="34" charset="0"/>
              </a:rPr>
              <a:t>Launcher: SecBase_security-control-baseline-endpoint-edr_V1_0_51_amd64_gui-sig.exe. Account: xadmin. Runtime: C:\Users\xadmin\Downloads\.ghostex-cli-wd-2170286878. Orchestrator: python.exe running attack_graph.py.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99C00590-B48E-0D72-4988-0694D6B0AF1E}"/>
              </a:ext>
            </a:extLst>
          </p:cNvPr>
          <p:cNvSpPr txBox="1"/>
          <p:nvPr/>
        </p:nvSpPr>
        <p:spPr>
          <a:xfrm>
            <a:off x="914400" y="3937000"/>
            <a:ext cx="10033000" cy="1456809"/>
          </a:xfrm>
          <a:prstGeom prst="rect">
            <a:avLst/>
          </a:prstGeom>
          <a:noFill/>
        </p:spPr>
        <p:txBody>
          <a:bodyPr vert="horz" wrap="square" lIns="101600" tIns="50800" rIns="101600" bIns="50800" rtlCol="0">
            <a:spAutoFit/>
          </a:bodyPr>
          <a:lstStyle/>
          <a:p>
            <a:pPr>
              <a:spcAft>
                <a:spcPts val="800"/>
              </a:spcAft>
            </a:pPr>
            <a:r>
              <a:rPr lang="en-US" sz="1700">
                <a:solidFill>
                  <a:srgbClr val="111111"/>
                </a:solidFill>
                <a:latin typeface="Aptos" panose="020B0004020202020204" pitchFamily="34" charset="0"/>
              </a:rPr>
              <a:t>- How the KQL finds it: start with the table most likely to hold the evidence.</a:t>
            </a:r>
          </a:p>
          <a:p>
            <a:pPr>
              <a:spcAft>
                <a:spcPts val="800"/>
              </a:spcAft>
            </a:pPr>
            <a:r>
              <a:rPr lang="en-US" sz="1700">
                <a:solidFill>
                  <a:srgbClr val="111111"/>
                </a:solidFill>
                <a:latin typeface="Aptos" panose="020B0004020202020204" pitchFamily="34" charset="0"/>
              </a:rPr>
              <a:t>- Use where filters to reduce to the device, time, and scenario clue.</a:t>
            </a:r>
          </a:p>
          <a:p>
            <a:pPr>
              <a:spcAft>
                <a:spcPts val="800"/>
              </a:spcAft>
            </a:pPr>
            <a:r>
              <a:rPr lang="en-US" sz="1700">
                <a:solidFill>
                  <a:srgbClr val="111111"/>
                </a:solidFill>
                <a:latin typeface="Aptos" panose="020B0004020202020204" pitchFamily="34" charset="0"/>
              </a:rPr>
              <a:t>- Use project to show only the columns that prove the answer.</a:t>
            </a:r>
          </a:p>
          <a:p>
            <a:pPr>
              <a:spcAft>
                <a:spcPts val="800"/>
              </a:spcAft>
            </a:pPr>
            <a:r>
              <a:rPr lang="en-US" sz="1700">
                <a:solidFill>
                  <a:srgbClr val="111111"/>
                </a:solidFill>
                <a:latin typeface="Aptos" panose="020B0004020202020204" pitchFamily="34" charset="0"/>
              </a:rPr>
              <a:t>- If one table is incomplete, pivot to file or alert evidence.</a:t>
            </a:r>
          </a:p>
        </p:txBody>
      </p:sp>
    </p:spTree>
    <p:extLst>
      <p:ext uri="{BB962C8B-B14F-4D97-AF65-F5344CB8AC3E}">
        <p14:creationId xmlns:p14="http://schemas.microsoft.com/office/powerpoint/2010/main" val="2181349292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>
            <a:extLst>
              <a:ext uri="{FF2B5EF4-FFF2-40B4-BE49-F238E27FC236}">
                <a16:creationId xmlns:a16="http://schemas.microsoft.com/office/drawing/2014/main" id="{90A4059E-3025-861E-080C-D032C4EBB8A9}"/>
              </a:ext>
            </a:extLst>
          </p:cNvPr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3AB23965-942B-5E56-47DA-79C3FE0EDEAE}"/>
              </a:ext>
            </a:extLst>
          </p:cNvPr>
          <p:cNvSpPr/>
          <p:nvPr/>
        </p:nvSpPr>
        <p:spPr>
          <a:xfrm>
            <a:off x="0" y="0"/>
            <a:ext cx="12192000" cy="939800"/>
          </a:xfrm>
          <a:prstGeom prst="rect">
            <a:avLst/>
          </a:prstGeom>
          <a:solidFill>
            <a:srgbClr val="243F68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83A2FB54-7139-D6E1-77CF-8355DD32B826}"/>
              </a:ext>
            </a:extLst>
          </p:cNvPr>
          <p:cNvSpPr txBox="1"/>
          <p:nvPr/>
        </p:nvSpPr>
        <p:spPr>
          <a:xfrm>
            <a:off x="406400" y="127000"/>
            <a:ext cx="11176000" cy="241092"/>
          </a:xfrm>
          <a:prstGeom prst="rect">
            <a:avLst/>
          </a:prstGeom>
          <a:noFill/>
        </p:spPr>
        <p:txBody>
          <a:bodyPr vert="horz" wrap="square" lIns="101600" tIns="50800" rIns="101600" bIns="50800" rtlCol="0">
            <a:spAutoFit/>
          </a:bodyPr>
          <a:lstStyle/>
          <a:p>
            <a:r>
              <a:rPr lang="en-US" sz="900" b="1">
                <a:solidFill>
                  <a:srgbClr val="BFD7FF"/>
                </a:solidFill>
                <a:latin typeface="Aptos" panose="020B0004020202020204" pitchFamily="34" charset="0"/>
              </a:rPr>
              <a:t>SCENARIO BRIEF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3BF8E5C5-BB1F-D9F8-341C-54909F0DCDD1}"/>
              </a:ext>
            </a:extLst>
          </p:cNvPr>
          <p:cNvSpPr txBox="1"/>
          <p:nvPr/>
        </p:nvSpPr>
        <p:spPr>
          <a:xfrm>
            <a:off x="406400" y="342900"/>
            <a:ext cx="11176000" cy="487313"/>
          </a:xfrm>
          <a:prstGeom prst="rect">
            <a:avLst/>
          </a:prstGeom>
          <a:noFill/>
        </p:spPr>
        <p:txBody>
          <a:bodyPr vert="horz" wrap="square" lIns="101600" tIns="50800" rIns="101600" bIns="50800" rtlCol="0">
            <a:spAutoFit/>
          </a:bodyPr>
          <a:lstStyle/>
          <a:p>
            <a:r>
              <a:rPr lang="en-US" sz="2500" b="1">
                <a:solidFill>
                  <a:srgbClr val="FFFFFF"/>
                </a:solidFill>
                <a:latin typeface="Aptos" panose="020B0004020202020204" pitchFamily="34" charset="0"/>
              </a:rPr>
              <a:t>Scenario 01: Credentials In Registry Script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993B23FF-A56F-8974-A3F0-2F5C87356D50}"/>
              </a:ext>
            </a:extLst>
          </p:cNvPr>
          <p:cNvSpPr txBox="1"/>
          <p:nvPr/>
        </p:nvSpPr>
        <p:spPr>
          <a:xfrm>
            <a:off x="685800" y="1333500"/>
            <a:ext cx="10795000" cy="1579920"/>
          </a:xfrm>
          <a:prstGeom prst="rect">
            <a:avLst/>
          </a:prstGeom>
          <a:noFill/>
        </p:spPr>
        <p:txBody>
          <a:bodyPr vert="horz" wrap="square" lIns="101600" tIns="50800" rIns="101600" bIns="50800" rtlCol="0">
            <a:spAutoFit/>
          </a:bodyPr>
          <a:lstStyle/>
          <a:p>
            <a:pPr>
              <a:spcAft>
                <a:spcPts val="800"/>
              </a:spcAft>
            </a:pPr>
            <a:r>
              <a:rPr lang="en-US" sz="1900">
                <a:solidFill>
                  <a:srgbClr val="111111"/>
                </a:solidFill>
                <a:latin typeface="Aptos" panose="020B0004020202020204" pitchFamily="34" charset="0"/>
              </a:rPr>
              <a:t>- The attacker uses a PowerShell script related to credentials stored in the registry.</a:t>
            </a:r>
          </a:p>
          <a:p>
            <a:pPr>
              <a:spcAft>
                <a:spcPts val="800"/>
              </a:spcAft>
            </a:pPr>
            <a:r>
              <a:rPr lang="en-US" sz="1900">
                <a:solidFill>
                  <a:srgbClr val="111111"/>
                </a:solidFill>
                <a:latin typeface="Aptos" panose="020B0004020202020204" pitchFamily="34" charset="0"/>
              </a:rPr>
              <a:t>- KQL skill: Exact filename match plus alert technique pivot</a:t>
            </a:r>
          </a:p>
          <a:p>
            <a:pPr>
              <a:spcAft>
                <a:spcPts val="800"/>
              </a:spcAft>
            </a:pPr>
            <a:r>
              <a:rPr lang="en-US" sz="1900">
                <a:solidFill>
                  <a:srgbClr val="111111"/>
                </a:solidFill>
                <a:latin typeface="Aptos" panose="020B0004020202020204" pitchFamily="34" charset="0"/>
              </a:rPr>
              <a:t>- Student flow: read the brief, learn the query idea, build it slowly, then answer the challenge.</a:t>
            </a:r>
          </a:p>
          <a:p>
            <a:pPr>
              <a:spcAft>
                <a:spcPts val="800"/>
              </a:spcAft>
            </a:pPr>
            <a:r>
              <a:rPr lang="en-US" sz="1900">
                <a:solidFill>
                  <a:srgbClr val="111111"/>
                </a:solidFill>
                <a:latin typeface="Aptos" panose="020B0004020202020204" pitchFamily="34" charset="0"/>
              </a:rPr>
              <a:t>- Instructor reminder: do not show the full query until students have tried the build steps.</a:t>
            </a:r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9DADFA2D-5745-1F06-BCB9-19C3E81237AB}"/>
              </a:ext>
            </a:extLst>
          </p:cNvPr>
          <p:cNvSpPr/>
          <p:nvPr/>
        </p:nvSpPr>
        <p:spPr>
          <a:xfrm>
            <a:off x="889000" y="5130800"/>
            <a:ext cx="10033000" cy="762000"/>
          </a:xfrm>
          <a:prstGeom prst="rect">
            <a:avLst/>
          </a:prstGeom>
          <a:solidFill>
            <a:srgbClr val="FFF6E5"/>
          </a:solidFill>
          <a:ln w="12700">
            <a:solidFill>
              <a:srgbClr val="7FA9DA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0D3D9372-FE62-0DFA-C699-15CCEBD27709}"/>
              </a:ext>
            </a:extLst>
          </p:cNvPr>
          <p:cNvSpPr txBox="1"/>
          <p:nvPr/>
        </p:nvSpPr>
        <p:spPr>
          <a:xfrm>
            <a:off x="1016000" y="5232400"/>
            <a:ext cx="9779000" cy="595035"/>
          </a:xfrm>
          <a:prstGeom prst="rect">
            <a:avLst/>
          </a:prstGeom>
          <a:noFill/>
        </p:spPr>
        <p:txBody>
          <a:bodyPr vert="horz" wrap="square" lIns="101600" tIns="50800" rIns="101600" bIns="50800" rtlCol="0">
            <a:spAutoFit/>
          </a:bodyPr>
          <a:lstStyle/>
          <a:p>
            <a:r>
              <a:rPr lang="en-US" sz="1600" b="1">
                <a:solidFill>
                  <a:srgbClr val="15375F"/>
                </a:solidFill>
                <a:latin typeface="Aptos" panose="020B0004020202020204" pitchFamily="34" charset="0"/>
              </a:rPr>
              <a:t>CTF challenge: Which script is the registry-creds clue, and which ATT&amp;CK technique did Defender attach to it?</a:t>
            </a:r>
          </a:p>
        </p:txBody>
      </p:sp>
    </p:spTree>
    <p:extLst>
      <p:ext uri="{BB962C8B-B14F-4D97-AF65-F5344CB8AC3E}">
        <p14:creationId xmlns:p14="http://schemas.microsoft.com/office/powerpoint/2010/main" val="2339246520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>
            <a:extLst>
              <a:ext uri="{FF2B5EF4-FFF2-40B4-BE49-F238E27FC236}">
                <a16:creationId xmlns:a16="http://schemas.microsoft.com/office/drawing/2014/main" id="{FE30037F-333B-4155-D7C0-0F2A3FDA1D61}"/>
              </a:ext>
            </a:extLst>
          </p:cNvPr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896FA7B2-0256-18A7-D725-C5775FDEDFD4}"/>
              </a:ext>
            </a:extLst>
          </p:cNvPr>
          <p:cNvSpPr/>
          <p:nvPr/>
        </p:nvSpPr>
        <p:spPr>
          <a:xfrm>
            <a:off x="0" y="0"/>
            <a:ext cx="12192000" cy="939800"/>
          </a:xfrm>
          <a:prstGeom prst="rect">
            <a:avLst/>
          </a:prstGeom>
          <a:solidFill>
            <a:srgbClr val="243F68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70DBEE6C-29B2-1877-31DE-94F56C28E017}"/>
              </a:ext>
            </a:extLst>
          </p:cNvPr>
          <p:cNvSpPr txBox="1"/>
          <p:nvPr/>
        </p:nvSpPr>
        <p:spPr>
          <a:xfrm>
            <a:off x="406400" y="127000"/>
            <a:ext cx="11176000" cy="241092"/>
          </a:xfrm>
          <a:prstGeom prst="rect">
            <a:avLst/>
          </a:prstGeom>
          <a:noFill/>
        </p:spPr>
        <p:txBody>
          <a:bodyPr vert="horz" wrap="square" lIns="101600" tIns="50800" rIns="101600" bIns="50800" rtlCol="0">
            <a:spAutoFit/>
          </a:bodyPr>
          <a:lstStyle/>
          <a:p>
            <a:r>
              <a:rPr lang="en-US" sz="900" b="1">
                <a:solidFill>
                  <a:srgbClr val="BFD7FF"/>
                </a:solidFill>
                <a:latin typeface="Aptos" panose="020B0004020202020204" pitchFamily="34" charset="0"/>
              </a:rPr>
              <a:t>CREDENTIALS IN REGISTRY SCRIPT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DE8789FD-55D2-6399-BA07-0C753C4984F9}"/>
              </a:ext>
            </a:extLst>
          </p:cNvPr>
          <p:cNvSpPr txBox="1"/>
          <p:nvPr/>
        </p:nvSpPr>
        <p:spPr>
          <a:xfrm>
            <a:off x="406400" y="342900"/>
            <a:ext cx="11176000" cy="487313"/>
          </a:xfrm>
          <a:prstGeom prst="rect">
            <a:avLst/>
          </a:prstGeom>
          <a:noFill/>
        </p:spPr>
        <p:txBody>
          <a:bodyPr vert="horz" wrap="square" lIns="101600" tIns="50800" rIns="101600" bIns="50800" rtlCol="0">
            <a:spAutoFit/>
          </a:bodyPr>
          <a:lstStyle/>
          <a:p>
            <a:r>
              <a:rPr lang="en-US" sz="2500" b="1">
                <a:solidFill>
                  <a:srgbClr val="FFFFFF"/>
                </a:solidFill>
                <a:latin typeface="Aptos" panose="020B0004020202020204" pitchFamily="34" charset="0"/>
              </a:rPr>
              <a:t>Scenario 01: Build It Slowly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6C0984E8-598D-8F93-9FE5-98EF157768BB}"/>
              </a:ext>
            </a:extLst>
          </p:cNvPr>
          <p:cNvSpPr txBox="1"/>
          <p:nvPr/>
        </p:nvSpPr>
        <p:spPr>
          <a:xfrm>
            <a:off x="685800" y="1371600"/>
            <a:ext cx="5461000" cy="1795363"/>
          </a:xfrm>
          <a:prstGeom prst="rect">
            <a:avLst/>
          </a:prstGeom>
          <a:noFill/>
        </p:spPr>
        <p:txBody>
          <a:bodyPr vert="horz" wrap="square" lIns="101600" tIns="50800" rIns="101600" bIns="50800" rtlCol="0">
            <a:spAutoFit/>
          </a:bodyPr>
          <a:lstStyle/>
          <a:p>
            <a:pPr>
              <a:spcAft>
                <a:spcPts val="800"/>
              </a:spcAft>
            </a:pPr>
            <a:r>
              <a:rPr lang="en-US">
                <a:solidFill>
                  <a:srgbClr val="111111"/>
                </a:solidFill>
                <a:latin typeface="Aptos" panose="020B0004020202020204" pitchFamily="34" charset="0"/>
              </a:rPr>
              <a:t>- Find the script in DeviceFileEvents.</a:t>
            </a:r>
          </a:p>
          <a:p>
            <a:pPr>
              <a:spcAft>
                <a:spcPts val="800"/>
              </a:spcAft>
            </a:pPr>
            <a:r>
              <a:rPr lang="en-US">
                <a:solidFill>
                  <a:srgbClr val="111111"/>
                </a:solidFill>
                <a:latin typeface="Aptos" panose="020B0004020202020204" pitchFamily="34" charset="0"/>
              </a:rPr>
              <a:t>- Search command lines for the script name.</a:t>
            </a:r>
          </a:p>
          <a:p>
            <a:pPr>
              <a:spcAft>
                <a:spcPts val="800"/>
              </a:spcAft>
            </a:pPr>
            <a:r>
              <a:rPr lang="en-US">
                <a:solidFill>
                  <a:srgbClr val="111111"/>
                </a:solidFill>
                <a:latin typeface="Aptos" panose="020B0004020202020204" pitchFamily="34" charset="0"/>
              </a:rPr>
              <a:t>- Pivot to AlertEvidence for ATT&amp;CK context.</a:t>
            </a:r>
          </a:p>
          <a:p>
            <a:pPr>
              <a:spcAft>
                <a:spcPts val="800"/>
              </a:spcAft>
            </a:pPr>
            <a:r>
              <a:rPr lang="en-US">
                <a:solidFill>
                  <a:srgbClr val="111111"/>
                </a:solidFill>
                <a:latin typeface="Aptos" panose="020B0004020202020204" pitchFamily="34" charset="0"/>
              </a:rPr>
              <a:t>- Keep FileName, Title, AttackTechniques, and SHA256.</a:t>
            </a:r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0CDD42FE-F067-2E04-6846-0DBC8BC0829D}"/>
              </a:ext>
            </a:extLst>
          </p:cNvPr>
          <p:cNvSpPr/>
          <p:nvPr/>
        </p:nvSpPr>
        <p:spPr>
          <a:xfrm>
            <a:off x="6604000" y="1397000"/>
            <a:ext cx="4508500" cy="3111500"/>
          </a:xfrm>
          <a:prstGeom prst="rect">
            <a:avLst/>
          </a:prstGeom>
          <a:solidFill>
            <a:srgbClr val="F4F7FB"/>
          </a:solidFill>
          <a:ln w="12700">
            <a:solidFill>
              <a:srgbClr val="D6E0EF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38537DFC-9344-CA6A-72FF-C156B932BC0A}"/>
              </a:ext>
            </a:extLst>
          </p:cNvPr>
          <p:cNvSpPr txBox="1"/>
          <p:nvPr/>
        </p:nvSpPr>
        <p:spPr>
          <a:xfrm>
            <a:off x="6756400" y="1524000"/>
            <a:ext cx="4203700" cy="1795363"/>
          </a:xfrm>
          <a:prstGeom prst="rect">
            <a:avLst/>
          </a:prstGeom>
          <a:noFill/>
        </p:spPr>
        <p:txBody>
          <a:bodyPr vert="horz" wrap="square" lIns="101600" tIns="50800" rIns="101600" bIns="50800" rtlCol="0">
            <a:spAutoFit/>
          </a:bodyPr>
          <a:lstStyle/>
          <a:p>
            <a:r>
              <a:rPr lang="en-US" sz="1100">
                <a:solidFill>
                  <a:srgbClr val="0B1F3A"/>
                </a:solidFill>
                <a:latin typeface="Cascadia Mono" panose="020B0609020000020004" pitchFamily="49" charset="0"/>
              </a:rPr>
              <a:t>let TargetDevice = "usm262346";</a:t>
            </a:r>
          </a:p>
          <a:p>
            <a:r>
              <a:rPr lang="en-US" sz="1100">
                <a:solidFill>
                  <a:srgbClr val="0B1F3A"/>
                </a:solidFill>
                <a:latin typeface="Cascadia Mono" panose="020B0609020000020004" pitchFamily="49" charset="0"/>
              </a:rPr>
              <a:t>AlertEvidence</a:t>
            </a:r>
          </a:p>
          <a:p>
            <a:r>
              <a:rPr lang="en-US" sz="1100">
                <a:solidFill>
                  <a:srgbClr val="0B1F3A"/>
                </a:solidFill>
                <a:latin typeface="Cascadia Mono" panose="020B0609020000020004" pitchFamily="49" charset="0"/>
              </a:rPr>
              <a:t>| where Timestamp &gt; ago(7d)</a:t>
            </a:r>
          </a:p>
          <a:p>
            <a:r>
              <a:rPr lang="en-US" sz="1100">
                <a:solidFill>
                  <a:srgbClr val="0B1F3A"/>
                </a:solidFill>
                <a:latin typeface="Cascadia Mono" panose="020B0609020000020004" pitchFamily="49" charset="0"/>
              </a:rPr>
              <a:t>| where DeviceName == TargetDevice or FileName =~ "credentials_in_registry.ps1"</a:t>
            </a:r>
          </a:p>
          <a:p>
            <a:r>
              <a:rPr lang="en-US" sz="1100">
                <a:solidFill>
                  <a:srgbClr val="0B1F3A"/>
                </a:solidFill>
                <a:latin typeface="Cascadia Mono" panose="020B0609020000020004" pitchFamily="49" charset="0"/>
              </a:rPr>
              <a:t>| where Title has_any ("PowerShell", "Registry", "Credentials") or AttackTechniques has_any ("Credentials in Registry", "T1552.002")</a:t>
            </a:r>
          </a:p>
          <a:p>
            <a:r>
              <a:rPr lang="en-US" sz="1100">
                <a:solidFill>
                  <a:srgbClr val="0B1F3A"/>
                </a:solidFill>
                <a:latin typeface="Cascadia Mono" panose="020B0609020000020004" pitchFamily="49" charset="0"/>
              </a:rPr>
              <a:t>| project Timestamp, Title, FileName, AttackTechniques, SHA256</a:t>
            </a:r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D706F368-3466-DE43-3DA0-7228DD473E8E}"/>
              </a:ext>
            </a:extLst>
          </p:cNvPr>
          <p:cNvSpPr/>
          <p:nvPr/>
        </p:nvSpPr>
        <p:spPr>
          <a:xfrm>
            <a:off x="6604000" y="4851400"/>
            <a:ext cx="4508500" cy="787400"/>
          </a:xfrm>
          <a:prstGeom prst="rect">
            <a:avLst/>
          </a:prstGeom>
          <a:solidFill>
            <a:srgbClr val="EAF3FF"/>
          </a:solidFill>
          <a:ln w="12700">
            <a:solidFill>
              <a:srgbClr val="7FA9DA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8B59A471-355C-CC93-76F1-DB2D6BC0F127}"/>
              </a:ext>
            </a:extLst>
          </p:cNvPr>
          <p:cNvSpPr txBox="1"/>
          <p:nvPr/>
        </p:nvSpPr>
        <p:spPr>
          <a:xfrm>
            <a:off x="6731000" y="4953000"/>
            <a:ext cx="4254500" cy="595035"/>
          </a:xfrm>
          <a:prstGeom prst="rect">
            <a:avLst/>
          </a:prstGeom>
          <a:noFill/>
        </p:spPr>
        <p:txBody>
          <a:bodyPr vert="horz" wrap="square" lIns="101600" tIns="50800" rIns="101600" bIns="50800" rtlCol="0">
            <a:spAutoFit/>
          </a:bodyPr>
          <a:lstStyle/>
          <a:p>
            <a:r>
              <a:rPr lang="en-US" sz="1600" b="1">
                <a:solidFill>
                  <a:srgbClr val="15375F"/>
                </a:solidFill>
                <a:latin typeface="Aptos" panose="020B0004020202020204" pitchFamily="34" charset="0"/>
              </a:rPr>
              <a:t>Ask: which table, which filter, which proof columns?</a:t>
            </a:r>
          </a:p>
        </p:txBody>
      </p:sp>
    </p:spTree>
    <p:extLst>
      <p:ext uri="{BB962C8B-B14F-4D97-AF65-F5344CB8AC3E}">
        <p14:creationId xmlns:p14="http://schemas.microsoft.com/office/powerpoint/2010/main" val="3580403689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>
            <a:extLst>
              <a:ext uri="{FF2B5EF4-FFF2-40B4-BE49-F238E27FC236}">
                <a16:creationId xmlns:a16="http://schemas.microsoft.com/office/drawing/2014/main" id="{DEE482FF-9C18-1A68-E949-6F4356D8C800}"/>
              </a:ext>
            </a:extLst>
          </p:cNvPr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73BB34AC-7496-FA10-79B0-433F31EAE4C1}"/>
              </a:ext>
            </a:extLst>
          </p:cNvPr>
          <p:cNvSpPr/>
          <p:nvPr/>
        </p:nvSpPr>
        <p:spPr>
          <a:xfrm>
            <a:off x="0" y="0"/>
            <a:ext cx="12192000" cy="939800"/>
          </a:xfrm>
          <a:prstGeom prst="rect">
            <a:avLst/>
          </a:prstGeom>
          <a:solidFill>
            <a:srgbClr val="243F68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E91D5271-AE48-DD0B-A066-AC125D66632A}"/>
              </a:ext>
            </a:extLst>
          </p:cNvPr>
          <p:cNvSpPr txBox="1"/>
          <p:nvPr/>
        </p:nvSpPr>
        <p:spPr>
          <a:xfrm>
            <a:off x="406400" y="127000"/>
            <a:ext cx="11176000" cy="241092"/>
          </a:xfrm>
          <a:prstGeom prst="rect">
            <a:avLst/>
          </a:prstGeom>
          <a:noFill/>
        </p:spPr>
        <p:txBody>
          <a:bodyPr vert="horz" wrap="square" lIns="101600" tIns="50800" rIns="101600" bIns="50800" rtlCol="0">
            <a:spAutoFit/>
          </a:bodyPr>
          <a:lstStyle/>
          <a:p>
            <a:r>
              <a:rPr lang="en-US" sz="900" b="1">
                <a:solidFill>
                  <a:srgbClr val="BFD7FF"/>
                </a:solidFill>
                <a:latin typeface="Aptos" panose="020B0004020202020204" pitchFamily="34" charset="0"/>
              </a:rPr>
              <a:t>CHECK YOUR WORK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31430863-C791-6B45-1C4D-3B590805BCF2}"/>
              </a:ext>
            </a:extLst>
          </p:cNvPr>
          <p:cNvSpPr txBox="1"/>
          <p:nvPr/>
        </p:nvSpPr>
        <p:spPr>
          <a:xfrm>
            <a:off x="406400" y="342900"/>
            <a:ext cx="11176000" cy="487313"/>
          </a:xfrm>
          <a:prstGeom prst="rect">
            <a:avLst/>
          </a:prstGeom>
          <a:noFill/>
        </p:spPr>
        <p:txBody>
          <a:bodyPr vert="horz" wrap="square" lIns="101600" tIns="50800" rIns="101600" bIns="50800" rtlCol="0">
            <a:spAutoFit/>
          </a:bodyPr>
          <a:lstStyle/>
          <a:p>
            <a:r>
              <a:rPr lang="en-US" sz="2500" b="1">
                <a:solidFill>
                  <a:srgbClr val="FFFFFF"/>
                </a:solidFill>
                <a:latin typeface="Aptos" panose="020B0004020202020204" pitchFamily="34" charset="0"/>
              </a:rPr>
              <a:t>Scenario 01: Answer Key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1DC4577C-814E-5CE2-E7C0-AC4BD5CFC349}"/>
              </a:ext>
            </a:extLst>
          </p:cNvPr>
          <p:cNvSpPr txBox="1"/>
          <p:nvPr/>
        </p:nvSpPr>
        <p:spPr>
          <a:xfrm>
            <a:off x="685800" y="1371600"/>
            <a:ext cx="10414000" cy="718145"/>
          </a:xfrm>
          <a:prstGeom prst="rect">
            <a:avLst/>
          </a:prstGeom>
          <a:noFill/>
        </p:spPr>
        <p:txBody>
          <a:bodyPr vert="horz" wrap="square" lIns="101600" tIns="50800" rIns="101600" bIns="50800" rtlCol="0">
            <a:spAutoFit/>
          </a:bodyPr>
          <a:lstStyle/>
          <a:p>
            <a:r>
              <a:rPr lang="en-US" sz="2000" b="1">
                <a:solidFill>
                  <a:srgbClr val="243F68"/>
                </a:solidFill>
                <a:latin typeface="Aptos" panose="020B0004020202020204" pitchFamily="34" charset="0"/>
              </a:rPr>
              <a:t>Challenge: Which script is the registry-creds clue, and which ATT&amp;CK technique did Defender attach to it?</a:t>
            </a:r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85BD7964-781B-D36D-6B49-A47EEAA66163}"/>
              </a:ext>
            </a:extLst>
          </p:cNvPr>
          <p:cNvSpPr/>
          <p:nvPr/>
        </p:nvSpPr>
        <p:spPr>
          <a:xfrm>
            <a:off x="685800" y="2336800"/>
            <a:ext cx="10414000" cy="1206500"/>
          </a:xfrm>
          <a:prstGeom prst="rect">
            <a:avLst/>
          </a:prstGeom>
          <a:solidFill>
            <a:srgbClr val="EEF7ED"/>
          </a:solidFill>
          <a:ln w="12700">
            <a:solidFill>
              <a:srgbClr val="7FA9DA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AABD942F-E446-E689-CC43-E407BD00E644}"/>
              </a:ext>
            </a:extLst>
          </p:cNvPr>
          <p:cNvSpPr txBox="1"/>
          <p:nvPr/>
        </p:nvSpPr>
        <p:spPr>
          <a:xfrm>
            <a:off x="812800" y="2438400"/>
            <a:ext cx="10160000" cy="595035"/>
          </a:xfrm>
          <a:prstGeom prst="rect">
            <a:avLst/>
          </a:prstGeom>
          <a:noFill/>
        </p:spPr>
        <p:txBody>
          <a:bodyPr vert="horz" wrap="square" lIns="101600" tIns="50800" rIns="101600" bIns="50800" rtlCol="0">
            <a:spAutoFit/>
          </a:bodyPr>
          <a:lstStyle/>
          <a:p>
            <a:r>
              <a:rPr lang="en-US" sz="1600" b="1">
                <a:solidFill>
                  <a:srgbClr val="15375F"/>
                </a:solidFill>
                <a:latin typeface="Aptos" panose="020B0004020202020204" pitchFamily="34" charset="0"/>
              </a:rPr>
              <a:t>Script: credentials_in_registry.ps1. Alert: malicious PowerShell cmdlet. ATT&amp;CK: Credentials in Registry (T1552.002).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B4889CA2-76F6-6952-8180-D3842C77C67C}"/>
              </a:ext>
            </a:extLst>
          </p:cNvPr>
          <p:cNvSpPr txBox="1"/>
          <p:nvPr/>
        </p:nvSpPr>
        <p:spPr>
          <a:xfrm>
            <a:off x="914400" y="3937000"/>
            <a:ext cx="10033000" cy="1456809"/>
          </a:xfrm>
          <a:prstGeom prst="rect">
            <a:avLst/>
          </a:prstGeom>
          <a:noFill/>
        </p:spPr>
        <p:txBody>
          <a:bodyPr vert="horz" wrap="square" lIns="101600" tIns="50800" rIns="101600" bIns="50800" rtlCol="0">
            <a:spAutoFit/>
          </a:bodyPr>
          <a:lstStyle/>
          <a:p>
            <a:pPr>
              <a:spcAft>
                <a:spcPts val="800"/>
              </a:spcAft>
            </a:pPr>
            <a:r>
              <a:rPr lang="en-US" sz="1700">
                <a:solidFill>
                  <a:srgbClr val="111111"/>
                </a:solidFill>
                <a:latin typeface="Aptos" panose="020B0004020202020204" pitchFamily="34" charset="0"/>
              </a:rPr>
              <a:t>- How the KQL finds it: start with the table most likely to hold the evidence.</a:t>
            </a:r>
          </a:p>
          <a:p>
            <a:pPr>
              <a:spcAft>
                <a:spcPts val="800"/>
              </a:spcAft>
            </a:pPr>
            <a:r>
              <a:rPr lang="en-US" sz="1700">
                <a:solidFill>
                  <a:srgbClr val="111111"/>
                </a:solidFill>
                <a:latin typeface="Aptos" panose="020B0004020202020204" pitchFamily="34" charset="0"/>
              </a:rPr>
              <a:t>- Use where filters to reduce to the device, time, and scenario clue.</a:t>
            </a:r>
          </a:p>
          <a:p>
            <a:pPr>
              <a:spcAft>
                <a:spcPts val="800"/>
              </a:spcAft>
            </a:pPr>
            <a:r>
              <a:rPr lang="en-US" sz="1700">
                <a:solidFill>
                  <a:srgbClr val="111111"/>
                </a:solidFill>
                <a:latin typeface="Aptos" panose="020B0004020202020204" pitchFamily="34" charset="0"/>
              </a:rPr>
              <a:t>- Use project to show only the columns that prove the answer.</a:t>
            </a:r>
          </a:p>
          <a:p>
            <a:pPr>
              <a:spcAft>
                <a:spcPts val="800"/>
              </a:spcAft>
            </a:pPr>
            <a:r>
              <a:rPr lang="en-US" sz="1700">
                <a:solidFill>
                  <a:srgbClr val="111111"/>
                </a:solidFill>
                <a:latin typeface="Aptos" panose="020B0004020202020204" pitchFamily="34" charset="0"/>
              </a:rPr>
              <a:t>- If one table is incomplete, pivot to file or alert evidence.</a:t>
            </a:r>
          </a:p>
        </p:txBody>
      </p:sp>
    </p:spTree>
    <p:extLst>
      <p:ext uri="{BB962C8B-B14F-4D97-AF65-F5344CB8AC3E}">
        <p14:creationId xmlns:p14="http://schemas.microsoft.com/office/powerpoint/2010/main" val="1707052779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>
            <a:extLst>
              <a:ext uri="{FF2B5EF4-FFF2-40B4-BE49-F238E27FC236}">
                <a16:creationId xmlns:a16="http://schemas.microsoft.com/office/drawing/2014/main" id="{406931D7-20E5-DF71-FBF3-40532BBC93B2}"/>
              </a:ext>
            </a:extLst>
          </p:cNvPr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698B92B0-B72A-4964-E5F9-B64DA2969568}"/>
              </a:ext>
            </a:extLst>
          </p:cNvPr>
          <p:cNvSpPr/>
          <p:nvPr/>
        </p:nvSpPr>
        <p:spPr>
          <a:xfrm>
            <a:off x="0" y="0"/>
            <a:ext cx="12192000" cy="939800"/>
          </a:xfrm>
          <a:prstGeom prst="rect">
            <a:avLst/>
          </a:prstGeom>
          <a:solidFill>
            <a:srgbClr val="243F68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D92F98BE-D613-C216-A8E1-24E5B148BAC3}"/>
              </a:ext>
            </a:extLst>
          </p:cNvPr>
          <p:cNvSpPr txBox="1"/>
          <p:nvPr/>
        </p:nvSpPr>
        <p:spPr>
          <a:xfrm>
            <a:off x="406400" y="127000"/>
            <a:ext cx="11176000" cy="241092"/>
          </a:xfrm>
          <a:prstGeom prst="rect">
            <a:avLst/>
          </a:prstGeom>
          <a:noFill/>
        </p:spPr>
        <p:txBody>
          <a:bodyPr vert="horz" wrap="square" lIns="101600" tIns="50800" rIns="101600" bIns="50800" rtlCol="0">
            <a:spAutoFit/>
          </a:bodyPr>
          <a:lstStyle/>
          <a:p>
            <a:r>
              <a:rPr lang="en-US" sz="900" b="1">
                <a:solidFill>
                  <a:srgbClr val="BFD7FF"/>
                </a:solidFill>
                <a:latin typeface="Aptos" panose="020B0004020202020204" pitchFamily="34" charset="0"/>
              </a:rPr>
              <a:t>SCENARIO BRIEF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C9EDA27F-92AB-2DB8-D35D-FB2F2715A621}"/>
              </a:ext>
            </a:extLst>
          </p:cNvPr>
          <p:cNvSpPr txBox="1"/>
          <p:nvPr/>
        </p:nvSpPr>
        <p:spPr>
          <a:xfrm>
            <a:off x="406400" y="342900"/>
            <a:ext cx="11176000" cy="487313"/>
          </a:xfrm>
          <a:prstGeom prst="rect">
            <a:avLst/>
          </a:prstGeom>
          <a:noFill/>
        </p:spPr>
        <p:txBody>
          <a:bodyPr vert="horz" wrap="square" lIns="101600" tIns="50800" rIns="101600" bIns="50800" rtlCol="0">
            <a:spAutoFit/>
          </a:bodyPr>
          <a:lstStyle/>
          <a:p>
            <a:r>
              <a:rPr lang="it-IT" sz="2500" b="1">
                <a:solidFill>
                  <a:srgbClr val="FFFFFF"/>
                </a:solidFill>
                <a:latin typeface="Aptos" panose="020B0004020202020204" pitchFamily="34" charset="0"/>
              </a:rPr>
              <a:t>Scenario 02: Dump SAM Registry Hive via reg save</a:t>
            </a:r>
            <a:endParaRPr lang="en-US" sz="2500" b="1">
              <a:solidFill>
                <a:srgbClr val="FFFFFF"/>
              </a:solidFill>
              <a:latin typeface="Aptos" panose="020B0004020202020204" pitchFamily="34" charset="0"/>
            </a:endParaRP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486ED802-EA77-A182-A47A-1F599025515D}"/>
              </a:ext>
            </a:extLst>
          </p:cNvPr>
          <p:cNvSpPr txBox="1"/>
          <p:nvPr/>
        </p:nvSpPr>
        <p:spPr>
          <a:xfrm>
            <a:off x="685800" y="1333500"/>
            <a:ext cx="10795000" cy="1579920"/>
          </a:xfrm>
          <a:prstGeom prst="rect">
            <a:avLst/>
          </a:prstGeom>
          <a:noFill/>
        </p:spPr>
        <p:txBody>
          <a:bodyPr vert="horz" wrap="square" lIns="101600" tIns="50800" rIns="101600" bIns="50800" rtlCol="0">
            <a:spAutoFit/>
          </a:bodyPr>
          <a:lstStyle/>
          <a:p>
            <a:pPr>
              <a:spcAft>
                <a:spcPts val="800"/>
              </a:spcAft>
            </a:pPr>
            <a:r>
              <a:rPr lang="en-US" sz="1900">
                <a:solidFill>
                  <a:srgbClr val="111111"/>
                </a:solidFill>
                <a:latin typeface="Aptos" panose="020B0004020202020204" pitchFamily="34" charset="0"/>
              </a:rPr>
              <a:t>- The attacker tries to save the local SAM registry hive from the command line.</a:t>
            </a:r>
          </a:p>
          <a:p>
            <a:pPr>
              <a:spcAft>
                <a:spcPts val="800"/>
              </a:spcAft>
            </a:pPr>
            <a:r>
              <a:rPr lang="en-US" sz="1900">
                <a:solidFill>
                  <a:srgbClr val="111111"/>
                </a:solidFill>
                <a:latin typeface="Aptos" panose="020B0004020202020204" pitchFamily="34" charset="0"/>
              </a:rPr>
              <a:t>- KQL skill: has_all for multi-clue command-line behavior</a:t>
            </a:r>
          </a:p>
          <a:p>
            <a:pPr>
              <a:spcAft>
                <a:spcPts val="800"/>
              </a:spcAft>
            </a:pPr>
            <a:r>
              <a:rPr lang="en-US" sz="1900">
                <a:solidFill>
                  <a:srgbClr val="111111"/>
                </a:solidFill>
                <a:latin typeface="Aptos" panose="020B0004020202020204" pitchFamily="34" charset="0"/>
              </a:rPr>
              <a:t>- Student flow: read the brief, learn the query idea, build it slowly, then answer the challenge.</a:t>
            </a:r>
          </a:p>
          <a:p>
            <a:pPr>
              <a:spcAft>
                <a:spcPts val="800"/>
              </a:spcAft>
            </a:pPr>
            <a:r>
              <a:rPr lang="en-US" sz="1900">
                <a:solidFill>
                  <a:srgbClr val="111111"/>
                </a:solidFill>
                <a:latin typeface="Aptos" panose="020B0004020202020204" pitchFamily="34" charset="0"/>
              </a:rPr>
              <a:t>- Instructor reminder: do not show the full query until students have tried the build steps.</a:t>
            </a:r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E02066D8-E94D-2F97-1CA2-4F65A5E09DDF}"/>
              </a:ext>
            </a:extLst>
          </p:cNvPr>
          <p:cNvSpPr/>
          <p:nvPr/>
        </p:nvSpPr>
        <p:spPr>
          <a:xfrm>
            <a:off x="889000" y="5130800"/>
            <a:ext cx="10033000" cy="762000"/>
          </a:xfrm>
          <a:prstGeom prst="rect">
            <a:avLst/>
          </a:prstGeom>
          <a:solidFill>
            <a:srgbClr val="FFF6E5"/>
          </a:solidFill>
          <a:ln w="12700">
            <a:solidFill>
              <a:srgbClr val="7FA9DA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47EDCEC0-D5DE-1A98-A8E6-04C433308153}"/>
              </a:ext>
            </a:extLst>
          </p:cNvPr>
          <p:cNvSpPr txBox="1"/>
          <p:nvPr/>
        </p:nvSpPr>
        <p:spPr>
          <a:xfrm>
            <a:off x="1016000" y="5232400"/>
            <a:ext cx="9779000" cy="348813"/>
          </a:xfrm>
          <a:prstGeom prst="rect">
            <a:avLst/>
          </a:prstGeom>
          <a:noFill/>
        </p:spPr>
        <p:txBody>
          <a:bodyPr vert="horz" wrap="square" lIns="101600" tIns="50800" rIns="101600" bIns="50800" rtlCol="0">
            <a:spAutoFit/>
          </a:bodyPr>
          <a:lstStyle/>
          <a:p>
            <a:r>
              <a:rPr lang="en-US" sz="1600" b="1">
                <a:solidFill>
                  <a:srgbClr val="15375F"/>
                </a:solidFill>
                <a:latin typeface="Aptos" panose="020B0004020202020204" pitchFamily="34" charset="0"/>
              </a:rPr>
              <a:t>CTF challenge: Where did the attacker try to save the SAM hive?</a:t>
            </a:r>
          </a:p>
        </p:txBody>
      </p:sp>
    </p:spTree>
    <p:extLst>
      <p:ext uri="{BB962C8B-B14F-4D97-AF65-F5344CB8AC3E}">
        <p14:creationId xmlns:p14="http://schemas.microsoft.com/office/powerpoint/2010/main" val="1475298615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>
            <a:extLst>
              <a:ext uri="{FF2B5EF4-FFF2-40B4-BE49-F238E27FC236}">
                <a16:creationId xmlns:a16="http://schemas.microsoft.com/office/drawing/2014/main" id="{7FC5EC45-BA06-CF75-DC29-EF83473EC885}"/>
              </a:ext>
            </a:extLst>
          </p:cNvPr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98851DBD-750E-6669-F253-F6D494F9BEED}"/>
              </a:ext>
            </a:extLst>
          </p:cNvPr>
          <p:cNvSpPr/>
          <p:nvPr/>
        </p:nvSpPr>
        <p:spPr>
          <a:xfrm>
            <a:off x="0" y="0"/>
            <a:ext cx="12192000" cy="939800"/>
          </a:xfrm>
          <a:prstGeom prst="rect">
            <a:avLst/>
          </a:prstGeom>
          <a:solidFill>
            <a:srgbClr val="243F68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A0CF7F88-A9C1-09C0-F52B-54F7A4EC17CD}"/>
              </a:ext>
            </a:extLst>
          </p:cNvPr>
          <p:cNvSpPr txBox="1"/>
          <p:nvPr/>
        </p:nvSpPr>
        <p:spPr>
          <a:xfrm>
            <a:off x="406400" y="127000"/>
            <a:ext cx="11176000" cy="241092"/>
          </a:xfrm>
          <a:prstGeom prst="rect">
            <a:avLst/>
          </a:prstGeom>
          <a:noFill/>
        </p:spPr>
        <p:txBody>
          <a:bodyPr vert="horz" wrap="square" lIns="101600" tIns="50800" rIns="101600" bIns="50800" rtlCol="0">
            <a:spAutoFit/>
          </a:bodyPr>
          <a:lstStyle/>
          <a:p>
            <a:r>
              <a:rPr lang="en-US" sz="900" b="1">
                <a:solidFill>
                  <a:srgbClr val="BFD7FF"/>
                </a:solidFill>
                <a:latin typeface="Aptos" panose="020B0004020202020204" pitchFamily="34" charset="0"/>
              </a:rPr>
              <a:t>DUMP SAM REGISTRY HIVE VIA REG SAVE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A6DD85D7-2D0D-C475-7D68-E823AEFED770}"/>
              </a:ext>
            </a:extLst>
          </p:cNvPr>
          <p:cNvSpPr txBox="1"/>
          <p:nvPr/>
        </p:nvSpPr>
        <p:spPr>
          <a:xfrm>
            <a:off x="406400" y="342900"/>
            <a:ext cx="11176000" cy="487313"/>
          </a:xfrm>
          <a:prstGeom prst="rect">
            <a:avLst/>
          </a:prstGeom>
          <a:noFill/>
        </p:spPr>
        <p:txBody>
          <a:bodyPr vert="horz" wrap="square" lIns="101600" tIns="50800" rIns="101600" bIns="50800" rtlCol="0">
            <a:spAutoFit/>
          </a:bodyPr>
          <a:lstStyle/>
          <a:p>
            <a:r>
              <a:rPr lang="en-US" sz="2500" b="1">
                <a:solidFill>
                  <a:srgbClr val="FFFFFF"/>
                </a:solidFill>
                <a:latin typeface="Aptos" panose="020B0004020202020204" pitchFamily="34" charset="0"/>
              </a:rPr>
              <a:t>Scenario 02: Build It Slowly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8597E5BD-AF3E-2F18-10AA-3C8EC945B13F}"/>
              </a:ext>
            </a:extLst>
          </p:cNvPr>
          <p:cNvSpPr txBox="1"/>
          <p:nvPr/>
        </p:nvSpPr>
        <p:spPr>
          <a:xfrm>
            <a:off x="685800" y="1371600"/>
            <a:ext cx="5461000" cy="1518364"/>
          </a:xfrm>
          <a:prstGeom prst="rect">
            <a:avLst/>
          </a:prstGeom>
          <a:noFill/>
        </p:spPr>
        <p:txBody>
          <a:bodyPr vert="horz" wrap="square" lIns="101600" tIns="50800" rIns="101600" bIns="50800" rtlCol="0">
            <a:spAutoFit/>
          </a:bodyPr>
          <a:lstStyle/>
          <a:p>
            <a:pPr>
              <a:spcAft>
                <a:spcPts val="800"/>
              </a:spcAft>
            </a:pPr>
            <a:r>
              <a:rPr lang="en-US">
                <a:solidFill>
                  <a:srgbClr val="111111"/>
                </a:solidFill>
                <a:latin typeface="Aptos" panose="020B0004020202020204" pitchFamily="34" charset="0"/>
              </a:rPr>
              <a:t>- Start in DeviceProcessEvents.</a:t>
            </a:r>
          </a:p>
          <a:p>
            <a:pPr>
              <a:spcAft>
                <a:spcPts val="800"/>
              </a:spcAft>
            </a:pPr>
            <a:r>
              <a:rPr lang="en-US">
                <a:solidFill>
                  <a:srgbClr val="111111"/>
                </a:solidFill>
                <a:latin typeface="Aptos" panose="020B0004020202020204" pitchFamily="34" charset="0"/>
              </a:rPr>
              <a:t>- Search ProcessCommandLine for reg save.</a:t>
            </a:r>
          </a:p>
          <a:p>
            <a:pPr>
              <a:spcAft>
                <a:spcPts val="800"/>
              </a:spcAft>
            </a:pPr>
            <a:r>
              <a:rPr lang="en-US">
                <a:solidFill>
                  <a:srgbClr val="111111"/>
                </a:solidFill>
                <a:latin typeface="Aptos" panose="020B0004020202020204" pitchFamily="34" charset="0"/>
              </a:rPr>
              <a:t>- Require hklm\\sam with has_all.</a:t>
            </a:r>
          </a:p>
          <a:p>
            <a:pPr>
              <a:spcAft>
                <a:spcPts val="800"/>
              </a:spcAft>
            </a:pPr>
            <a:r>
              <a:rPr lang="en-US">
                <a:solidFill>
                  <a:srgbClr val="111111"/>
                </a:solidFill>
                <a:latin typeface="Aptos" panose="020B0004020202020204" pitchFamily="34" charset="0"/>
              </a:rPr>
              <a:t>- Read the output path from the command line.</a:t>
            </a:r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9EA92359-DDD9-91C4-5139-D3EDEB83509C}"/>
              </a:ext>
            </a:extLst>
          </p:cNvPr>
          <p:cNvSpPr/>
          <p:nvPr/>
        </p:nvSpPr>
        <p:spPr>
          <a:xfrm>
            <a:off x="6604000" y="1397000"/>
            <a:ext cx="4508500" cy="3111500"/>
          </a:xfrm>
          <a:prstGeom prst="rect">
            <a:avLst/>
          </a:prstGeom>
          <a:solidFill>
            <a:srgbClr val="F4F7FB"/>
          </a:solidFill>
          <a:ln w="12700">
            <a:solidFill>
              <a:srgbClr val="D6E0EF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3D7942FF-EE48-BA55-C96E-E138797BFF8C}"/>
              </a:ext>
            </a:extLst>
          </p:cNvPr>
          <p:cNvSpPr txBox="1"/>
          <p:nvPr/>
        </p:nvSpPr>
        <p:spPr>
          <a:xfrm>
            <a:off x="6756400" y="1524000"/>
            <a:ext cx="4203700" cy="1456809"/>
          </a:xfrm>
          <a:prstGeom prst="rect">
            <a:avLst/>
          </a:prstGeom>
          <a:noFill/>
        </p:spPr>
        <p:txBody>
          <a:bodyPr vert="horz" wrap="square" lIns="101600" tIns="50800" rIns="101600" bIns="50800" rtlCol="0">
            <a:spAutoFit/>
          </a:bodyPr>
          <a:lstStyle/>
          <a:p>
            <a:r>
              <a:rPr lang="en-US" sz="1100">
                <a:solidFill>
                  <a:srgbClr val="0B1F3A"/>
                </a:solidFill>
                <a:latin typeface="Cascadia Mono" panose="020B0609020000020004" pitchFamily="49" charset="0"/>
              </a:rPr>
              <a:t>let TargetDevice = "usm262346";</a:t>
            </a:r>
          </a:p>
          <a:p>
            <a:r>
              <a:rPr lang="en-US" sz="1100">
                <a:solidFill>
                  <a:srgbClr val="0B1F3A"/>
                </a:solidFill>
                <a:latin typeface="Cascadia Mono" panose="020B0609020000020004" pitchFamily="49" charset="0"/>
              </a:rPr>
              <a:t>DeviceProcessEvents</a:t>
            </a:r>
          </a:p>
          <a:p>
            <a:r>
              <a:rPr lang="en-US" sz="1100">
                <a:solidFill>
                  <a:srgbClr val="0B1F3A"/>
                </a:solidFill>
                <a:latin typeface="Cascadia Mono" panose="020B0609020000020004" pitchFamily="49" charset="0"/>
              </a:rPr>
              <a:t>| where Timestamp &gt; ago(7d)</a:t>
            </a:r>
          </a:p>
          <a:p>
            <a:r>
              <a:rPr lang="en-US" sz="1100">
                <a:solidFill>
                  <a:srgbClr val="0B1F3A"/>
                </a:solidFill>
                <a:latin typeface="Cascadia Mono" panose="020B0609020000020004" pitchFamily="49" charset="0"/>
              </a:rPr>
              <a:t>| where DeviceName == TargetDevice</a:t>
            </a:r>
          </a:p>
          <a:p>
            <a:r>
              <a:rPr lang="en-US" sz="1100">
                <a:solidFill>
                  <a:srgbClr val="0B1F3A"/>
                </a:solidFill>
                <a:latin typeface="Cascadia Mono" panose="020B0609020000020004" pitchFamily="49" charset="0"/>
              </a:rPr>
              <a:t>| where ProcessCommandLine has_all ("reg save", "hklm\\sam")</a:t>
            </a:r>
          </a:p>
          <a:p>
            <a:r>
              <a:rPr lang="en-US" sz="1100">
                <a:solidFill>
                  <a:srgbClr val="0B1F3A"/>
                </a:solidFill>
                <a:latin typeface="Cascadia Mono" panose="020B0609020000020004" pitchFamily="49" charset="0"/>
              </a:rPr>
              <a:t>| project Timestamp, FileName, ProcessCommandLine, AccountName</a:t>
            </a:r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9F7D84E9-84CC-8D16-0E16-95D0A3C2BAFA}"/>
              </a:ext>
            </a:extLst>
          </p:cNvPr>
          <p:cNvSpPr/>
          <p:nvPr/>
        </p:nvSpPr>
        <p:spPr>
          <a:xfrm>
            <a:off x="6604000" y="4851400"/>
            <a:ext cx="4508500" cy="787400"/>
          </a:xfrm>
          <a:prstGeom prst="rect">
            <a:avLst/>
          </a:prstGeom>
          <a:solidFill>
            <a:srgbClr val="EAF3FF"/>
          </a:solidFill>
          <a:ln w="12700">
            <a:solidFill>
              <a:srgbClr val="7FA9DA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9BF3D2C4-4DEC-3803-B5DD-6B3806AC5715}"/>
              </a:ext>
            </a:extLst>
          </p:cNvPr>
          <p:cNvSpPr txBox="1"/>
          <p:nvPr/>
        </p:nvSpPr>
        <p:spPr>
          <a:xfrm>
            <a:off x="6731000" y="4953000"/>
            <a:ext cx="4254500" cy="595035"/>
          </a:xfrm>
          <a:prstGeom prst="rect">
            <a:avLst/>
          </a:prstGeom>
          <a:noFill/>
        </p:spPr>
        <p:txBody>
          <a:bodyPr vert="horz" wrap="square" lIns="101600" tIns="50800" rIns="101600" bIns="50800" rtlCol="0">
            <a:spAutoFit/>
          </a:bodyPr>
          <a:lstStyle/>
          <a:p>
            <a:r>
              <a:rPr lang="en-US" sz="1600" b="1">
                <a:solidFill>
                  <a:srgbClr val="15375F"/>
                </a:solidFill>
                <a:latin typeface="Aptos" panose="020B0004020202020204" pitchFamily="34" charset="0"/>
              </a:rPr>
              <a:t>Ask: which table, which filter, which proof columns?</a:t>
            </a:r>
          </a:p>
        </p:txBody>
      </p:sp>
    </p:spTree>
    <p:extLst>
      <p:ext uri="{BB962C8B-B14F-4D97-AF65-F5344CB8AC3E}">
        <p14:creationId xmlns:p14="http://schemas.microsoft.com/office/powerpoint/2010/main" val="1759695071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>
            <a:extLst>
              <a:ext uri="{FF2B5EF4-FFF2-40B4-BE49-F238E27FC236}">
                <a16:creationId xmlns:a16="http://schemas.microsoft.com/office/drawing/2014/main" id="{4DD76C7F-95EA-3012-7581-46F593589A45}"/>
              </a:ext>
            </a:extLst>
          </p:cNvPr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5A9B45C4-D416-8B80-20DA-C373EF58F305}"/>
              </a:ext>
            </a:extLst>
          </p:cNvPr>
          <p:cNvSpPr/>
          <p:nvPr/>
        </p:nvSpPr>
        <p:spPr>
          <a:xfrm>
            <a:off x="0" y="0"/>
            <a:ext cx="12192000" cy="939800"/>
          </a:xfrm>
          <a:prstGeom prst="rect">
            <a:avLst/>
          </a:prstGeom>
          <a:solidFill>
            <a:srgbClr val="243F68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32A0C10B-6700-B6C0-9457-80315A8DC9E5}"/>
              </a:ext>
            </a:extLst>
          </p:cNvPr>
          <p:cNvSpPr txBox="1"/>
          <p:nvPr/>
        </p:nvSpPr>
        <p:spPr>
          <a:xfrm>
            <a:off x="406400" y="127000"/>
            <a:ext cx="11176000" cy="241092"/>
          </a:xfrm>
          <a:prstGeom prst="rect">
            <a:avLst/>
          </a:prstGeom>
          <a:noFill/>
        </p:spPr>
        <p:txBody>
          <a:bodyPr vert="horz" wrap="square" lIns="101600" tIns="50800" rIns="101600" bIns="50800" rtlCol="0">
            <a:spAutoFit/>
          </a:bodyPr>
          <a:lstStyle/>
          <a:p>
            <a:r>
              <a:rPr lang="en-US" sz="900" b="1">
                <a:solidFill>
                  <a:srgbClr val="BFD7FF"/>
                </a:solidFill>
                <a:latin typeface="Aptos" panose="020B0004020202020204" pitchFamily="34" charset="0"/>
              </a:rPr>
              <a:t>CHECK YOUR WORK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FE622A51-A254-5348-B889-0298E2ABD9CD}"/>
              </a:ext>
            </a:extLst>
          </p:cNvPr>
          <p:cNvSpPr txBox="1"/>
          <p:nvPr/>
        </p:nvSpPr>
        <p:spPr>
          <a:xfrm>
            <a:off x="406400" y="342900"/>
            <a:ext cx="11176000" cy="487313"/>
          </a:xfrm>
          <a:prstGeom prst="rect">
            <a:avLst/>
          </a:prstGeom>
          <a:noFill/>
        </p:spPr>
        <p:txBody>
          <a:bodyPr vert="horz" wrap="square" lIns="101600" tIns="50800" rIns="101600" bIns="50800" rtlCol="0">
            <a:spAutoFit/>
          </a:bodyPr>
          <a:lstStyle/>
          <a:p>
            <a:r>
              <a:rPr lang="en-US" sz="2500" b="1">
                <a:solidFill>
                  <a:srgbClr val="FFFFFF"/>
                </a:solidFill>
                <a:latin typeface="Aptos" panose="020B0004020202020204" pitchFamily="34" charset="0"/>
              </a:rPr>
              <a:t>Scenario 02: Answer Key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1D9863D0-EE49-3102-3B15-9555346D8C99}"/>
              </a:ext>
            </a:extLst>
          </p:cNvPr>
          <p:cNvSpPr txBox="1"/>
          <p:nvPr/>
        </p:nvSpPr>
        <p:spPr>
          <a:xfrm>
            <a:off x="685800" y="1371600"/>
            <a:ext cx="10414000" cy="410369"/>
          </a:xfrm>
          <a:prstGeom prst="rect">
            <a:avLst/>
          </a:prstGeom>
          <a:noFill/>
        </p:spPr>
        <p:txBody>
          <a:bodyPr vert="horz" wrap="square" lIns="101600" tIns="50800" rIns="101600" bIns="50800" rtlCol="0">
            <a:spAutoFit/>
          </a:bodyPr>
          <a:lstStyle/>
          <a:p>
            <a:r>
              <a:rPr lang="en-US" sz="2000" b="1">
                <a:solidFill>
                  <a:srgbClr val="243F68"/>
                </a:solidFill>
                <a:latin typeface="Aptos" panose="020B0004020202020204" pitchFamily="34" charset="0"/>
              </a:rPr>
              <a:t>Challenge: Where did the attacker try to save the SAM hive?</a:t>
            </a:r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19007670-D386-4918-03CA-C0F784D08D35}"/>
              </a:ext>
            </a:extLst>
          </p:cNvPr>
          <p:cNvSpPr/>
          <p:nvPr/>
        </p:nvSpPr>
        <p:spPr>
          <a:xfrm>
            <a:off x="685800" y="2336800"/>
            <a:ext cx="10414000" cy="1206500"/>
          </a:xfrm>
          <a:prstGeom prst="rect">
            <a:avLst/>
          </a:prstGeom>
          <a:solidFill>
            <a:srgbClr val="EEF7ED"/>
          </a:solidFill>
          <a:ln w="12700">
            <a:solidFill>
              <a:srgbClr val="7FA9DA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3085EBF7-3ECB-483C-0AAB-491D160D25FF}"/>
              </a:ext>
            </a:extLst>
          </p:cNvPr>
          <p:cNvSpPr txBox="1"/>
          <p:nvPr/>
        </p:nvSpPr>
        <p:spPr>
          <a:xfrm>
            <a:off x="812800" y="2438400"/>
            <a:ext cx="10160000" cy="595035"/>
          </a:xfrm>
          <a:prstGeom prst="rect">
            <a:avLst/>
          </a:prstGeom>
          <a:noFill/>
        </p:spPr>
        <p:txBody>
          <a:bodyPr vert="horz" wrap="square" lIns="101600" tIns="50800" rIns="101600" bIns="50800" rtlCol="0">
            <a:spAutoFit/>
          </a:bodyPr>
          <a:lstStyle/>
          <a:p>
            <a:r>
              <a:rPr lang="en-US" sz="1600" b="1">
                <a:solidFill>
                  <a:srgbClr val="15375F"/>
                </a:solidFill>
                <a:latin typeface="Aptos" panose="020B0004020202020204" pitchFamily="34" charset="0"/>
              </a:rPr>
              <a:t>The command attempted: reg save hklm\sam C:\Users\xadmin\AppData\Local\Temp\sam. Defender also produced RegistryExfil prevention evidence.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5FBA75BD-B0F1-8C6D-C1D2-1F853400BC78}"/>
              </a:ext>
            </a:extLst>
          </p:cNvPr>
          <p:cNvSpPr txBox="1"/>
          <p:nvPr/>
        </p:nvSpPr>
        <p:spPr>
          <a:xfrm>
            <a:off x="914400" y="3937000"/>
            <a:ext cx="10033000" cy="1456809"/>
          </a:xfrm>
          <a:prstGeom prst="rect">
            <a:avLst/>
          </a:prstGeom>
          <a:noFill/>
        </p:spPr>
        <p:txBody>
          <a:bodyPr vert="horz" wrap="square" lIns="101600" tIns="50800" rIns="101600" bIns="50800" rtlCol="0">
            <a:spAutoFit/>
          </a:bodyPr>
          <a:lstStyle/>
          <a:p>
            <a:pPr>
              <a:spcAft>
                <a:spcPts val="800"/>
              </a:spcAft>
            </a:pPr>
            <a:r>
              <a:rPr lang="en-US" sz="1700">
                <a:solidFill>
                  <a:srgbClr val="111111"/>
                </a:solidFill>
                <a:latin typeface="Aptos" panose="020B0004020202020204" pitchFamily="34" charset="0"/>
              </a:rPr>
              <a:t>- How the KQL finds it: start with the table most likely to hold the evidence.</a:t>
            </a:r>
          </a:p>
          <a:p>
            <a:pPr>
              <a:spcAft>
                <a:spcPts val="800"/>
              </a:spcAft>
            </a:pPr>
            <a:r>
              <a:rPr lang="en-US" sz="1700">
                <a:solidFill>
                  <a:srgbClr val="111111"/>
                </a:solidFill>
                <a:latin typeface="Aptos" panose="020B0004020202020204" pitchFamily="34" charset="0"/>
              </a:rPr>
              <a:t>- Use where filters to reduce to the device, time, and scenario clue.</a:t>
            </a:r>
          </a:p>
          <a:p>
            <a:pPr>
              <a:spcAft>
                <a:spcPts val="800"/>
              </a:spcAft>
            </a:pPr>
            <a:r>
              <a:rPr lang="en-US" sz="1700">
                <a:solidFill>
                  <a:srgbClr val="111111"/>
                </a:solidFill>
                <a:latin typeface="Aptos" panose="020B0004020202020204" pitchFamily="34" charset="0"/>
              </a:rPr>
              <a:t>- Use project to show only the columns that prove the answer.</a:t>
            </a:r>
          </a:p>
          <a:p>
            <a:pPr>
              <a:spcAft>
                <a:spcPts val="800"/>
              </a:spcAft>
            </a:pPr>
            <a:r>
              <a:rPr lang="en-US" sz="1700">
                <a:solidFill>
                  <a:srgbClr val="111111"/>
                </a:solidFill>
                <a:latin typeface="Aptos" panose="020B0004020202020204" pitchFamily="34" charset="0"/>
              </a:rPr>
              <a:t>- If one table is incomplete, pivot to file or alert evidence.</a:t>
            </a:r>
          </a:p>
        </p:txBody>
      </p:sp>
    </p:spTree>
    <p:extLst>
      <p:ext uri="{BB962C8B-B14F-4D97-AF65-F5344CB8AC3E}">
        <p14:creationId xmlns:p14="http://schemas.microsoft.com/office/powerpoint/2010/main" val="4149800370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>
            <a:extLst>
              <a:ext uri="{FF2B5EF4-FFF2-40B4-BE49-F238E27FC236}">
                <a16:creationId xmlns:a16="http://schemas.microsoft.com/office/drawing/2014/main" id="{BBC0E4FB-66E6-0285-6EE0-6C27E34DBB38}"/>
              </a:ext>
            </a:extLst>
          </p:cNvPr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65092774-445D-C1FC-35CA-37A7FACEC6F1}"/>
              </a:ext>
            </a:extLst>
          </p:cNvPr>
          <p:cNvSpPr/>
          <p:nvPr/>
        </p:nvSpPr>
        <p:spPr>
          <a:xfrm>
            <a:off x="0" y="0"/>
            <a:ext cx="12192000" cy="939800"/>
          </a:xfrm>
          <a:prstGeom prst="rect">
            <a:avLst/>
          </a:prstGeom>
          <a:solidFill>
            <a:srgbClr val="243F68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1A7FAA3B-9AED-FF98-7545-D573451B03AF}"/>
              </a:ext>
            </a:extLst>
          </p:cNvPr>
          <p:cNvSpPr txBox="1"/>
          <p:nvPr/>
        </p:nvSpPr>
        <p:spPr>
          <a:xfrm>
            <a:off x="406400" y="127000"/>
            <a:ext cx="11176000" cy="241092"/>
          </a:xfrm>
          <a:prstGeom prst="rect">
            <a:avLst/>
          </a:prstGeom>
          <a:noFill/>
        </p:spPr>
        <p:txBody>
          <a:bodyPr vert="horz" wrap="square" lIns="101600" tIns="50800" rIns="101600" bIns="50800" rtlCol="0">
            <a:spAutoFit/>
          </a:bodyPr>
          <a:lstStyle/>
          <a:p>
            <a:r>
              <a:rPr lang="en-US" sz="900" b="1">
                <a:solidFill>
                  <a:srgbClr val="BFD7FF"/>
                </a:solidFill>
                <a:latin typeface="Aptos" panose="020B0004020202020204" pitchFamily="34" charset="0"/>
              </a:rPr>
              <a:t>SCENARIO BRIEF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70C92C7B-A5ED-072F-F3F2-50511B36DA6D}"/>
              </a:ext>
            </a:extLst>
          </p:cNvPr>
          <p:cNvSpPr txBox="1"/>
          <p:nvPr/>
        </p:nvSpPr>
        <p:spPr>
          <a:xfrm>
            <a:off x="406400" y="342900"/>
            <a:ext cx="11176000" cy="487313"/>
          </a:xfrm>
          <a:prstGeom prst="rect">
            <a:avLst/>
          </a:prstGeom>
          <a:noFill/>
        </p:spPr>
        <p:txBody>
          <a:bodyPr vert="horz" wrap="square" lIns="101600" tIns="50800" rIns="101600" bIns="50800" rtlCol="0">
            <a:spAutoFit/>
          </a:bodyPr>
          <a:lstStyle/>
          <a:p>
            <a:r>
              <a:rPr lang="en-US" sz="2500" b="1">
                <a:solidFill>
                  <a:srgbClr val="FFFFFF"/>
                </a:solidFill>
                <a:latin typeface="Aptos" panose="020B0004020202020204" pitchFamily="34" charset="0"/>
              </a:rPr>
              <a:t>Scenario 03: Browser Data via Esentutl and PowerShell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45936109-9826-518E-7BD0-A449ECB3B3DF}"/>
              </a:ext>
            </a:extLst>
          </p:cNvPr>
          <p:cNvSpPr txBox="1"/>
          <p:nvPr/>
        </p:nvSpPr>
        <p:spPr>
          <a:xfrm>
            <a:off x="685800" y="1333500"/>
            <a:ext cx="10795000" cy="1579920"/>
          </a:xfrm>
          <a:prstGeom prst="rect">
            <a:avLst/>
          </a:prstGeom>
          <a:noFill/>
        </p:spPr>
        <p:txBody>
          <a:bodyPr vert="horz" wrap="square" lIns="101600" tIns="50800" rIns="101600" bIns="50800" rtlCol="0">
            <a:spAutoFit/>
          </a:bodyPr>
          <a:lstStyle/>
          <a:p>
            <a:pPr>
              <a:spcAft>
                <a:spcPts val="800"/>
              </a:spcAft>
            </a:pPr>
            <a:r>
              <a:rPr lang="en-US" sz="1900">
                <a:solidFill>
                  <a:srgbClr val="111111"/>
                </a:solidFill>
                <a:latin typeface="Aptos" panose="020B0004020202020204" pitchFamily="34" charset="0"/>
              </a:rPr>
              <a:t>- PowerShell launches a script and esentutl.exe works with browser/WebCache data.</a:t>
            </a:r>
          </a:p>
          <a:p>
            <a:pPr>
              <a:spcAft>
                <a:spcPts val="800"/>
              </a:spcAft>
            </a:pPr>
            <a:r>
              <a:rPr lang="en-US" sz="1900">
                <a:solidFill>
                  <a:srgbClr val="111111"/>
                </a:solidFill>
                <a:latin typeface="Aptos" panose="020B0004020202020204" pitchFamily="34" charset="0"/>
              </a:rPr>
              <a:t>- KQL skill: Parent-child process pivots</a:t>
            </a:r>
          </a:p>
          <a:p>
            <a:pPr>
              <a:spcAft>
                <a:spcPts val="800"/>
              </a:spcAft>
            </a:pPr>
            <a:r>
              <a:rPr lang="en-US" sz="1900">
                <a:solidFill>
                  <a:srgbClr val="111111"/>
                </a:solidFill>
                <a:latin typeface="Aptos" panose="020B0004020202020204" pitchFamily="34" charset="0"/>
              </a:rPr>
              <a:t>- Student flow: read the brief, learn the query idea, build it slowly, then answer the challenge.</a:t>
            </a:r>
          </a:p>
          <a:p>
            <a:pPr>
              <a:spcAft>
                <a:spcPts val="800"/>
              </a:spcAft>
            </a:pPr>
            <a:r>
              <a:rPr lang="en-US" sz="1900">
                <a:solidFill>
                  <a:srgbClr val="111111"/>
                </a:solidFill>
                <a:latin typeface="Aptos" panose="020B0004020202020204" pitchFamily="34" charset="0"/>
              </a:rPr>
              <a:t>- Instructor reminder: do not show the full query until students have tried the build steps.</a:t>
            </a:r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4535258E-E9D0-145F-4553-CC48F1D3F8C1}"/>
              </a:ext>
            </a:extLst>
          </p:cNvPr>
          <p:cNvSpPr/>
          <p:nvPr/>
        </p:nvSpPr>
        <p:spPr>
          <a:xfrm>
            <a:off x="889000" y="5130800"/>
            <a:ext cx="10033000" cy="762000"/>
          </a:xfrm>
          <a:prstGeom prst="rect">
            <a:avLst/>
          </a:prstGeom>
          <a:solidFill>
            <a:srgbClr val="FFF6E5"/>
          </a:solidFill>
          <a:ln w="12700">
            <a:solidFill>
              <a:srgbClr val="7FA9DA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78EED55D-D761-F945-7452-EFABCD978DA5}"/>
              </a:ext>
            </a:extLst>
          </p:cNvPr>
          <p:cNvSpPr txBox="1"/>
          <p:nvPr/>
        </p:nvSpPr>
        <p:spPr>
          <a:xfrm>
            <a:off x="1016000" y="5232400"/>
            <a:ext cx="9779000" cy="348813"/>
          </a:xfrm>
          <a:prstGeom prst="rect">
            <a:avLst/>
          </a:prstGeom>
          <a:noFill/>
        </p:spPr>
        <p:txBody>
          <a:bodyPr vert="horz" wrap="square" lIns="101600" tIns="50800" rIns="101600" bIns="50800" rtlCol="0">
            <a:spAutoFit/>
          </a:bodyPr>
          <a:lstStyle/>
          <a:p>
            <a:r>
              <a:rPr lang="en-US" sz="1600" b="1">
                <a:solidFill>
                  <a:srgbClr val="15375F"/>
                </a:solidFill>
                <a:latin typeface="Aptos" panose="020B0004020202020204" pitchFamily="34" charset="0"/>
              </a:rPr>
              <a:t>CTF challenge: Which process launched esentutl.exe, and what cache path was targeted?</a:t>
            </a:r>
          </a:p>
        </p:txBody>
      </p:sp>
    </p:spTree>
    <p:extLst>
      <p:ext uri="{BB962C8B-B14F-4D97-AF65-F5344CB8AC3E}">
        <p14:creationId xmlns:p14="http://schemas.microsoft.com/office/powerpoint/2010/main" val="3308291309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>
            <a:extLst>
              <a:ext uri="{FF2B5EF4-FFF2-40B4-BE49-F238E27FC236}">
                <a16:creationId xmlns:a16="http://schemas.microsoft.com/office/drawing/2014/main" id="{E6DBC3F5-08C8-784E-1E57-06E923576466}"/>
              </a:ext>
            </a:extLst>
          </p:cNvPr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5E2744B9-D379-0AA6-A75B-DEB583F64810}"/>
              </a:ext>
            </a:extLst>
          </p:cNvPr>
          <p:cNvSpPr/>
          <p:nvPr/>
        </p:nvSpPr>
        <p:spPr>
          <a:xfrm>
            <a:off x="0" y="0"/>
            <a:ext cx="12192000" cy="939800"/>
          </a:xfrm>
          <a:prstGeom prst="rect">
            <a:avLst/>
          </a:prstGeom>
          <a:solidFill>
            <a:srgbClr val="243F68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D89B35EB-AFA8-562E-C218-9A6A43F1D585}"/>
              </a:ext>
            </a:extLst>
          </p:cNvPr>
          <p:cNvSpPr txBox="1"/>
          <p:nvPr/>
        </p:nvSpPr>
        <p:spPr>
          <a:xfrm>
            <a:off x="406400" y="127000"/>
            <a:ext cx="11176000" cy="241092"/>
          </a:xfrm>
          <a:prstGeom prst="rect">
            <a:avLst/>
          </a:prstGeom>
          <a:noFill/>
        </p:spPr>
        <p:txBody>
          <a:bodyPr vert="horz" wrap="square" lIns="101600" tIns="50800" rIns="101600" bIns="50800" rtlCol="0">
            <a:spAutoFit/>
          </a:bodyPr>
          <a:lstStyle/>
          <a:p>
            <a:r>
              <a:rPr lang="en-US" sz="900" b="1">
                <a:solidFill>
                  <a:srgbClr val="BFD7FF"/>
                </a:solidFill>
                <a:latin typeface="Aptos" panose="020B0004020202020204" pitchFamily="34" charset="0"/>
              </a:rPr>
              <a:t>BROWSER DATA VIA ESENTUTL AND POWERSHELL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0B2EB332-04FA-B7E6-9E54-DCA4509CFA59}"/>
              </a:ext>
            </a:extLst>
          </p:cNvPr>
          <p:cNvSpPr txBox="1"/>
          <p:nvPr/>
        </p:nvSpPr>
        <p:spPr>
          <a:xfrm>
            <a:off x="406400" y="342900"/>
            <a:ext cx="11176000" cy="487313"/>
          </a:xfrm>
          <a:prstGeom prst="rect">
            <a:avLst/>
          </a:prstGeom>
          <a:noFill/>
        </p:spPr>
        <p:txBody>
          <a:bodyPr vert="horz" wrap="square" lIns="101600" tIns="50800" rIns="101600" bIns="50800" rtlCol="0">
            <a:spAutoFit/>
          </a:bodyPr>
          <a:lstStyle/>
          <a:p>
            <a:r>
              <a:rPr lang="en-US" sz="2500" b="1">
                <a:solidFill>
                  <a:srgbClr val="FFFFFF"/>
                </a:solidFill>
                <a:latin typeface="Aptos" panose="020B0004020202020204" pitchFamily="34" charset="0"/>
              </a:rPr>
              <a:t>Scenario 03: Build It Slowly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7B0C1AB0-B093-2C55-4B38-7634D897EAA4}"/>
              </a:ext>
            </a:extLst>
          </p:cNvPr>
          <p:cNvSpPr txBox="1"/>
          <p:nvPr/>
        </p:nvSpPr>
        <p:spPr>
          <a:xfrm>
            <a:off x="685800" y="1371600"/>
            <a:ext cx="5461000" cy="2072362"/>
          </a:xfrm>
          <a:prstGeom prst="rect">
            <a:avLst/>
          </a:prstGeom>
          <a:noFill/>
        </p:spPr>
        <p:txBody>
          <a:bodyPr vert="horz" wrap="square" lIns="101600" tIns="50800" rIns="101600" bIns="50800" rtlCol="0">
            <a:spAutoFit/>
          </a:bodyPr>
          <a:lstStyle/>
          <a:p>
            <a:pPr>
              <a:spcAft>
                <a:spcPts val="800"/>
              </a:spcAft>
            </a:pPr>
            <a:r>
              <a:rPr lang="en-US">
                <a:solidFill>
                  <a:srgbClr val="111111"/>
                </a:solidFill>
                <a:latin typeface="Aptos" panose="020B0004020202020204" pitchFamily="34" charset="0"/>
              </a:rPr>
              <a:t>- Search for powershell.exe and esentutl.exe.</a:t>
            </a:r>
          </a:p>
          <a:p>
            <a:pPr>
              <a:spcAft>
                <a:spcPts val="800"/>
              </a:spcAft>
            </a:pPr>
            <a:r>
              <a:rPr lang="en-US">
                <a:solidFill>
                  <a:srgbClr val="111111"/>
                </a:solidFill>
                <a:latin typeface="Aptos" panose="020B0004020202020204" pitchFamily="34" charset="0"/>
              </a:rPr>
              <a:t>- Look for collect_database_webcache.ps1 and WebCache.</a:t>
            </a:r>
          </a:p>
          <a:p>
            <a:pPr>
              <a:spcAft>
                <a:spcPts val="800"/>
              </a:spcAft>
            </a:pPr>
            <a:r>
              <a:rPr lang="en-US">
                <a:solidFill>
                  <a:srgbClr val="111111"/>
                </a:solidFill>
                <a:latin typeface="Aptos" panose="020B0004020202020204" pitchFamily="34" charset="0"/>
              </a:rPr>
              <a:t>- Use InitiatingProcessCommandLine to explain who launched esentutl.exe.</a:t>
            </a:r>
          </a:p>
          <a:p>
            <a:pPr>
              <a:spcAft>
                <a:spcPts val="800"/>
              </a:spcAft>
            </a:pPr>
            <a:r>
              <a:rPr lang="en-US">
                <a:solidFill>
                  <a:srgbClr val="111111"/>
                </a:solidFill>
                <a:latin typeface="Aptos" panose="020B0004020202020204" pitchFamily="34" charset="0"/>
              </a:rPr>
              <a:t>- Project both child and parent command lines.</a:t>
            </a:r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DFC43547-4DD3-C028-17EC-AEE7A1D7ED61}"/>
              </a:ext>
            </a:extLst>
          </p:cNvPr>
          <p:cNvSpPr/>
          <p:nvPr/>
        </p:nvSpPr>
        <p:spPr>
          <a:xfrm>
            <a:off x="6604000" y="1397000"/>
            <a:ext cx="4508500" cy="3111500"/>
          </a:xfrm>
          <a:prstGeom prst="rect">
            <a:avLst/>
          </a:prstGeom>
          <a:solidFill>
            <a:srgbClr val="F4F7FB"/>
          </a:solidFill>
          <a:ln w="12700">
            <a:solidFill>
              <a:srgbClr val="D6E0EF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2E3B70DD-BA02-9490-47BB-26AFACB1FC1A}"/>
              </a:ext>
            </a:extLst>
          </p:cNvPr>
          <p:cNvSpPr txBox="1"/>
          <p:nvPr/>
        </p:nvSpPr>
        <p:spPr>
          <a:xfrm>
            <a:off x="6756400" y="1524000"/>
            <a:ext cx="4203700" cy="2303195"/>
          </a:xfrm>
          <a:prstGeom prst="rect">
            <a:avLst/>
          </a:prstGeom>
          <a:noFill/>
        </p:spPr>
        <p:txBody>
          <a:bodyPr vert="horz" wrap="square" lIns="101600" tIns="50800" rIns="101600" bIns="50800" rtlCol="0">
            <a:spAutoFit/>
          </a:bodyPr>
          <a:lstStyle/>
          <a:p>
            <a:r>
              <a:rPr lang="en-US" sz="1100">
                <a:solidFill>
                  <a:srgbClr val="0B1F3A"/>
                </a:solidFill>
                <a:latin typeface="Cascadia Mono" panose="020B0609020000020004" pitchFamily="49" charset="0"/>
              </a:rPr>
              <a:t>let TargetDevice = "usm262346";</a:t>
            </a:r>
          </a:p>
          <a:p>
            <a:r>
              <a:rPr lang="en-US" sz="1100">
                <a:solidFill>
                  <a:srgbClr val="0B1F3A"/>
                </a:solidFill>
                <a:latin typeface="Cascadia Mono" panose="020B0609020000020004" pitchFamily="49" charset="0"/>
              </a:rPr>
              <a:t>DeviceProcessEvents</a:t>
            </a:r>
          </a:p>
          <a:p>
            <a:r>
              <a:rPr lang="en-US" sz="1100">
                <a:solidFill>
                  <a:srgbClr val="0B1F3A"/>
                </a:solidFill>
                <a:latin typeface="Cascadia Mono" panose="020B0609020000020004" pitchFamily="49" charset="0"/>
              </a:rPr>
              <a:t>| where Timestamp &gt; ago(7d)</a:t>
            </a:r>
          </a:p>
          <a:p>
            <a:r>
              <a:rPr lang="en-US" sz="1100">
                <a:solidFill>
                  <a:srgbClr val="0B1F3A"/>
                </a:solidFill>
                <a:latin typeface="Cascadia Mono" panose="020B0609020000020004" pitchFamily="49" charset="0"/>
              </a:rPr>
              <a:t>| where DeviceName == TargetDevice</a:t>
            </a:r>
          </a:p>
          <a:p>
            <a:r>
              <a:rPr lang="en-US" sz="1100">
                <a:solidFill>
                  <a:srgbClr val="0B1F3A"/>
                </a:solidFill>
                <a:latin typeface="Cascadia Mono" panose="020B0609020000020004" pitchFamily="49" charset="0"/>
              </a:rPr>
              <a:t>| where FileName in~ ("powershell.exe", "esentutl.exe")</a:t>
            </a:r>
          </a:p>
          <a:p>
            <a:r>
              <a:rPr lang="en-US" sz="1100">
                <a:solidFill>
                  <a:srgbClr val="0B1F3A"/>
                </a:solidFill>
                <a:latin typeface="Cascadia Mono" panose="020B0609020000020004" pitchFamily="49" charset="0"/>
              </a:rPr>
              <a:t>| where ProcessCommandLine has_any ("collect_database_webcache.ps1", "esentutl", "WebCache") or InitiatingProcessCommandLine has "collect_database_webcache.ps1"</a:t>
            </a:r>
          </a:p>
          <a:p>
            <a:r>
              <a:rPr lang="en-US" sz="1100">
                <a:solidFill>
                  <a:srgbClr val="0B1F3A"/>
                </a:solidFill>
                <a:latin typeface="Cascadia Mono" panose="020B0609020000020004" pitchFamily="49" charset="0"/>
              </a:rPr>
              <a:t>| project Timestamp, FileName, ProcessCommandLine, InitiatingProcessFileName, InitiatingProcessCommandLine</a:t>
            </a:r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29FE1EC7-F03C-B0FC-CB93-C319F1008055}"/>
              </a:ext>
            </a:extLst>
          </p:cNvPr>
          <p:cNvSpPr/>
          <p:nvPr/>
        </p:nvSpPr>
        <p:spPr>
          <a:xfrm>
            <a:off x="6604000" y="4851400"/>
            <a:ext cx="4508500" cy="787400"/>
          </a:xfrm>
          <a:prstGeom prst="rect">
            <a:avLst/>
          </a:prstGeom>
          <a:solidFill>
            <a:srgbClr val="EAF3FF"/>
          </a:solidFill>
          <a:ln w="12700">
            <a:solidFill>
              <a:srgbClr val="7FA9DA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EA681117-4D02-9E9E-5394-AD15A4EAF401}"/>
              </a:ext>
            </a:extLst>
          </p:cNvPr>
          <p:cNvSpPr txBox="1"/>
          <p:nvPr/>
        </p:nvSpPr>
        <p:spPr>
          <a:xfrm>
            <a:off x="6731000" y="4953000"/>
            <a:ext cx="4254500" cy="595035"/>
          </a:xfrm>
          <a:prstGeom prst="rect">
            <a:avLst/>
          </a:prstGeom>
          <a:noFill/>
        </p:spPr>
        <p:txBody>
          <a:bodyPr vert="horz" wrap="square" lIns="101600" tIns="50800" rIns="101600" bIns="50800" rtlCol="0">
            <a:spAutoFit/>
          </a:bodyPr>
          <a:lstStyle/>
          <a:p>
            <a:r>
              <a:rPr lang="en-US" sz="1600" b="1">
                <a:solidFill>
                  <a:srgbClr val="15375F"/>
                </a:solidFill>
                <a:latin typeface="Aptos" panose="020B0004020202020204" pitchFamily="34" charset="0"/>
              </a:rPr>
              <a:t>Ask: which table, which filter, which proof columns?</a:t>
            </a:r>
          </a:p>
        </p:txBody>
      </p:sp>
    </p:spTree>
    <p:extLst>
      <p:ext uri="{BB962C8B-B14F-4D97-AF65-F5344CB8AC3E}">
        <p14:creationId xmlns:p14="http://schemas.microsoft.com/office/powerpoint/2010/main" val="2633663297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>
            <a:extLst>
              <a:ext uri="{FF2B5EF4-FFF2-40B4-BE49-F238E27FC236}">
                <a16:creationId xmlns:a16="http://schemas.microsoft.com/office/drawing/2014/main" id="{6A1AAB13-8170-B2DE-7B89-5CBC4C6CB738}"/>
              </a:ext>
            </a:extLst>
          </p:cNvPr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7E0C953E-4308-8654-69C3-6E32A353AB11}"/>
              </a:ext>
            </a:extLst>
          </p:cNvPr>
          <p:cNvSpPr/>
          <p:nvPr/>
        </p:nvSpPr>
        <p:spPr>
          <a:xfrm>
            <a:off x="0" y="0"/>
            <a:ext cx="12192000" cy="939800"/>
          </a:xfrm>
          <a:prstGeom prst="rect">
            <a:avLst/>
          </a:prstGeom>
          <a:solidFill>
            <a:srgbClr val="243F68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BA49DAF6-9C0A-CF0B-72C0-546B977F0A55}"/>
              </a:ext>
            </a:extLst>
          </p:cNvPr>
          <p:cNvSpPr txBox="1"/>
          <p:nvPr/>
        </p:nvSpPr>
        <p:spPr>
          <a:xfrm>
            <a:off x="406400" y="127000"/>
            <a:ext cx="11176000" cy="241092"/>
          </a:xfrm>
          <a:prstGeom prst="rect">
            <a:avLst/>
          </a:prstGeom>
          <a:noFill/>
        </p:spPr>
        <p:txBody>
          <a:bodyPr vert="horz" wrap="square" lIns="101600" tIns="50800" rIns="101600" bIns="50800" rtlCol="0">
            <a:spAutoFit/>
          </a:bodyPr>
          <a:lstStyle/>
          <a:p>
            <a:r>
              <a:rPr lang="en-US" sz="900" b="1">
                <a:solidFill>
                  <a:srgbClr val="BFD7FF"/>
                </a:solidFill>
                <a:latin typeface="Aptos" panose="020B0004020202020204" pitchFamily="34" charset="0"/>
              </a:rPr>
              <a:t>CHECK YOUR WORK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A80D8701-E0AA-4B99-D510-38B718054DA0}"/>
              </a:ext>
            </a:extLst>
          </p:cNvPr>
          <p:cNvSpPr txBox="1"/>
          <p:nvPr/>
        </p:nvSpPr>
        <p:spPr>
          <a:xfrm>
            <a:off x="406400" y="342900"/>
            <a:ext cx="11176000" cy="487313"/>
          </a:xfrm>
          <a:prstGeom prst="rect">
            <a:avLst/>
          </a:prstGeom>
          <a:noFill/>
        </p:spPr>
        <p:txBody>
          <a:bodyPr vert="horz" wrap="square" lIns="101600" tIns="50800" rIns="101600" bIns="50800" rtlCol="0">
            <a:spAutoFit/>
          </a:bodyPr>
          <a:lstStyle/>
          <a:p>
            <a:r>
              <a:rPr lang="en-US" sz="2500" b="1">
                <a:solidFill>
                  <a:srgbClr val="FFFFFF"/>
                </a:solidFill>
                <a:latin typeface="Aptos" panose="020B0004020202020204" pitchFamily="34" charset="0"/>
              </a:rPr>
              <a:t>Scenario 03: Answer Key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E8A76D10-7BD1-CE71-E4A2-BAB96286C861}"/>
              </a:ext>
            </a:extLst>
          </p:cNvPr>
          <p:cNvSpPr txBox="1"/>
          <p:nvPr/>
        </p:nvSpPr>
        <p:spPr>
          <a:xfrm>
            <a:off x="685800" y="1371600"/>
            <a:ext cx="10414000" cy="410369"/>
          </a:xfrm>
          <a:prstGeom prst="rect">
            <a:avLst/>
          </a:prstGeom>
          <a:noFill/>
        </p:spPr>
        <p:txBody>
          <a:bodyPr vert="horz" wrap="square" lIns="101600" tIns="50800" rIns="101600" bIns="50800" rtlCol="0">
            <a:spAutoFit/>
          </a:bodyPr>
          <a:lstStyle/>
          <a:p>
            <a:r>
              <a:rPr lang="en-US" sz="2000" b="1">
                <a:solidFill>
                  <a:srgbClr val="243F68"/>
                </a:solidFill>
                <a:latin typeface="Aptos" panose="020B0004020202020204" pitchFamily="34" charset="0"/>
              </a:rPr>
              <a:t>Challenge: Which process launched esentutl.exe, and what cache path was targeted?</a:t>
            </a:r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835580FB-5B02-7CAC-FB05-9D7D9754AFC9}"/>
              </a:ext>
            </a:extLst>
          </p:cNvPr>
          <p:cNvSpPr/>
          <p:nvPr/>
        </p:nvSpPr>
        <p:spPr>
          <a:xfrm>
            <a:off x="685800" y="2336800"/>
            <a:ext cx="10414000" cy="1206500"/>
          </a:xfrm>
          <a:prstGeom prst="rect">
            <a:avLst/>
          </a:prstGeom>
          <a:solidFill>
            <a:srgbClr val="EEF7ED"/>
          </a:solidFill>
          <a:ln w="12700">
            <a:solidFill>
              <a:srgbClr val="7FA9DA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952AF2E6-45D8-B996-7C49-06C0EE8F482C}"/>
              </a:ext>
            </a:extLst>
          </p:cNvPr>
          <p:cNvSpPr txBox="1"/>
          <p:nvPr/>
        </p:nvSpPr>
        <p:spPr>
          <a:xfrm>
            <a:off x="812800" y="2438400"/>
            <a:ext cx="10160000" cy="595035"/>
          </a:xfrm>
          <a:prstGeom prst="rect">
            <a:avLst/>
          </a:prstGeom>
          <a:noFill/>
        </p:spPr>
        <p:txBody>
          <a:bodyPr vert="horz" wrap="square" lIns="101600" tIns="50800" rIns="101600" bIns="50800" rtlCol="0">
            <a:spAutoFit/>
          </a:bodyPr>
          <a:lstStyle/>
          <a:p>
            <a:r>
              <a:rPr lang="en-US" sz="1600" b="1">
                <a:solidFill>
                  <a:srgbClr val="15375F"/>
                </a:solidFill>
                <a:latin typeface="Aptos" panose="020B0004020202020204" pitchFamily="34" charset="0"/>
              </a:rPr>
              <a:t>Parent: powershell.exe. Script: collect_database_webcache.ps1. Child: esentutl.exe. Target includes C:\Users\xadmin\AppData\Local\Microsoft\Windows\WebCache.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3E861E5A-1B0A-7D42-5498-ABCDD68D565E}"/>
              </a:ext>
            </a:extLst>
          </p:cNvPr>
          <p:cNvSpPr txBox="1"/>
          <p:nvPr/>
        </p:nvSpPr>
        <p:spPr>
          <a:xfrm>
            <a:off x="914400" y="3937000"/>
            <a:ext cx="10033000" cy="1456809"/>
          </a:xfrm>
          <a:prstGeom prst="rect">
            <a:avLst/>
          </a:prstGeom>
          <a:noFill/>
        </p:spPr>
        <p:txBody>
          <a:bodyPr vert="horz" wrap="square" lIns="101600" tIns="50800" rIns="101600" bIns="50800" rtlCol="0">
            <a:spAutoFit/>
          </a:bodyPr>
          <a:lstStyle/>
          <a:p>
            <a:pPr>
              <a:spcAft>
                <a:spcPts val="800"/>
              </a:spcAft>
            </a:pPr>
            <a:r>
              <a:rPr lang="en-US" sz="1700">
                <a:solidFill>
                  <a:srgbClr val="111111"/>
                </a:solidFill>
                <a:latin typeface="Aptos" panose="020B0004020202020204" pitchFamily="34" charset="0"/>
              </a:rPr>
              <a:t>- How the KQL finds it: start with the table most likely to hold the evidence.</a:t>
            </a:r>
          </a:p>
          <a:p>
            <a:pPr>
              <a:spcAft>
                <a:spcPts val="800"/>
              </a:spcAft>
            </a:pPr>
            <a:r>
              <a:rPr lang="en-US" sz="1700">
                <a:solidFill>
                  <a:srgbClr val="111111"/>
                </a:solidFill>
                <a:latin typeface="Aptos" panose="020B0004020202020204" pitchFamily="34" charset="0"/>
              </a:rPr>
              <a:t>- Use where filters to reduce to the device, time, and scenario clue.</a:t>
            </a:r>
          </a:p>
          <a:p>
            <a:pPr>
              <a:spcAft>
                <a:spcPts val="800"/>
              </a:spcAft>
            </a:pPr>
            <a:r>
              <a:rPr lang="en-US" sz="1700">
                <a:solidFill>
                  <a:srgbClr val="111111"/>
                </a:solidFill>
                <a:latin typeface="Aptos" panose="020B0004020202020204" pitchFamily="34" charset="0"/>
              </a:rPr>
              <a:t>- Use project to show only the columns that prove the answer.</a:t>
            </a:r>
          </a:p>
          <a:p>
            <a:pPr>
              <a:spcAft>
                <a:spcPts val="800"/>
              </a:spcAft>
            </a:pPr>
            <a:r>
              <a:rPr lang="en-US" sz="1700">
                <a:solidFill>
                  <a:srgbClr val="111111"/>
                </a:solidFill>
                <a:latin typeface="Aptos" panose="020B0004020202020204" pitchFamily="34" charset="0"/>
              </a:rPr>
              <a:t>- If one table is incomplete, pivot to file or alert evidence.</a:t>
            </a:r>
          </a:p>
        </p:txBody>
      </p:sp>
    </p:spTree>
    <p:extLst>
      <p:ext uri="{BB962C8B-B14F-4D97-AF65-F5344CB8AC3E}">
        <p14:creationId xmlns:p14="http://schemas.microsoft.com/office/powerpoint/2010/main" val="2142210830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>
            <a:extLst>
              <a:ext uri="{FF2B5EF4-FFF2-40B4-BE49-F238E27FC236}">
                <a16:creationId xmlns:a16="http://schemas.microsoft.com/office/drawing/2014/main" id="{78010937-367D-2D3F-790A-4739414F8064}"/>
              </a:ext>
            </a:extLst>
          </p:cNvPr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BD7E49CC-4CBF-9A0F-E7BA-31EBD0FC2CFA}"/>
              </a:ext>
            </a:extLst>
          </p:cNvPr>
          <p:cNvSpPr/>
          <p:nvPr/>
        </p:nvSpPr>
        <p:spPr>
          <a:xfrm>
            <a:off x="0" y="0"/>
            <a:ext cx="12192000" cy="939800"/>
          </a:xfrm>
          <a:prstGeom prst="rect">
            <a:avLst/>
          </a:prstGeom>
          <a:solidFill>
            <a:srgbClr val="243F68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3B9795F4-9DF1-4C96-B852-3225B6B887D8}"/>
              </a:ext>
            </a:extLst>
          </p:cNvPr>
          <p:cNvSpPr txBox="1"/>
          <p:nvPr/>
        </p:nvSpPr>
        <p:spPr>
          <a:xfrm>
            <a:off x="406400" y="127000"/>
            <a:ext cx="11176000" cy="241092"/>
          </a:xfrm>
          <a:prstGeom prst="rect">
            <a:avLst/>
          </a:prstGeom>
          <a:noFill/>
        </p:spPr>
        <p:txBody>
          <a:bodyPr vert="horz" wrap="square" lIns="101600" tIns="50800" rIns="101600" bIns="50800" rtlCol="0">
            <a:spAutoFit/>
          </a:bodyPr>
          <a:lstStyle/>
          <a:p>
            <a:r>
              <a:rPr lang="en-US" sz="900" b="1">
                <a:solidFill>
                  <a:srgbClr val="BFD7FF"/>
                </a:solidFill>
                <a:latin typeface="Aptos" panose="020B0004020202020204" pitchFamily="34" charset="0"/>
              </a:rPr>
              <a:t>SCENARIO BRIEF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EC1F1BC5-466B-E4FE-8C00-40BA4276D71A}"/>
              </a:ext>
            </a:extLst>
          </p:cNvPr>
          <p:cNvSpPr txBox="1"/>
          <p:nvPr/>
        </p:nvSpPr>
        <p:spPr>
          <a:xfrm>
            <a:off x="406400" y="342900"/>
            <a:ext cx="11176000" cy="487313"/>
          </a:xfrm>
          <a:prstGeom prst="rect">
            <a:avLst/>
          </a:prstGeom>
          <a:noFill/>
        </p:spPr>
        <p:txBody>
          <a:bodyPr vert="horz" wrap="square" lIns="101600" tIns="50800" rIns="101600" bIns="50800" rtlCol="0">
            <a:spAutoFit/>
          </a:bodyPr>
          <a:lstStyle/>
          <a:p>
            <a:r>
              <a:rPr lang="en-US" sz="2500" b="1">
                <a:solidFill>
                  <a:srgbClr val="FFFFFF"/>
                </a:solidFill>
                <a:latin typeface="Aptos" panose="020B0004020202020204" pitchFamily="34" charset="0"/>
              </a:rPr>
              <a:t>Scenario 04: Kerberoasting Using Rubeus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470011FC-32D2-1AD7-932E-D37A37C8FDA0}"/>
              </a:ext>
            </a:extLst>
          </p:cNvPr>
          <p:cNvSpPr txBox="1"/>
          <p:nvPr/>
        </p:nvSpPr>
        <p:spPr>
          <a:xfrm>
            <a:off x="685800" y="1333500"/>
            <a:ext cx="10795000" cy="1579920"/>
          </a:xfrm>
          <a:prstGeom prst="rect">
            <a:avLst/>
          </a:prstGeom>
          <a:noFill/>
        </p:spPr>
        <p:txBody>
          <a:bodyPr vert="horz" wrap="square" lIns="101600" tIns="50800" rIns="101600" bIns="50800" rtlCol="0">
            <a:spAutoFit/>
          </a:bodyPr>
          <a:lstStyle/>
          <a:p>
            <a:pPr>
              <a:spcAft>
                <a:spcPts val="800"/>
              </a:spcAft>
            </a:pPr>
            <a:r>
              <a:rPr lang="en-US" sz="1900">
                <a:solidFill>
                  <a:srgbClr val="111111"/>
                </a:solidFill>
                <a:latin typeface="Aptos" panose="020B0004020202020204" pitchFamily="34" charset="0"/>
              </a:rPr>
              <a:t>- Rubeus is staged for Kerberoasting, but Defender interrupts the move.</a:t>
            </a:r>
          </a:p>
          <a:p>
            <a:pPr>
              <a:spcAft>
                <a:spcPts val="800"/>
              </a:spcAft>
            </a:pPr>
            <a:r>
              <a:rPr lang="en-US" sz="1900">
                <a:solidFill>
                  <a:srgbClr val="111111"/>
                </a:solidFill>
                <a:latin typeface="Aptos" panose="020B0004020202020204" pitchFamily="34" charset="0"/>
              </a:rPr>
              <a:t>- KQL skill: Blocked tool evidence in file and alert tables</a:t>
            </a:r>
          </a:p>
          <a:p>
            <a:pPr>
              <a:spcAft>
                <a:spcPts val="800"/>
              </a:spcAft>
            </a:pPr>
            <a:r>
              <a:rPr lang="en-US" sz="1900">
                <a:solidFill>
                  <a:srgbClr val="111111"/>
                </a:solidFill>
                <a:latin typeface="Aptos" panose="020B0004020202020204" pitchFamily="34" charset="0"/>
              </a:rPr>
              <a:t>- Student flow: read the brief, learn the query idea, build it slowly, then answer the challenge.</a:t>
            </a:r>
          </a:p>
          <a:p>
            <a:pPr>
              <a:spcAft>
                <a:spcPts val="800"/>
              </a:spcAft>
            </a:pPr>
            <a:r>
              <a:rPr lang="en-US" sz="1900">
                <a:solidFill>
                  <a:srgbClr val="111111"/>
                </a:solidFill>
                <a:latin typeface="Aptos" panose="020B0004020202020204" pitchFamily="34" charset="0"/>
              </a:rPr>
              <a:t>- Instructor reminder: do not show the full query until students have tried the build steps.</a:t>
            </a:r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22C9DCCE-B9A8-5217-2E9F-A02A461FD2CB}"/>
              </a:ext>
            </a:extLst>
          </p:cNvPr>
          <p:cNvSpPr/>
          <p:nvPr/>
        </p:nvSpPr>
        <p:spPr>
          <a:xfrm>
            <a:off x="889000" y="5130800"/>
            <a:ext cx="10033000" cy="762000"/>
          </a:xfrm>
          <a:prstGeom prst="rect">
            <a:avLst/>
          </a:prstGeom>
          <a:solidFill>
            <a:srgbClr val="FFF6E5"/>
          </a:solidFill>
          <a:ln w="12700">
            <a:solidFill>
              <a:srgbClr val="7FA9DA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B10F3F4F-B23F-5618-51F0-620597E74231}"/>
              </a:ext>
            </a:extLst>
          </p:cNvPr>
          <p:cNvSpPr txBox="1"/>
          <p:nvPr/>
        </p:nvSpPr>
        <p:spPr>
          <a:xfrm>
            <a:off x="1016000" y="5232400"/>
            <a:ext cx="9779000" cy="348813"/>
          </a:xfrm>
          <a:prstGeom prst="rect">
            <a:avLst/>
          </a:prstGeom>
          <a:noFill/>
        </p:spPr>
        <p:txBody>
          <a:bodyPr vert="horz" wrap="square" lIns="101600" tIns="50800" rIns="101600" bIns="50800" rtlCol="0">
            <a:spAutoFit/>
          </a:bodyPr>
          <a:lstStyle/>
          <a:p>
            <a:r>
              <a:rPr lang="en-US" sz="1600" b="1">
                <a:solidFill>
                  <a:srgbClr val="15375F"/>
                </a:solidFill>
                <a:latin typeface="Aptos" panose="020B0004020202020204" pitchFamily="34" charset="0"/>
              </a:rPr>
              <a:t>CTF challenge: What file name and hash identify the Rubeus attempt?</a:t>
            </a:r>
          </a:p>
        </p:txBody>
      </p:sp>
    </p:spTree>
    <p:extLst>
      <p:ext uri="{BB962C8B-B14F-4D97-AF65-F5344CB8AC3E}">
        <p14:creationId xmlns:p14="http://schemas.microsoft.com/office/powerpoint/2010/main" val="1389995420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>
            <a:extLst>
              <a:ext uri="{FF2B5EF4-FFF2-40B4-BE49-F238E27FC236}">
                <a16:creationId xmlns:a16="http://schemas.microsoft.com/office/drawing/2014/main" id="{D1EAB1DB-D222-DDA5-D8CB-3FFBBB32C5C0}"/>
              </a:ext>
            </a:extLst>
          </p:cNvPr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3E2E7D88-74FE-435F-75EF-28772651C4EF}"/>
              </a:ext>
            </a:extLst>
          </p:cNvPr>
          <p:cNvSpPr/>
          <p:nvPr/>
        </p:nvSpPr>
        <p:spPr>
          <a:xfrm>
            <a:off x="0" y="0"/>
            <a:ext cx="12192000" cy="939800"/>
          </a:xfrm>
          <a:prstGeom prst="rect">
            <a:avLst/>
          </a:prstGeom>
          <a:solidFill>
            <a:srgbClr val="243F68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BA5EE3FD-825B-03CF-850E-85898A0E6B82}"/>
              </a:ext>
            </a:extLst>
          </p:cNvPr>
          <p:cNvSpPr txBox="1"/>
          <p:nvPr/>
        </p:nvSpPr>
        <p:spPr>
          <a:xfrm>
            <a:off x="406400" y="127000"/>
            <a:ext cx="11176000" cy="241092"/>
          </a:xfrm>
          <a:prstGeom prst="rect">
            <a:avLst/>
          </a:prstGeom>
          <a:noFill/>
        </p:spPr>
        <p:txBody>
          <a:bodyPr vert="horz" wrap="square" lIns="101600" tIns="50800" rIns="101600" bIns="50800" rtlCol="0">
            <a:spAutoFit/>
          </a:bodyPr>
          <a:lstStyle/>
          <a:p>
            <a:r>
              <a:rPr lang="en-US" sz="900" b="1">
                <a:solidFill>
                  <a:srgbClr val="BFD7FF"/>
                </a:solidFill>
                <a:latin typeface="Aptos" panose="020B0004020202020204" pitchFamily="34" charset="0"/>
              </a:rPr>
              <a:t>KERBEROASTING USING RUBEUS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3FCE0FF6-35A7-83A6-45EC-F5AC49C15407}"/>
              </a:ext>
            </a:extLst>
          </p:cNvPr>
          <p:cNvSpPr txBox="1"/>
          <p:nvPr/>
        </p:nvSpPr>
        <p:spPr>
          <a:xfrm>
            <a:off x="406400" y="342900"/>
            <a:ext cx="11176000" cy="487313"/>
          </a:xfrm>
          <a:prstGeom prst="rect">
            <a:avLst/>
          </a:prstGeom>
          <a:noFill/>
        </p:spPr>
        <p:txBody>
          <a:bodyPr vert="horz" wrap="square" lIns="101600" tIns="50800" rIns="101600" bIns="50800" rtlCol="0">
            <a:spAutoFit/>
          </a:bodyPr>
          <a:lstStyle/>
          <a:p>
            <a:r>
              <a:rPr lang="en-US" sz="2500" b="1">
                <a:solidFill>
                  <a:srgbClr val="FFFFFF"/>
                </a:solidFill>
                <a:latin typeface="Aptos" panose="020B0004020202020204" pitchFamily="34" charset="0"/>
              </a:rPr>
              <a:t>Scenario 04: Build It Slowly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E2E56F0C-F97B-CC74-27FB-2D24B10CC720}"/>
              </a:ext>
            </a:extLst>
          </p:cNvPr>
          <p:cNvSpPr txBox="1"/>
          <p:nvPr/>
        </p:nvSpPr>
        <p:spPr>
          <a:xfrm>
            <a:off x="685800" y="1371600"/>
            <a:ext cx="5461000" cy="1518364"/>
          </a:xfrm>
          <a:prstGeom prst="rect">
            <a:avLst/>
          </a:prstGeom>
          <a:noFill/>
        </p:spPr>
        <p:txBody>
          <a:bodyPr vert="horz" wrap="square" lIns="101600" tIns="50800" rIns="101600" bIns="50800" rtlCol="0">
            <a:spAutoFit/>
          </a:bodyPr>
          <a:lstStyle/>
          <a:p>
            <a:pPr>
              <a:spcAft>
                <a:spcPts val="800"/>
              </a:spcAft>
            </a:pPr>
            <a:r>
              <a:rPr lang="en-US">
                <a:solidFill>
                  <a:srgbClr val="111111"/>
                </a:solidFill>
                <a:latin typeface="Aptos" panose="020B0004020202020204" pitchFamily="34" charset="0"/>
              </a:rPr>
              <a:t>- Start with DeviceFileEvents for Rubeus.exe.</a:t>
            </a:r>
          </a:p>
          <a:p>
            <a:pPr>
              <a:spcAft>
                <a:spcPts val="800"/>
              </a:spcAft>
            </a:pPr>
            <a:r>
              <a:rPr lang="en-US">
                <a:solidFill>
                  <a:srgbClr val="111111"/>
                </a:solidFill>
                <a:latin typeface="Aptos" panose="020B0004020202020204" pitchFamily="34" charset="0"/>
              </a:rPr>
              <a:t>- Pivot to AlertEvidence.</a:t>
            </a:r>
          </a:p>
          <a:p>
            <a:pPr>
              <a:spcAft>
                <a:spcPts val="800"/>
              </a:spcAft>
            </a:pPr>
            <a:r>
              <a:rPr lang="en-US">
                <a:solidFill>
                  <a:srgbClr val="111111"/>
                </a:solidFill>
                <a:latin typeface="Aptos" panose="020B0004020202020204" pitchFamily="34" charset="0"/>
              </a:rPr>
              <a:t>- Look for Kerberoasting or T1558.003.</a:t>
            </a:r>
          </a:p>
          <a:p>
            <a:pPr>
              <a:spcAft>
                <a:spcPts val="800"/>
              </a:spcAft>
            </a:pPr>
            <a:r>
              <a:rPr lang="en-US">
                <a:solidFill>
                  <a:srgbClr val="111111"/>
                </a:solidFill>
                <a:latin typeface="Aptos" panose="020B0004020202020204" pitchFamily="34" charset="0"/>
              </a:rPr>
              <a:t>- Use SHA256 as durable proof.</a:t>
            </a:r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26B8A453-B4A8-AEBD-F7AE-077CF887C67B}"/>
              </a:ext>
            </a:extLst>
          </p:cNvPr>
          <p:cNvSpPr/>
          <p:nvPr/>
        </p:nvSpPr>
        <p:spPr>
          <a:xfrm>
            <a:off x="6604000" y="1397000"/>
            <a:ext cx="4508500" cy="3111500"/>
          </a:xfrm>
          <a:prstGeom prst="rect">
            <a:avLst/>
          </a:prstGeom>
          <a:solidFill>
            <a:srgbClr val="F4F7FB"/>
          </a:solidFill>
          <a:ln w="12700">
            <a:solidFill>
              <a:srgbClr val="D6E0EF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0CD3C872-6828-7D33-CD27-F6466C12AADD}"/>
              </a:ext>
            </a:extLst>
          </p:cNvPr>
          <p:cNvSpPr txBox="1"/>
          <p:nvPr/>
        </p:nvSpPr>
        <p:spPr>
          <a:xfrm>
            <a:off x="6756400" y="1524000"/>
            <a:ext cx="4203700" cy="1795363"/>
          </a:xfrm>
          <a:prstGeom prst="rect">
            <a:avLst/>
          </a:prstGeom>
          <a:noFill/>
        </p:spPr>
        <p:txBody>
          <a:bodyPr vert="horz" wrap="square" lIns="101600" tIns="50800" rIns="101600" bIns="50800" rtlCol="0">
            <a:spAutoFit/>
          </a:bodyPr>
          <a:lstStyle/>
          <a:p>
            <a:r>
              <a:rPr lang="en-US" sz="1100">
                <a:solidFill>
                  <a:srgbClr val="0B1F3A"/>
                </a:solidFill>
                <a:latin typeface="Cascadia Mono" panose="020B0609020000020004" pitchFamily="49" charset="0"/>
              </a:rPr>
              <a:t>let TargetDevice = "usm262346";</a:t>
            </a:r>
          </a:p>
          <a:p>
            <a:r>
              <a:rPr lang="en-US" sz="1100">
                <a:solidFill>
                  <a:srgbClr val="0B1F3A"/>
                </a:solidFill>
                <a:latin typeface="Cascadia Mono" panose="020B0609020000020004" pitchFamily="49" charset="0"/>
              </a:rPr>
              <a:t>AlertEvidence</a:t>
            </a:r>
          </a:p>
          <a:p>
            <a:r>
              <a:rPr lang="en-US" sz="1100">
                <a:solidFill>
                  <a:srgbClr val="0B1F3A"/>
                </a:solidFill>
                <a:latin typeface="Cascadia Mono" panose="020B0609020000020004" pitchFamily="49" charset="0"/>
              </a:rPr>
              <a:t>| where Timestamp &gt; ago(7d)</a:t>
            </a:r>
          </a:p>
          <a:p>
            <a:r>
              <a:rPr lang="en-US" sz="1100">
                <a:solidFill>
                  <a:srgbClr val="0B1F3A"/>
                </a:solidFill>
                <a:latin typeface="Cascadia Mono" panose="020B0609020000020004" pitchFamily="49" charset="0"/>
              </a:rPr>
              <a:t>| where DeviceName == TargetDevice or FileName =~ "Rubeus.exe"</a:t>
            </a:r>
          </a:p>
          <a:p>
            <a:r>
              <a:rPr lang="en-US" sz="1100">
                <a:solidFill>
                  <a:srgbClr val="0B1F3A"/>
                </a:solidFill>
                <a:latin typeface="Cascadia Mono" panose="020B0609020000020004" pitchFamily="49" charset="0"/>
              </a:rPr>
              <a:t>| where FileName =~ "Rubeus.exe" or AttackTechniques has_any ("Kerberoasting", "T1558.003")</a:t>
            </a:r>
          </a:p>
          <a:p>
            <a:r>
              <a:rPr lang="en-US" sz="1100">
                <a:solidFill>
                  <a:srgbClr val="0B1F3A"/>
                </a:solidFill>
                <a:latin typeface="Cascadia Mono" panose="020B0609020000020004" pitchFamily="49" charset="0"/>
              </a:rPr>
              <a:t>| project Timestamp, Title, FileName, AttackTechniques, SHA256</a:t>
            </a:r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8EE4FA30-5F03-505C-4DBC-3DD54CE86870}"/>
              </a:ext>
            </a:extLst>
          </p:cNvPr>
          <p:cNvSpPr/>
          <p:nvPr/>
        </p:nvSpPr>
        <p:spPr>
          <a:xfrm>
            <a:off x="6604000" y="4851400"/>
            <a:ext cx="4508500" cy="787400"/>
          </a:xfrm>
          <a:prstGeom prst="rect">
            <a:avLst/>
          </a:prstGeom>
          <a:solidFill>
            <a:srgbClr val="EAF3FF"/>
          </a:solidFill>
          <a:ln w="12700">
            <a:solidFill>
              <a:srgbClr val="7FA9DA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2ECD28F4-6E32-9368-05D8-8B48116AEAF9}"/>
              </a:ext>
            </a:extLst>
          </p:cNvPr>
          <p:cNvSpPr txBox="1"/>
          <p:nvPr/>
        </p:nvSpPr>
        <p:spPr>
          <a:xfrm>
            <a:off x="6731000" y="4953000"/>
            <a:ext cx="4254500" cy="595035"/>
          </a:xfrm>
          <a:prstGeom prst="rect">
            <a:avLst/>
          </a:prstGeom>
          <a:noFill/>
        </p:spPr>
        <p:txBody>
          <a:bodyPr vert="horz" wrap="square" lIns="101600" tIns="50800" rIns="101600" bIns="50800" rtlCol="0">
            <a:spAutoFit/>
          </a:bodyPr>
          <a:lstStyle/>
          <a:p>
            <a:r>
              <a:rPr lang="en-US" sz="1600" b="1">
                <a:solidFill>
                  <a:srgbClr val="15375F"/>
                </a:solidFill>
                <a:latin typeface="Aptos" panose="020B0004020202020204" pitchFamily="34" charset="0"/>
              </a:rPr>
              <a:t>Ask: which table, which filter, which proof columns?</a:t>
            </a:r>
          </a:p>
        </p:txBody>
      </p:sp>
    </p:spTree>
    <p:extLst>
      <p:ext uri="{BB962C8B-B14F-4D97-AF65-F5344CB8AC3E}">
        <p14:creationId xmlns:p14="http://schemas.microsoft.com/office/powerpoint/2010/main" val="978733001"/>
      </p:ext>
    </p:extLst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>
            <a:extLst>
              <a:ext uri="{FF2B5EF4-FFF2-40B4-BE49-F238E27FC236}">
                <a16:creationId xmlns:a16="http://schemas.microsoft.com/office/drawing/2014/main" id="{9E1C7FFB-B124-2A3E-1889-C187B4E99869}"/>
              </a:ext>
            </a:extLst>
          </p:cNvPr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841BF3B8-F468-96AF-9579-55732F4D6E98}"/>
              </a:ext>
            </a:extLst>
          </p:cNvPr>
          <p:cNvSpPr/>
          <p:nvPr/>
        </p:nvSpPr>
        <p:spPr>
          <a:xfrm>
            <a:off x="0" y="0"/>
            <a:ext cx="12192000" cy="939800"/>
          </a:xfrm>
          <a:prstGeom prst="rect">
            <a:avLst/>
          </a:prstGeom>
          <a:solidFill>
            <a:srgbClr val="243F68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49B434C7-ACAE-A1E8-66E8-3A1A77EA6041}"/>
              </a:ext>
            </a:extLst>
          </p:cNvPr>
          <p:cNvSpPr txBox="1"/>
          <p:nvPr/>
        </p:nvSpPr>
        <p:spPr>
          <a:xfrm>
            <a:off x="406400" y="127000"/>
            <a:ext cx="11176000" cy="241092"/>
          </a:xfrm>
          <a:prstGeom prst="rect">
            <a:avLst/>
          </a:prstGeom>
          <a:noFill/>
        </p:spPr>
        <p:txBody>
          <a:bodyPr vert="horz" wrap="square" lIns="101600" tIns="50800" rIns="101600" bIns="50800" rtlCol="0">
            <a:spAutoFit/>
          </a:bodyPr>
          <a:lstStyle/>
          <a:p>
            <a:r>
              <a:rPr lang="en-US" sz="900" b="1">
                <a:solidFill>
                  <a:srgbClr val="BFD7FF"/>
                </a:solidFill>
                <a:latin typeface="Aptos" panose="020B0004020202020204" pitchFamily="34" charset="0"/>
              </a:rPr>
              <a:t>CHECK YOUR WORK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9CDFD4BB-A3D9-78F3-00E5-2F5CA4C284F6}"/>
              </a:ext>
            </a:extLst>
          </p:cNvPr>
          <p:cNvSpPr txBox="1"/>
          <p:nvPr/>
        </p:nvSpPr>
        <p:spPr>
          <a:xfrm>
            <a:off x="406400" y="342900"/>
            <a:ext cx="11176000" cy="487313"/>
          </a:xfrm>
          <a:prstGeom prst="rect">
            <a:avLst/>
          </a:prstGeom>
          <a:noFill/>
        </p:spPr>
        <p:txBody>
          <a:bodyPr vert="horz" wrap="square" lIns="101600" tIns="50800" rIns="101600" bIns="50800" rtlCol="0">
            <a:spAutoFit/>
          </a:bodyPr>
          <a:lstStyle/>
          <a:p>
            <a:r>
              <a:rPr lang="en-US" sz="2500" b="1">
                <a:solidFill>
                  <a:srgbClr val="FFFFFF"/>
                </a:solidFill>
                <a:latin typeface="Aptos" panose="020B0004020202020204" pitchFamily="34" charset="0"/>
              </a:rPr>
              <a:t>Scenario 04: Answer Key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9A60372B-10CA-5DCC-8258-F03D8FF3BB04}"/>
              </a:ext>
            </a:extLst>
          </p:cNvPr>
          <p:cNvSpPr txBox="1"/>
          <p:nvPr/>
        </p:nvSpPr>
        <p:spPr>
          <a:xfrm>
            <a:off x="685800" y="1371600"/>
            <a:ext cx="10414000" cy="410369"/>
          </a:xfrm>
          <a:prstGeom prst="rect">
            <a:avLst/>
          </a:prstGeom>
          <a:noFill/>
        </p:spPr>
        <p:txBody>
          <a:bodyPr vert="horz" wrap="square" lIns="101600" tIns="50800" rIns="101600" bIns="50800" rtlCol="0">
            <a:spAutoFit/>
          </a:bodyPr>
          <a:lstStyle/>
          <a:p>
            <a:r>
              <a:rPr lang="en-US" sz="2000" b="1">
                <a:solidFill>
                  <a:srgbClr val="243F68"/>
                </a:solidFill>
                <a:latin typeface="Aptos" panose="020B0004020202020204" pitchFamily="34" charset="0"/>
              </a:rPr>
              <a:t>Challenge: What file name and hash identify the Rubeus attempt?</a:t>
            </a:r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07ABEF0D-370B-F031-73E5-3F4009AD6B7A}"/>
              </a:ext>
            </a:extLst>
          </p:cNvPr>
          <p:cNvSpPr/>
          <p:nvPr/>
        </p:nvSpPr>
        <p:spPr>
          <a:xfrm>
            <a:off x="685800" y="2336800"/>
            <a:ext cx="10414000" cy="1206500"/>
          </a:xfrm>
          <a:prstGeom prst="rect">
            <a:avLst/>
          </a:prstGeom>
          <a:solidFill>
            <a:srgbClr val="EEF7ED"/>
          </a:solidFill>
          <a:ln w="12700">
            <a:solidFill>
              <a:srgbClr val="7FA9DA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2F66F05E-3401-7B0B-D97A-5BE38A791F68}"/>
              </a:ext>
            </a:extLst>
          </p:cNvPr>
          <p:cNvSpPr txBox="1"/>
          <p:nvPr/>
        </p:nvSpPr>
        <p:spPr>
          <a:xfrm>
            <a:off x="812800" y="2438400"/>
            <a:ext cx="10160000" cy="595035"/>
          </a:xfrm>
          <a:prstGeom prst="rect">
            <a:avLst/>
          </a:prstGeom>
          <a:noFill/>
        </p:spPr>
        <p:txBody>
          <a:bodyPr vert="horz" wrap="square" lIns="101600" tIns="50800" rIns="101600" bIns="50800" rtlCol="0">
            <a:spAutoFit/>
          </a:bodyPr>
          <a:lstStyle/>
          <a:p>
            <a:r>
              <a:rPr lang="en-US" sz="1600" b="1">
                <a:solidFill>
                  <a:srgbClr val="15375F"/>
                </a:solidFill>
                <a:latin typeface="Aptos" panose="020B0004020202020204" pitchFamily="34" charset="0"/>
              </a:rPr>
              <a:t>File: Rubeus.exe. Hash: 1e1fe8a1730bf8caabd867fd2f990b0e52aee0f9f8635578ff8b18c0950b616c. Technique: Kerberoasting (T1558.003).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0C96BDBA-D5A1-853C-45A5-C6149EB13815}"/>
              </a:ext>
            </a:extLst>
          </p:cNvPr>
          <p:cNvSpPr txBox="1"/>
          <p:nvPr/>
        </p:nvSpPr>
        <p:spPr>
          <a:xfrm>
            <a:off x="914400" y="3937000"/>
            <a:ext cx="10033000" cy="1456809"/>
          </a:xfrm>
          <a:prstGeom prst="rect">
            <a:avLst/>
          </a:prstGeom>
          <a:noFill/>
        </p:spPr>
        <p:txBody>
          <a:bodyPr vert="horz" wrap="square" lIns="101600" tIns="50800" rIns="101600" bIns="50800" rtlCol="0">
            <a:spAutoFit/>
          </a:bodyPr>
          <a:lstStyle/>
          <a:p>
            <a:pPr>
              <a:spcAft>
                <a:spcPts val="800"/>
              </a:spcAft>
            </a:pPr>
            <a:r>
              <a:rPr lang="en-US" sz="1700">
                <a:solidFill>
                  <a:srgbClr val="111111"/>
                </a:solidFill>
                <a:latin typeface="Aptos" panose="020B0004020202020204" pitchFamily="34" charset="0"/>
              </a:rPr>
              <a:t>- How the KQL finds it: start with the table most likely to hold the evidence.</a:t>
            </a:r>
          </a:p>
          <a:p>
            <a:pPr>
              <a:spcAft>
                <a:spcPts val="800"/>
              </a:spcAft>
            </a:pPr>
            <a:r>
              <a:rPr lang="en-US" sz="1700">
                <a:solidFill>
                  <a:srgbClr val="111111"/>
                </a:solidFill>
                <a:latin typeface="Aptos" panose="020B0004020202020204" pitchFamily="34" charset="0"/>
              </a:rPr>
              <a:t>- Use where filters to reduce to the device, time, and scenario clue.</a:t>
            </a:r>
          </a:p>
          <a:p>
            <a:pPr>
              <a:spcAft>
                <a:spcPts val="800"/>
              </a:spcAft>
            </a:pPr>
            <a:r>
              <a:rPr lang="en-US" sz="1700">
                <a:solidFill>
                  <a:srgbClr val="111111"/>
                </a:solidFill>
                <a:latin typeface="Aptos" panose="020B0004020202020204" pitchFamily="34" charset="0"/>
              </a:rPr>
              <a:t>- Use project to show only the columns that prove the answer.</a:t>
            </a:r>
          </a:p>
          <a:p>
            <a:pPr>
              <a:spcAft>
                <a:spcPts val="800"/>
              </a:spcAft>
            </a:pPr>
            <a:r>
              <a:rPr lang="en-US" sz="1700">
                <a:solidFill>
                  <a:srgbClr val="111111"/>
                </a:solidFill>
                <a:latin typeface="Aptos" panose="020B0004020202020204" pitchFamily="34" charset="0"/>
              </a:rPr>
              <a:t>- If one table is incomplete, pivot to file or alert evidence.</a:t>
            </a:r>
          </a:p>
        </p:txBody>
      </p:sp>
    </p:spTree>
    <p:extLst>
      <p:ext uri="{BB962C8B-B14F-4D97-AF65-F5344CB8AC3E}">
        <p14:creationId xmlns:p14="http://schemas.microsoft.com/office/powerpoint/2010/main" val="1255479529"/>
      </p:ext>
    </p:extLst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>
            <a:extLst>
              <a:ext uri="{FF2B5EF4-FFF2-40B4-BE49-F238E27FC236}">
                <a16:creationId xmlns:a16="http://schemas.microsoft.com/office/drawing/2014/main" id="{B65779FE-0274-723F-C539-19E26B21A627}"/>
              </a:ext>
            </a:extLst>
          </p:cNvPr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D9E4F19F-B771-4A1C-8EFF-A6FCAC60C94C}"/>
              </a:ext>
            </a:extLst>
          </p:cNvPr>
          <p:cNvSpPr/>
          <p:nvPr/>
        </p:nvSpPr>
        <p:spPr>
          <a:xfrm>
            <a:off x="0" y="0"/>
            <a:ext cx="12192000" cy="939800"/>
          </a:xfrm>
          <a:prstGeom prst="rect">
            <a:avLst/>
          </a:prstGeom>
          <a:solidFill>
            <a:srgbClr val="243F68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4B5F549E-4BF7-64E7-5CB5-05023F6365AF}"/>
              </a:ext>
            </a:extLst>
          </p:cNvPr>
          <p:cNvSpPr txBox="1"/>
          <p:nvPr/>
        </p:nvSpPr>
        <p:spPr>
          <a:xfrm>
            <a:off x="406400" y="127000"/>
            <a:ext cx="11176000" cy="241092"/>
          </a:xfrm>
          <a:prstGeom prst="rect">
            <a:avLst/>
          </a:prstGeom>
          <a:noFill/>
        </p:spPr>
        <p:txBody>
          <a:bodyPr vert="horz" wrap="square" lIns="101600" tIns="50800" rIns="101600" bIns="50800" rtlCol="0">
            <a:spAutoFit/>
          </a:bodyPr>
          <a:lstStyle/>
          <a:p>
            <a:r>
              <a:rPr lang="en-US" sz="900" b="1">
                <a:solidFill>
                  <a:srgbClr val="BFD7FF"/>
                </a:solidFill>
                <a:latin typeface="Aptos" panose="020B0004020202020204" pitchFamily="34" charset="0"/>
              </a:rPr>
              <a:t>SCENARIO BRIEF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7F90513C-E4F5-E517-CF1A-34BBB7F5A72E}"/>
              </a:ext>
            </a:extLst>
          </p:cNvPr>
          <p:cNvSpPr txBox="1"/>
          <p:nvPr/>
        </p:nvSpPr>
        <p:spPr>
          <a:xfrm>
            <a:off x="406400" y="342900"/>
            <a:ext cx="11176000" cy="487313"/>
          </a:xfrm>
          <a:prstGeom prst="rect">
            <a:avLst/>
          </a:prstGeom>
          <a:noFill/>
        </p:spPr>
        <p:txBody>
          <a:bodyPr vert="horz" wrap="square" lIns="101600" tIns="50800" rIns="101600" bIns="50800" rtlCol="0">
            <a:spAutoFit/>
          </a:bodyPr>
          <a:lstStyle/>
          <a:p>
            <a:r>
              <a:rPr lang="en-US" sz="2500" b="1">
                <a:solidFill>
                  <a:srgbClr val="FFFFFF"/>
                </a:solidFill>
                <a:latin typeface="Aptos" panose="020B0004020202020204" pitchFamily="34" charset="0"/>
              </a:rPr>
              <a:t>Scenario 05: PowerShell Empire Invoke-Kerberoast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A946D53D-9F32-1187-8126-2BC57A609DFD}"/>
              </a:ext>
            </a:extLst>
          </p:cNvPr>
          <p:cNvSpPr txBox="1"/>
          <p:nvPr/>
        </p:nvSpPr>
        <p:spPr>
          <a:xfrm>
            <a:off x="685800" y="1333500"/>
            <a:ext cx="10795000" cy="1579920"/>
          </a:xfrm>
          <a:prstGeom prst="rect">
            <a:avLst/>
          </a:prstGeom>
          <a:noFill/>
        </p:spPr>
        <p:txBody>
          <a:bodyPr vert="horz" wrap="square" lIns="101600" tIns="50800" rIns="101600" bIns="50800" rtlCol="0">
            <a:spAutoFit/>
          </a:bodyPr>
          <a:lstStyle/>
          <a:p>
            <a:pPr>
              <a:spcAft>
                <a:spcPts val="800"/>
              </a:spcAft>
            </a:pPr>
            <a:r>
              <a:rPr lang="en-US" sz="1900">
                <a:solidFill>
                  <a:srgbClr val="111111"/>
                </a:solidFill>
                <a:latin typeface="Aptos" panose="020B0004020202020204" pitchFamily="34" charset="0"/>
              </a:rPr>
              <a:t>- The attacker switches from an executable to PowerShell Kerberoasting scripts.</a:t>
            </a:r>
          </a:p>
          <a:p>
            <a:pPr>
              <a:spcAft>
                <a:spcPts val="800"/>
              </a:spcAft>
            </a:pPr>
            <a:r>
              <a:rPr lang="en-US" sz="1900">
                <a:solidFill>
                  <a:srgbClr val="111111"/>
                </a:solidFill>
                <a:latin typeface="Aptos" panose="020B0004020202020204" pitchFamily="34" charset="0"/>
              </a:rPr>
              <a:t>- KQL skill: has_any for related script artifacts</a:t>
            </a:r>
          </a:p>
          <a:p>
            <a:pPr>
              <a:spcAft>
                <a:spcPts val="800"/>
              </a:spcAft>
            </a:pPr>
            <a:r>
              <a:rPr lang="en-US" sz="1900">
                <a:solidFill>
                  <a:srgbClr val="111111"/>
                </a:solidFill>
                <a:latin typeface="Aptos" panose="020B0004020202020204" pitchFamily="34" charset="0"/>
              </a:rPr>
              <a:t>- Student flow: read the brief, learn the query idea, build it slowly, then answer the challenge.</a:t>
            </a:r>
          </a:p>
          <a:p>
            <a:pPr>
              <a:spcAft>
                <a:spcPts val="800"/>
              </a:spcAft>
            </a:pPr>
            <a:r>
              <a:rPr lang="en-US" sz="1900">
                <a:solidFill>
                  <a:srgbClr val="111111"/>
                </a:solidFill>
                <a:latin typeface="Aptos" panose="020B0004020202020204" pitchFamily="34" charset="0"/>
              </a:rPr>
              <a:t>- Instructor reminder: do not show the full query until students have tried the build steps.</a:t>
            </a:r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EE91D1EA-B588-C0E1-8C6A-FF8406070979}"/>
              </a:ext>
            </a:extLst>
          </p:cNvPr>
          <p:cNvSpPr/>
          <p:nvPr/>
        </p:nvSpPr>
        <p:spPr>
          <a:xfrm>
            <a:off x="889000" y="5130800"/>
            <a:ext cx="10033000" cy="762000"/>
          </a:xfrm>
          <a:prstGeom prst="rect">
            <a:avLst/>
          </a:prstGeom>
          <a:solidFill>
            <a:srgbClr val="FFF6E5"/>
          </a:solidFill>
          <a:ln w="12700">
            <a:solidFill>
              <a:srgbClr val="7FA9DA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227782E0-1542-AEBB-6986-ADE6A6116596}"/>
              </a:ext>
            </a:extLst>
          </p:cNvPr>
          <p:cNvSpPr txBox="1"/>
          <p:nvPr/>
        </p:nvSpPr>
        <p:spPr>
          <a:xfrm>
            <a:off x="1016000" y="5232400"/>
            <a:ext cx="9779000" cy="348813"/>
          </a:xfrm>
          <a:prstGeom prst="rect">
            <a:avLst/>
          </a:prstGeom>
          <a:noFill/>
        </p:spPr>
        <p:txBody>
          <a:bodyPr vert="horz" wrap="square" lIns="101600" tIns="50800" rIns="101600" bIns="50800" rtlCol="0">
            <a:spAutoFit/>
          </a:bodyPr>
          <a:lstStyle/>
          <a:p>
            <a:r>
              <a:rPr lang="en-US" sz="1600" b="1">
                <a:solidFill>
                  <a:srgbClr val="15375F"/>
                </a:solidFill>
                <a:latin typeface="Aptos" panose="020B0004020202020204" pitchFamily="34" charset="0"/>
              </a:rPr>
              <a:t>CTF challenge: Which two PowerShell files were staged for the Kerberoasting test?</a:t>
            </a:r>
          </a:p>
        </p:txBody>
      </p:sp>
    </p:spTree>
    <p:extLst>
      <p:ext uri="{BB962C8B-B14F-4D97-AF65-F5344CB8AC3E}">
        <p14:creationId xmlns:p14="http://schemas.microsoft.com/office/powerpoint/2010/main" val="371879201"/>
      </p:ext>
    </p:extLst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>
            <a:extLst>
              <a:ext uri="{FF2B5EF4-FFF2-40B4-BE49-F238E27FC236}">
                <a16:creationId xmlns:a16="http://schemas.microsoft.com/office/drawing/2014/main" id="{84D2581C-9C33-7393-78E6-45B2D8B844B4}"/>
              </a:ext>
            </a:extLst>
          </p:cNvPr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80E0F34D-5B14-2739-A675-E8F1A537CAC5}"/>
              </a:ext>
            </a:extLst>
          </p:cNvPr>
          <p:cNvSpPr/>
          <p:nvPr/>
        </p:nvSpPr>
        <p:spPr>
          <a:xfrm>
            <a:off x="0" y="0"/>
            <a:ext cx="12192000" cy="939800"/>
          </a:xfrm>
          <a:prstGeom prst="rect">
            <a:avLst/>
          </a:prstGeom>
          <a:solidFill>
            <a:srgbClr val="243F68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7209A352-FEF9-BA88-CFDD-3A0C03F76CC5}"/>
              </a:ext>
            </a:extLst>
          </p:cNvPr>
          <p:cNvSpPr txBox="1"/>
          <p:nvPr/>
        </p:nvSpPr>
        <p:spPr>
          <a:xfrm>
            <a:off x="406400" y="127000"/>
            <a:ext cx="11176000" cy="241092"/>
          </a:xfrm>
          <a:prstGeom prst="rect">
            <a:avLst/>
          </a:prstGeom>
          <a:noFill/>
        </p:spPr>
        <p:txBody>
          <a:bodyPr vert="horz" wrap="square" lIns="101600" tIns="50800" rIns="101600" bIns="50800" rtlCol="0">
            <a:spAutoFit/>
          </a:bodyPr>
          <a:lstStyle/>
          <a:p>
            <a:r>
              <a:rPr lang="en-US" sz="900" b="1">
                <a:solidFill>
                  <a:srgbClr val="BFD7FF"/>
                </a:solidFill>
                <a:latin typeface="Aptos" panose="020B0004020202020204" pitchFamily="34" charset="0"/>
              </a:rPr>
              <a:t>POWERSHELL EMPIRE INVOKE-KERBEROAST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D8C48D42-664C-6E74-986C-F90F3F7AFE6A}"/>
              </a:ext>
            </a:extLst>
          </p:cNvPr>
          <p:cNvSpPr txBox="1"/>
          <p:nvPr/>
        </p:nvSpPr>
        <p:spPr>
          <a:xfrm>
            <a:off x="406400" y="342900"/>
            <a:ext cx="11176000" cy="487313"/>
          </a:xfrm>
          <a:prstGeom prst="rect">
            <a:avLst/>
          </a:prstGeom>
          <a:noFill/>
        </p:spPr>
        <p:txBody>
          <a:bodyPr vert="horz" wrap="square" lIns="101600" tIns="50800" rIns="101600" bIns="50800" rtlCol="0">
            <a:spAutoFit/>
          </a:bodyPr>
          <a:lstStyle/>
          <a:p>
            <a:r>
              <a:rPr lang="en-US" sz="2500" b="1">
                <a:solidFill>
                  <a:srgbClr val="FFFFFF"/>
                </a:solidFill>
                <a:latin typeface="Aptos" panose="020B0004020202020204" pitchFamily="34" charset="0"/>
              </a:rPr>
              <a:t>Scenario 05: Build It Slowly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06441EAD-AC99-71C2-4BA3-363D3C5A9C87}"/>
              </a:ext>
            </a:extLst>
          </p:cNvPr>
          <p:cNvSpPr txBox="1"/>
          <p:nvPr/>
        </p:nvSpPr>
        <p:spPr>
          <a:xfrm>
            <a:off x="685800" y="1371600"/>
            <a:ext cx="5461000" cy="1795363"/>
          </a:xfrm>
          <a:prstGeom prst="rect">
            <a:avLst/>
          </a:prstGeom>
          <a:noFill/>
        </p:spPr>
        <p:txBody>
          <a:bodyPr vert="horz" wrap="square" lIns="101600" tIns="50800" rIns="101600" bIns="50800" rtlCol="0">
            <a:spAutoFit/>
          </a:bodyPr>
          <a:lstStyle/>
          <a:p>
            <a:pPr>
              <a:spcAft>
                <a:spcPts val="800"/>
              </a:spcAft>
            </a:pPr>
            <a:r>
              <a:rPr lang="en-US">
                <a:solidFill>
                  <a:srgbClr val="111111"/>
                </a:solidFill>
                <a:latin typeface="Aptos" panose="020B0004020202020204" pitchFamily="34" charset="0"/>
              </a:rPr>
              <a:t>- Search DeviceFileEvents for kerberoast.</a:t>
            </a:r>
          </a:p>
          <a:p>
            <a:pPr>
              <a:spcAft>
                <a:spcPts val="800"/>
              </a:spcAft>
            </a:pPr>
            <a:r>
              <a:rPr lang="en-US">
                <a:solidFill>
                  <a:srgbClr val="111111"/>
                </a:solidFill>
                <a:latin typeface="Aptos" panose="020B0004020202020204" pitchFamily="34" charset="0"/>
              </a:rPr>
              <a:t>- Use has_any for invoke-kerberoast and call-invoke-kerberoast.</a:t>
            </a:r>
          </a:p>
          <a:p>
            <a:pPr>
              <a:spcAft>
                <a:spcPts val="800"/>
              </a:spcAft>
            </a:pPr>
            <a:r>
              <a:rPr lang="en-US">
                <a:solidFill>
                  <a:srgbClr val="111111"/>
                </a:solidFill>
                <a:latin typeface="Aptos" panose="020B0004020202020204" pitchFamily="34" charset="0"/>
              </a:rPr>
              <a:t>- Pivot to AlertEvidence for Defender context.</a:t>
            </a:r>
          </a:p>
          <a:p>
            <a:pPr>
              <a:spcAft>
                <a:spcPts val="800"/>
              </a:spcAft>
            </a:pPr>
            <a:r>
              <a:rPr lang="en-US">
                <a:solidFill>
                  <a:srgbClr val="111111"/>
                </a:solidFill>
                <a:latin typeface="Aptos" panose="020B0004020202020204" pitchFamily="34" charset="0"/>
              </a:rPr>
              <a:t>- Compare wrapper script and payload script.</a:t>
            </a:r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E4691258-AB88-8C24-D889-6E050FF69910}"/>
              </a:ext>
            </a:extLst>
          </p:cNvPr>
          <p:cNvSpPr/>
          <p:nvPr/>
        </p:nvSpPr>
        <p:spPr>
          <a:xfrm>
            <a:off x="6604000" y="1397000"/>
            <a:ext cx="4508500" cy="3111500"/>
          </a:xfrm>
          <a:prstGeom prst="rect">
            <a:avLst/>
          </a:prstGeom>
          <a:solidFill>
            <a:srgbClr val="F4F7FB"/>
          </a:solidFill>
          <a:ln w="12700">
            <a:solidFill>
              <a:srgbClr val="D6E0EF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43A6ADB3-9CAD-B9F3-5210-F160F42BFA96}"/>
              </a:ext>
            </a:extLst>
          </p:cNvPr>
          <p:cNvSpPr txBox="1"/>
          <p:nvPr/>
        </p:nvSpPr>
        <p:spPr>
          <a:xfrm>
            <a:off x="6756400" y="1524000"/>
            <a:ext cx="4203700" cy="1456809"/>
          </a:xfrm>
          <a:prstGeom prst="rect">
            <a:avLst/>
          </a:prstGeom>
          <a:noFill/>
        </p:spPr>
        <p:txBody>
          <a:bodyPr vert="horz" wrap="square" lIns="101600" tIns="50800" rIns="101600" bIns="50800" rtlCol="0">
            <a:spAutoFit/>
          </a:bodyPr>
          <a:lstStyle/>
          <a:p>
            <a:r>
              <a:rPr lang="en-US" sz="1100">
                <a:solidFill>
                  <a:srgbClr val="0B1F3A"/>
                </a:solidFill>
                <a:latin typeface="Cascadia Mono" panose="020B0609020000020004" pitchFamily="49" charset="0"/>
              </a:rPr>
              <a:t>let TargetDevice = "usm262346";</a:t>
            </a:r>
          </a:p>
          <a:p>
            <a:r>
              <a:rPr lang="en-US" sz="1100">
                <a:solidFill>
                  <a:srgbClr val="0B1F3A"/>
                </a:solidFill>
                <a:latin typeface="Cascadia Mono" panose="020B0609020000020004" pitchFamily="49" charset="0"/>
              </a:rPr>
              <a:t>DeviceFileEvents</a:t>
            </a:r>
          </a:p>
          <a:p>
            <a:r>
              <a:rPr lang="en-US" sz="1100">
                <a:solidFill>
                  <a:srgbClr val="0B1F3A"/>
                </a:solidFill>
                <a:latin typeface="Cascadia Mono" panose="020B0609020000020004" pitchFamily="49" charset="0"/>
              </a:rPr>
              <a:t>| where Timestamp &gt; ago(7d)</a:t>
            </a:r>
          </a:p>
          <a:p>
            <a:r>
              <a:rPr lang="en-US" sz="1100">
                <a:solidFill>
                  <a:srgbClr val="0B1F3A"/>
                </a:solidFill>
                <a:latin typeface="Cascadia Mono" panose="020B0609020000020004" pitchFamily="49" charset="0"/>
              </a:rPr>
              <a:t>| where DeviceName == TargetDevice</a:t>
            </a:r>
          </a:p>
          <a:p>
            <a:r>
              <a:rPr lang="en-US" sz="1100">
                <a:solidFill>
                  <a:srgbClr val="0B1F3A"/>
                </a:solidFill>
                <a:latin typeface="Cascadia Mono" panose="020B0609020000020004" pitchFamily="49" charset="0"/>
              </a:rPr>
              <a:t>| where FileName has_any ("invoke-kerberoast", "call-invoke-kerberoast")</a:t>
            </a:r>
          </a:p>
          <a:p>
            <a:r>
              <a:rPr lang="en-US" sz="1100">
                <a:solidFill>
                  <a:srgbClr val="0B1F3A"/>
                </a:solidFill>
                <a:latin typeface="Cascadia Mono" panose="020B0609020000020004" pitchFamily="49" charset="0"/>
              </a:rPr>
              <a:t>| project Timestamp, ActionType, FileName, FolderPath, SHA256</a:t>
            </a:r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18A5BF28-9C01-F565-3D1A-779E36162735}"/>
              </a:ext>
            </a:extLst>
          </p:cNvPr>
          <p:cNvSpPr/>
          <p:nvPr/>
        </p:nvSpPr>
        <p:spPr>
          <a:xfrm>
            <a:off x="6604000" y="4851400"/>
            <a:ext cx="4508500" cy="787400"/>
          </a:xfrm>
          <a:prstGeom prst="rect">
            <a:avLst/>
          </a:prstGeom>
          <a:solidFill>
            <a:srgbClr val="EAF3FF"/>
          </a:solidFill>
          <a:ln w="12700">
            <a:solidFill>
              <a:srgbClr val="7FA9DA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60A7DF7F-C5F2-BD26-AA8E-2B514FB120DB}"/>
              </a:ext>
            </a:extLst>
          </p:cNvPr>
          <p:cNvSpPr txBox="1"/>
          <p:nvPr/>
        </p:nvSpPr>
        <p:spPr>
          <a:xfrm>
            <a:off x="6731000" y="4953000"/>
            <a:ext cx="4254500" cy="595035"/>
          </a:xfrm>
          <a:prstGeom prst="rect">
            <a:avLst/>
          </a:prstGeom>
          <a:noFill/>
        </p:spPr>
        <p:txBody>
          <a:bodyPr vert="horz" wrap="square" lIns="101600" tIns="50800" rIns="101600" bIns="50800" rtlCol="0">
            <a:spAutoFit/>
          </a:bodyPr>
          <a:lstStyle/>
          <a:p>
            <a:r>
              <a:rPr lang="en-US" sz="1600" b="1">
                <a:solidFill>
                  <a:srgbClr val="15375F"/>
                </a:solidFill>
                <a:latin typeface="Aptos" panose="020B0004020202020204" pitchFamily="34" charset="0"/>
              </a:rPr>
              <a:t>Ask: which table, which filter, which proof columns?</a:t>
            </a:r>
          </a:p>
        </p:txBody>
      </p:sp>
    </p:spTree>
    <p:extLst>
      <p:ext uri="{BB962C8B-B14F-4D97-AF65-F5344CB8AC3E}">
        <p14:creationId xmlns:p14="http://schemas.microsoft.com/office/powerpoint/2010/main" val="3426516069"/>
      </p:ext>
    </p:extLst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>
            <a:extLst>
              <a:ext uri="{FF2B5EF4-FFF2-40B4-BE49-F238E27FC236}">
                <a16:creationId xmlns:a16="http://schemas.microsoft.com/office/drawing/2014/main" id="{59E2BD58-BC3B-C0EF-195D-F9BBD239B81F}"/>
              </a:ext>
            </a:extLst>
          </p:cNvPr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8D0E1707-EA31-B232-0FF5-73E701195774}"/>
              </a:ext>
            </a:extLst>
          </p:cNvPr>
          <p:cNvSpPr/>
          <p:nvPr/>
        </p:nvSpPr>
        <p:spPr>
          <a:xfrm>
            <a:off x="0" y="0"/>
            <a:ext cx="12192000" cy="939800"/>
          </a:xfrm>
          <a:prstGeom prst="rect">
            <a:avLst/>
          </a:prstGeom>
          <a:solidFill>
            <a:srgbClr val="243F68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116CA399-3875-AD06-0DD0-94D3439932F1}"/>
              </a:ext>
            </a:extLst>
          </p:cNvPr>
          <p:cNvSpPr txBox="1"/>
          <p:nvPr/>
        </p:nvSpPr>
        <p:spPr>
          <a:xfrm>
            <a:off x="406400" y="127000"/>
            <a:ext cx="11176000" cy="241092"/>
          </a:xfrm>
          <a:prstGeom prst="rect">
            <a:avLst/>
          </a:prstGeom>
          <a:noFill/>
        </p:spPr>
        <p:txBody>
          <a:bodyPr vert="horz" wrap="square" lIns="101600" tIns="50800" rIns="101600" bIns="50800" rtlCol="0">
            <a:spAutoFit/>
          </a:bodyPr>
          <a:lstStyle/>
          <a:p>
            <a:r>
              <a:rPr lang="en-US" sz="900" b="1">
                <a:solidFill>
                  <a:srgbClr val="BFD7FF"/>
                </a:solidFill>
                <a:latin typeface="Aptos" panose="020B0004020202020204" pitchFamily="34" charset="0"/>
              </a:rPr>
              <a:t>CHECK YOUR WORK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7CE772A9-63AA-35FA-3E22-6795745C570E}"/>
              </a:ext>
            </a:extLst>
          </p:cNvPr>
          <p:cNvSpPr txBox="1"/>
          <p:nvPr/>
        </p:nvSpPr>
        <p:spPr>
          <a:xfrm>
            <a:off x="406400" y="342900"/>
            <a:ext cx="11176000" cy="487313"/>
          </a:xfrm>
          <a:prstGeom prst="rect">
            <a:avLst/>
          </a:prstGeom>
          <a:noFill/>
        </p:spPr>
        <p:txBody>
          <a:bodyPr vert="horz" wrap="square" lIns="101600" tIns="50800" rIns="101600" bIns="50800" rtlCol="0">
            <a:spAutoFit/>
          </a:bodyPr>
          <a:lstStyle/>
          <a:p>
            <a:r>
              <a:rPr lang="en-US" sz="2500" b="1">
                <a:solidFill>
                  <a:srgbClr val="FFFFFF"/>
                </a:solidFill>
                <a:latin typeface="Aptos" panose="020B0004020202020204" pitchFamily="34" charset="0"/>
              </a:rPr>
              <a:t>Scenario 05: Answer Key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B49E0460-E19E-D155-5804-7FE5C3B43A59}"/>
              </a:ext>
            </a:extLst>
          </p:cNvPr>
          <p:cNvSpPr txBox="1"/>
          <p:nvPr/>
        </p:nvSpPr>
        <p:spPr>
          <a:xfrm>
            <a:off x="685800" y="1371600"/>
            <a:ext cx="10414000" cy="410369"/>
          </a:xfrm>
          <a:prstGeom prst="rect">
            <a:avLst/>
          </a:prstGeom>
          <a:noFill/>
        </p:spPr>
        <p:txBody>
          <a:bodyPr vert="horz" wrap="square" lIns="101600" tIns="50800" rIns="101600" bIns="50800" rtlCol="0">
            <a:spAutoFit/>
          </a:bodyPr>
          <a:lstStyle/>
          <a:p>
            <a:r>
              <a:rPr lang="en-US" sz="2000" b="1">
                <a:solidFill>
                  <a:srgbClr val="243F68"/>
                </a:solidFill>
                <a:latin typeface="Aptos" panose="020B0004020202020204" pitchFamily="34" charset="0"/>
              </a:rPr>
              <a:t>Challenge: Which two PowerShell files were staged for the Kerberoasting test?</a:t>
            </a:r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6F64E5E3-73DB-8ED1-74AA-889198D83971}"/>
              </a:ext>
            </a:extLst>
          </p:cNvPr>
          <p:cNvSpPr/>
          <p:nvPr/>
        </p:nvSpPr>
        <p:spPr>
          <a:xfrm>
            <a:off x="685800" y="2336800"/>
            <a:ext cx="10414000" cy="1206500"/>
          </a:xfrm>
          <a:prstGeom prst="rect">
            <a:avLst/>
          </a:prstGeom>
          <a:solidFill>
            <a:srgbClr val="EEF7ED"/>
          </a:solidFill>
          <a:ln w="12700">
            <a:solidFill>
              <a:srgbClr val="7FA9DA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DCFFABE9-ED41-873D-53B0-5F74402E9ED1}"/>
              </a:ext>
            </a:extLst>
          </p:cNvPr>
          <p:cNvSpPr txBox="1"/>
          <p:nvPr/>
        </p:nvSpPr>
        <p:spPr>
          <a:xfrm>
            <a:off x="812800" y="2438400"/>
            <a:ext cx="10160000" cy="595035"/>
          </a:xfrm>
          <a:prstGeom prst="rect">
            <a:avLst/>
          </a:prstGeom>
          <a:noFill/>
        </p:spPr>
        <p:txBody>
          <a:bodyPr vert="horz" wrap="square" lIns="101600" tIns="50800" rIns="101600" bIns="50800" rtlCol="0">
            <a:spAutoFit/>
          </a:bodyPr>
          <a:lstStyle/>
          <a:p>
            <a:r>
              <a:rPr lang="en-US" sz="1600" b="1">
                <a:solidFill>
                  <a:srgbClr val="15375F"/>
                </a:solidFill>
                <a:latin typeface="Aptos" panose="020B0004020202020204" pitchFamily="34" charset="0"/>
              </a:rPr>
              <a:t>call-invoke-kerberoast.ps1 and invoke-kerberoast.ps1. Defender detections were tied to invoke-kerberoast.ps1.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6177E50D-4EC0-8346-63D7-91680BA36E16}"/>
              </a:ext>
            </a:extLst>
          </p:cNvPr>
          <p:cNvSpPr txBox="1"/>
          <p:nvPr/>
        </p:nvSpPr>
        <p:spPr>
          <a:xfrm>
            <a:off x="914400" y="3937000"/>
            <a:ext cx="10033000" cy="1456809"/>
          </a:xfrm>
          <a:prstGeom prst="rect">
            <a:avLst/>
          </a:prstGeom>
          <a:noFill/>
        </p:spPr>
        <p:txBody>
          <a:bodyPr vert="horz" wrap="square" lIns="101600" tIns="50800" rIns="101600" bIns="50800" rtlCol="0">
            <a:spAutoFit/>
          </a:bodyPr>
          <a:lstStyle/>
          <a:p>
            <a:pPr>
              <a:spcAft>
                <a:spcPts val="800"/>
              </a:spcAft>
            </a:pPr>
            <a:r>
              <a:rPr lang="en-US" sz="1700">
                <a:solidFill>
                  <a:srgbClr val="111111"/>
                </a:solidFill>
                <a:latin typeface="Aptos" panose="020B0004020202020204" pitchFamily="34" charset="0"/>
              </a:rPr>
              <a:t>- How the KQL finds it: start with the table most likely to hold the evidence.</a:t>
            </a:r>
          </a:p>
          <a:p>
            <a:pPr>
              <a:spcAft>
                <a:spcPts val="800"/>
              </a:spcAft>
            </a:pPr>
            <a:r>
              <a:rPr lang="en-US" sz="1700">
                <a:solidFill>
                  <a:srgbClr val="111111"/>
                </a:solidFill>
                <a:latin typeface="Aptos" panose="020B0004020202020204" pitchFamily="34" charset="0"/>
              </a:rPr>
              <a:t>- Use where filters to reduce to the device, time, and scenario clue.</a:t>
            </a:r>
          </a:p>
          <a:p>
            <a:pPr>
              <a:spcAft>
                <a:spcPts val="800"/>
              </a:spcAft>
            </a:pPr>
            <a:r>
              <a:rPr lang="en-US" sz="1700">
                <a:solidFill>
                  <a:srgbClr val="111111"/>
                </a:solidFill>
                <a:latin typeface="Aptos" panose="020B0004020202020204" pitchFamily="34" charset="0"/>
              </a:rPr>
              <a:t>- Use project to show only the columns that prove the answer.</a:t>
            </a:r>
          </a:p>
          <a:p>
            <a:pPr>
              <a:spcAft>
                <a:spcPts val="800"/>
              </a:spcAft>
            </a:pPr>
            <a:r>
              <a:rPr lang="en-US" sz="1700">
                <a:solidFill>
                  <a:srgbClr val="111111"/>
                </a:solidFill>
                <a:latin typeface="Aptos" panose="020B0004020202020204" pitchFamily="34" charset="0"/>
              </a:rPr>
              <a:t>- If one table is incomplete, pivot to file or alert evidence.</a:t>
            </a:r>
          </a:p>
        </p:txBody>
      </p:sp>
    </p:spTree>
    <p:extLst>
      <p:ext uri="{BB962C8B-B14F-4D97-AF65-F5344CB8AC3E}">
        <p14:creationId xmlns:p14="http://schemas.microsoft.com/office/powerpoint/2010/main" val="2842087314"/>
      </p:ext>
    </p:extLst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>
            <a:extLst>
              <a:ext uri="{FF2B5EF4-FFF2-40B4-BE49-F238E27FC236}">
                <a16:creationId xmlns:a16="http://schemas.microsoft.com/office/drawing/2014/main" id="{6601884E-D1AB-FCB3-8515-80502FAAA86B}"/>
              </a:ext>
            </a:extLst>
          </p:cNvPr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60E9D449-4222-1089-0337-2CACD21526BB}"/>
              </a:ext>
            </a:extLst>
          </p:cNvPr>
          <p:cNvSpPr/>
          <p:nvPr/>
        </p:nvSpPr>
        <p:spPr>
          <a:xfrm>
            <a:off x="0" y="0"/>
            <a:ext cx="12192000" cy="939800"/>
          </a:xfrm>
          <a:prstGeom prst="rect">
            <a:avLst/>
          </a:prstGeom>
          <a:solidFill>
            <a:srgbClr val="243F68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187F9B8D-379F-6B86-8759-199043A9C299}"/>
              </a:ext>
            </a:extLst>
          </p:cNvPr>
          <p:cNvSpPr txBox="1"/>
          <p:nvPr/>
        </p:nvSpPr>
        <p:spPr>
          <a:xfrm>
            <a:off x="406400" y="127000"/>
            <a:ext cx="11176000" cy="241092"/>
          </a:xfrm>
          <a:prstGeom prst="rect">
            <a:avLst/>
          </a:prstGeom>
          <a:noFill/>
        </p:spPr>
        <p:txBody>
          <a:bodyPr vert="horz" wrap="square" lIns="101600" tIns="50800" rIns="101600" bIns="50800" rtlCol="0">
            <a:spAutoFit/>
          </a:bodyPr>
          <a:lstStyle/>
          <a:p>
            <a:r>
              <a:rPr lang="en-US" sz="900" b="1">
                <a:solidFill>
                  <a:srgbClr val="BFD7FF"/>
                </a:solidFill>
                <a:latin typeface="Aptos" panose="020B0004020202020204" pitchFamily="34" charset="0"/>
              </a:rPr>
              <a:t>SCENARIO BRIEF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B7B27312-4439-4D8C-F6CC-1C74CABF725A}"/>
              </a:ext>
            </a:extLst>
          </p:cNvPr>
          <p:cNvSpPr txBox="1"/>
          <p:nvPr/>
        </p:nvSpPr>
        <p:spPr>
          <a:xfrm>
            <a:off x="406400" y="342900"/>
            <a:ext cx="11176000" cy="487313"/>
          </a:xfrm>
          <a:prstGeom prst="rect">
            <a:avLst/>
          </a:prstGeom>
          <a:noFill/>
        </p:spPr>
        <p:txBody>
          <a:bodyPr vert="horz" wrap="square" lIns="101600" tIns="50800" rIns="101600" bIns="50800" rtlCol="0">
            <a:spAutoFit/>
          </a:bodyPr>
          <a:lstStyle/>
          <a:p>
            <a:r>
              <a:rPr lang="en-US" sz="2500" b="1">
                <a:solidFill>
                  <a:srgbClr val="FFFFFF"/>
                </a:solidFill>
                <a:latin typeface="Aptos" panose="020B0004020202020204" pitchFamily="34" charset="0"/>
              </a:rPr>
              <a:t>Scenario 06: LSASS Minidump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9FE72BE6-900A-CE28-E536-C774101EB931}"/>
              </a:ext>
            </a:extLst>
          </p:cNvPr>
          <p:cNvSpPr txBox="1"/>
          <p:nvPr/>
        </p:nvSpPr>
        <p:spPr>
          <a:xfrm>
            <a:off x="685800" y="1333500"/>
            <a:ext cx="10795000" cy="1579920"/>
          </a:xfrm>
          <a:prstGeom prst="rect">
            <a:avLst/>
          </a:prstGeom>
          <a:noFill/>
        </p:spPr>
        <p:txBody>
          <a:bodyPr vert="horz" wrap="square" lIns="101600" tIns="50800" rIns="101600" bIns="50800" rtlCol="0">
            <a:spAutoFit/>
          </a:bodyPr>
          <a:lstStyle/>
          <a:p>
            <a:pPr>
              <a:spcAft>
                <a:spcPts val="800"/>
              </a:spcAft>
            </a:pPr>
            <a:r>
              <a:rPr lang="en-US" sz="1900">
                <a:solidFill>
                  <a:srgbClr val="111111"/>
                </a:solidFill>
                <a:latin typeface="Aptos" panose="020B0004020202020204" pitchFamily="34" charset="0"/>
              </a:rPr>
              <a:t>- The attacker tries to dump LSASS. A dump file appears and Defender raises DumpLsass evidence.</a:t>
            </a:r>
          </a:p>
          <a:p>
            <a:pPr>
              <a:spcAft>
                <a:spcPts val="800"/>
              </a:spcAft>
            </a:pPr>
            <a:r>
              <a:rPr lang="en-US" sz="1900">
                <a:solidFill>
                  <a:srgbClr val="111111"/>
                </a:solidFill>
                <a:latin typeface="Aptos" panose="020B0004020202020204" pitchFamily="34" charset="0"/>
              </a:rPr>
              <a:t>- KQL skill: Pattern hunting with endswith and alert titles</a:t>
            </a:r>
          </a:p>
          <a:p>
            <a:pPr>
              <a:spcAft>
                <a:spcPts val="800"/>
              </a:spcAft>
            </a:pPr>
            <a:r>
              <a:rPr lang="en-US" sz="1900">
                <a:solidFill>
                  <a:srgbClr val="111111"/>
                </a:solidFill>
                <a:latin typeface="Aptos" panose="020B0004020202020204" pitchFamily="34" charset="0"/>
              </a:rPr>
              <a:t>- Student flow: read the brief, learn the query idea, build it slowly, then answer the challenge.</a:t>
            </a:r>
          </a:p>
          <a:p>
            <a:pPr>
              <a:spcAft>
                <a:spcPts val="800"/>
              </a:spcAft>
            </a:pPr>
            <a:r>
              <a:rPr lang="en-US" sz="1900">
                <a:solidFill>
                  <a:srgbClr val="111111"/>
                </a:solidFill>
                <a:latin typeface="Aptos" panose="020B0004020202020204" pitchFamily="34" charset="0"/>
              </a:rPr>
              <a:t>- Instructor reminder: do not show the full query until students have tried the build steps.</a:t>
            </a:r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4D5CA1C5-52A8-0146-DAA6-5F8426E5BD94}"/>
              </a:ext>
            </a:extLst>
          </p:cNvPr>
          <p:cNvSpPr/>
          <p:nvPr/>
        </p:nvSpPr>
        <p:spPr>
          <a:xfrm>
            <a:off x="889000" y="5130800"/>
            <a:ext cx="10033000" cy="762000"/>
          </a:xfrm>
          <a:prstGeom prst="rect">
            <a:avLst/>
          </a:prstGeom>
          <a:solidFill>
            <a:srgbClr val="FFF6E5"/>
          </a:solidFill>
          <a:ln w="12700">
            <a:solidFill>
              <a:srgbClr val="7FA9DA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63E316E9-732A-BD50-BADB-759AD6B9E17F}"/>
              </a:ext>
            </a:extLst>
          </p:cNvPr>
          <p:cNvSpPr txBox="1"/>
          <p:nvPr/>
        </p:nvSpPr>
        <p:spPr>
          <a:xfrm>
            <a:off x="1016000" y="5232400"/>
            <a:ext cx="9779000" cy="348813"/>
          </a:xfrm>
          <a:prstGeom prst="rect">
            <a:avLst/>
          </a:prstGeom>
          <a:noFill/>
        </p:spPr>
        <p:txBody>
          <a:bodyPr vert="horz" wrap="square" lIns="101600" tIns="50800" rIns="101600" bIns="50800" rtlCol="0">
            <a:spAutoFit/>
          </a:bodyPr>
          <a:lstStyle/>
          <a:p>
            <a:r>
              <a:rPr lang="en-US" sz="1600" b="1">
                <a:solidFill>
                  <a:srgbClr val="15375F"/>
                </a:solidFill>
                <a:latin typeface="Aptos" panose="020B0004020202020204" pitchFamily="34" charset="0"/>
              </a:rPr>
              <a:t>CTF challenge: What dump file was created, and what ATT&amp;CK sub-technique did the alert map to?</a:t>
            </a:r>
          </a:p>
        </p:txBody>
      </p:sp>
    </p:spTree>
    <p:extLst>
      <p:ext uri="{BB962C8B-B14F-4D97-AF65-F5344CB8AC3E}">
        <p14:creationId xmlns:p14="http://schemas.microsoft.com/office/powerpoint/2010/main" val="1193161778"/>
      </p:ext>
    </p:extLst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>
            <a:extLst>
              <a:ext uri="{FF2B5EF4-FFF2-40B4-BE49-F238E27FC236}">
                <a16:creationId xmlns:a16="http://schemas.microsoft.com/office/drawing/2014/main" id="{DB57A59D-803F-7112-5913-969DF9D28BEA}"/>
              </a:ext>
            </a:extLst>
          </p:cNvPr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E88C9608-378E-934C-D60A-8520B46DEEC3}"/>
              </a:ext>
            </a:extLst>
          </p:cNvPr>
          <p:cNvSpPr/>
          <p:nvPr/>
        </p:nvSpPr>
        <p:spPr>
          <a:xfrm>
            <a:off x="0" y="0"/>
            <a:ext cx="12192000" cy="939800"/>
          </a:xfrm>
          <a:prstGeom prst="rect">
            <a:avLst/>
          </a:prstGeom>
          <a:solidFill>
            <a:srgbClr val="243F68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7601F500-6D15-DB63-BAC6-612E33C3D7E2}"/>
              </a:ext>
            </a:extLst>
          </p:cNvPr>
          <p:cNvSpPr txBox="1"/>
          <p:nvPr/>
        </p:nvSpPr>
        <p:spPr>
          <a:xfrm>
            <a:off x="406400" y="127000"/>
            <a:ext cx="11176000" cy="241092"/>
          </a:xfrm>
          <a:prstGeom prst="rect">
            <a:avLst/>
          </a:prstGeom>
          <a:noFill/>
        </p:spPr>
        <p:txBody>
          <a:bodyPr vert="horz" wrap="square" lIns="101600" tIns="50800" rIns="101600" bIns="50800" rtlCol="0">
            <a:spAutoFit/>
          </a:bodyPr>
          <a:lstStyle/>
          <a:p>
            <a:r>
              <a:rPr lang="en-US" sz="900" b="1">
                <a:solidFill>
                  <a:srgbClr val="BFD7FF"/>
                </a:solidFill>
                <a:latin typeface="Aptos" panose="020B0004020202020204" pitchFamily="34" charset="0"/>
              </a:rPr>
              <a:t>LSASS MINIDUMP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FCAA06CB-B370-1205-E73D-D46EC7CAE664}"/>
              </a:ext>
            </a:extLst>
          </p:cNvPr>
          <p:cNvSpPr txBox="1"/>
          <p:nvPr/>
        </p:nvSpPr>
        <p:spPr>
          <a:xfrm>
            <a:off x="406400" y="342900"/>
            <a:ext cx="11176000" cy="487313"/>
          </a:xfrm>
          <a:prstGeom prst="rect">
            <a:avLst/>
          </a:prstGeom>
          <a:noFill/>
        </p:spPr>
        <p:txBody>
          <a:bodyPr vert="horz" wrap="square" lIns="101600" tIns="50800" rIns="101600" bIns="50800" rtlCol="0">
            <a:spAutoFit/>
          </a:bodyPr>
          <a:lstStyle/>
          <a:p>
            <a:r>
              <a:rPr lang="en-US" sz="2500" b="1">
                <a:solidFill>
                  <a:srgbClr val="FFFFFF"/>
                </a:solidFill>
                <a:latin typeface="Aptos" panose="020B0004020202020204" pitchFamily="34" charset="0"/>
              </a:rPr>
              <a:t>Scenario 06: Build It Slowly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97828133-2821-5B3C-F5F7-976FA2AEA474}"/>
              </a:ext>
            </a:extLst>
          </p:cNvPr>
          <p:cNvSpPr txBox="1"/>
          <p:nvPr/>
        </p:nvSpPr>
        <p:spPr>
          <a:xfrm>
            <a:off x="685800" y="1371600"/>
            <a:ext cx="5461000" cy="1795363"/>
          </a:xfrm>
          <a:prstGeom prst="rect">
            <a:avLst/>
          </a:prstGeom>
          <a:noFill/>
        </p:spPr>
        <p:txBody>
          <a:bodyPr vert="horz" wrap="square" lIns="101600" tIns="50800" rIns="101600" bIns="50800" rtlCol="0">
            <a:spAutoFit/>
          </a:bodyPr>
          <a:lstStyle/>
          <a:p>
            <a:pPr>
              <a:spcAft>
                <a:spcPts val="800"/>
              </a:spcAft>
            </a:pPr>
            <a:r>
              <a:rPr lang="en-US">
                <a:solidFill>
                  <a:srgbClr val="111111"/>
                </a:solidFill>
                <a:latin typeface="Aptos" panose="020B0004020202020204" pitchFamily="34" charset="0"/>
              </a:rPr>
              <a:t>- Search DeviceFileEvents for FileName endswith .dmp.</a:t>
            </a:r>
          </a:p>
          <a:p>
            <a:pPr>
              <a:spcAft>
                <a:spcPts val="800"/>
              </a:spcAft>
            </a:pPr>
            <a:r>
              <a:rPr lang="en-US">
                <a:solidFill>
                  <a:srgbClr val="111111"/>
                </a:solidFill>
                <a:latin typeface="Aptos" panose="020B0004020202020204" pitchFamily="34" charset="0"/>
              </a:rPr>
              <a:t>- Look for pid_ path patterns.</a:t>
            </a:r>
          </a:p>
          <a:p>
            <a:pPr>
              <a:spcAft>
                <a:spcPts val="800"/>
              </a:spcAft>
            </a:pPr>
            <a:r>
              <a:rPr lang="en-US">
                <a:solidFill>
                  <a:srgbClr val="111111"/>
                </a:solidFill>
                <a:latin typeface="Aptos" panose="020B0004020202020204" pitchFamily="34" charset="0"/>
              </a:rPr>
              <a:t>- Search AlertEvidence for DumpLsass or LSASS.</a:t>
            </a:r>
          </a:p>
          <a:p>
            <a:pPr>
              <a:spcAft>
                <a:spcPts val="800"/>
              </a:spcAft>
            </a:pPr>
            <a:r>
              <a:rPr lang="en-US">
                <a:solidFill>
                  <a:srgbClr val="111111"/>
                </a:solidFill>
                <a:latin typeface="Aptos" panose="020B0004020202020204" pitchFamily="34" charset="0"/>
              </a:rPr>
              <a:t>- Map to LSASS Memory T1003.001.</a:t>
            </a:r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DAFF905B-C4EB-3FD4-AF19-169878C5619D}"/>
              </a:ext>
            </a:extLst>
          </p:cNvPr>
          <p:cNvSpPr/>
          <p:nvPr/>
        </p:nvSpPr>
        <p:spPr>
          <a:xfrm>
            <a:off x="6604000" y="1397000"/>
            <a:ext cx="4508500" cy="3111500"/>
          </a:xfrm>
          <a:prstGeom prst="rect">
            <a:avLst/>
          </a:prstGeom>
          <a:solidFill>
            <a:srgbClr val="F4F7FB"/>
          </a:solidFill>
          <a:ln w="12700">
            <a:solidFill>
              <a:srgbClr val="D6E0EF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ACFBDC86-A222-EDF9-6457-F99335F582E7}"/>
              </a:ext>
            </a:extLst>
          </p:cNvPr>
          <p:cNvSpPr txBox="1"/>
          <p:nvPr/>
        </p:nvSpPr>
        <p:spPr>
          <a:xfrm>
            <a:off x="6756400" y="1524000"/>
            <a:ext cx="4203700" cy="1456809"/>
          </a:xfrm>
          <a:prstGeom prst="rect">
            <a:avLst/>
          </a:prstGeom>
          <a:noFill/>
        </p:spPr>
        <p:txBody>
          <a:bodyPr vert="horz" wrap="square" lIns="101600" tIns="50800" rIns="101600" bIns="50800" rtlCol="0">
            <a:spAutoFit/>
          </a:bodyPr>
          <a:lstStyle/>
          <a:p>
            <a:r>
              <a:rPr lang="en-US" sz="1100">
                <a:solidFill>
                  <a:srgbClr val="0B1F3A"/>
                </a:solidFill>
                <a:latin typeface="Cascadia Mono" panose="020B0609020000020004" pitchFamily="49" charset="0"/>
              </a:rPr>
              <a:t>let TargetDevice = "usm262346";</a:t>
            </a:r>
          </a:p>
          <a:p>
            <a:r>
              <a:rPr lang="en-US" sz="1100">
                <a:solidFill>
                  <a:srgbClr val="0B1F3A"/>
                </a:solidFill>
                <a:latin typeface="Cascadia Mono" panose="020B0609020000020004" pitchFamily="49" charset="0"/>
              </a:rPr>
              <a:t>DeviceFileEvents</a:t>
            </a:r>
          </a:p>
          <a:p>
            <a:r>
              <a:rPr lang="en-US" sz="1100">
                <a:solidFill>
                  <a:srgbClr val="0B1F3A"/>
                </a:solidFill>
                <a:latin typeface="Cascadia Mono" panose="020B0609020000020004" pitchFamily="49" charset="0"/>
              </a:rPr>
              <a:t>| where Timestamp &gt; ago(7d)</a:t>
            </a:r>
          </a:p>
          <a:p>
            <a:r>
              <a:rPr lang="en-US" sz="1100">
                <a:solidFill>
                  <a:srgbClr val="0B1F3A"/>
                </a:solidFill>
                <a:latin typeface="Cascadia Mono" panose="020B0609020000020004" pitchFamily="49" charset="0"/>
              </a:rPr>
              <a:t>| where DeviceName == TargetDevice</a:t>
            </a:r>
          </a:p>
          <a:p>
            <a:r>
              <a:rPr lang="en-US" sz="1100">
                <a:solidFill>
                  <a:srgbClr val="0B1F3A"/>
                </a:solidFill>
                <a:latin typeface="Cascadia Mono" panose="020B0609020000020004" pitchFamily="49" charset="0"/>
              </a:rPr>
              <a:t>| where FileName endswith ".dmp" or FolderPath has "pid_"</a:t>
            </a:r>
          </a:p>
          <a:p>
            <a:r>
              <a:rPr lang="en-US" sz="1100">
                <a:solidFill>
                  <a:srgbClr val="0B1F3A"/>
                </a:solidFill>
                <a:latin typeface="Cascadia Mono" panose="020B0609020000020004" pitchFamily="49" charset="0"/>
              </a:rPr>
              <a:t>| project Timestamp, ActionType, FileName, FolderPath</a:t>
            </a:r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6CA284BA-0106-C619-F7BB-36187E278D21}"/>
              </a:ext>
            </a:extLst>
          </p:cNvPr>
          <p:cNvSpPr/>
          <p:nvPr/>
        </p:nvSpPr>
        <p:spPr>
          <a:xfrm>
            <a:off x="6604000" y="4851400"/>
            <a:ext cx="4508500" cy="787400"/>
          </a:xfrm>
          <a:prstGeom prst="rect">
            <a:avLst/>
          </a:prstGeom>
          <a:solidFill>
            <a:srgbClr val="EAF3FF"/>
          </a:solidFill>
          <a:ln w="12700">
            <a:solidFill>
              <a:srgbClr val="7FA9DA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B6897503-12B2-87C4-210C-FB9CC392ADAF}"/>
              </a:ext>
            </a:extLst>
          </p:cNvPr>
          <p:cNvSpPr txBox="1"/>
          <p:nvPr/>
        </p:nvSpPr>
        <p:spPr>
          <a:xfrm>
            <a:off x="6731000" y="4953000"/>
            <a:ext cx="4254500" cy="595035"/>
          </a:xfrm>
          <a:prstGeom prst="rect">
            <a:avLst/>
          </a:prstGeom>
          <a:noFill/>
        </p:spPr>
        <p:txBody>
          <a:bodyPr vert="horz" wrap="square" lIns="101600" tIns="50800" rIns="101600" bIns="50800" rtlCol="0">
            <a:spAutoFit/>
          </a:bodyPr>
          <a:lstStyle/>
          <a:p>
            <a:r>
              <a:rPr lang="en-US" sz="1600" b="1">
                <a:solidFill>
                  <a:srgbClr val="15375F"/>
                </a:solidFill>
                <a:latin typeface="Aptos" panose="020B0004020202020204" pitchFamily="34" charset="0"/>
              </a:rPr>
              <a:t>Ask: which table, which filter, which proof columns?</a:t>
            </a:r>
          </a:p>
        </p:txBody>
      </p:sp>
    </p:spTree>
    <p:extLst>
      <p:ext uri="{BB962C8B-B14F-4D97-AF65-F5344CB8AC3E}">
        <p14:creationId xmlns:p14="http://schemas.microsoft.com/office/powerpoint/2010/main" val="1239612091"/>
      </p:ext>
    </p:extLst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>
            <a:extLst>
              <a:ext uri="{FF2B5EF4-FFF2-40B4-BE49-F238E27FC236}">
                <a16:creationId xmlns:a16="http://schemas.microsoft.com/office/drawing/2014/main" id="{F6E19468-C296-CA02-9EC3-99328029E752}"/>
              </a:ext>
            </a:extLst>
          </p:cNvPr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EB8C9F5E-5AC2-5E98-D6F2-DDDB89319930}"/>
              </a:ext>
            </a:extLst>
          </p:cNvPr>
          <p:cNvSpPr/>
          <p:nvPr/>
        </p:nvSpPr>
        <p:spPr>
          <a:xfrm>
            <a:off x="0" y="0"/>
            <a:ext cx="12192000" cy="939800"/>
          </a:xfrm>
          <a:prstGeom prst="rect">
            <a:avLst/>
          </a:prstGeom>
          <a:solidFill>
            <a:srgbClr val="243F68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562F53EA-2EF3-FDB3-6A1E-A628162A162F}"/>
              </a:ext>
            </a:extLst>
          </p:cNvPr>
          <p:cNvSpPr txBox="1"/>
          <p:nvPr/>
        </p:nvSpPr>
        <p:spPr>
          <a:xfrm>
            <a:off x="406400" y="127000"/>
            <a:ext cx="11176000" cy="241092"/>
          </a:xfrm>
          <a:prstGeom prst="rect">
            <a:avLst/>
          </a:prstGeom>
          <a:noFill/>
        </p:spPr>
        <p:txBody>
          <a:bodyPr vert="horz" wrap="square" lIns="101600" tIns="50800" rIns="101600" bIns="50800" rtlCol="0">
            <a:spAutoFit/>
          </a:bodyPr>
          <a:lstStyle/>
          <a:p>
            <a:r>
              <a:rPr lang="en-US" sz="900" b="1">
                <a:solidFill>
                  <a:srgbClr val="BFD7FF"/>
                </a:solidFill>
                <a:latin typeface="Aptos" panose="020B0004020202020204" pitchFamily="34" charset="0"/>
              </a:rPr>
              <a:t>CHECK YOUR WORK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0EB91800-F18E-025C-9637-62DC4CD7ACEB}"/>
              </a:ext>
            </a:extLst>
          </p:cNvPr>
          <p:cNvSpPr txBox="1"/>
          <p:nvPr/>
        </p:nvSpPr>
        <p:spPr>
          <a:xfrm>
            <a:off x="406400" y="342900"/>
            <a:ext cx="11176000" cy="487313"/>
          </a:xfrm>
          <a:prstGeom prst="rect">
            <a:avLst/>
          </a:prstGeom>
          <a:noFill/>
        </p:spPr>
        <p:txBody>
          <a:bodyPr vert="horz" wrap="square" lIns="101600" tIns="50800" rIns="101600" bIns="50800" rtlCol="0">
            <a:spAutoFit/>
          </a:bodyPr>
          <a:lstStyle/>
          <a:p>
            <a:r>
              <a:rPr lang="en-US" sz="2500" b="1">
                <a:solidFill>
                  <a:srgbClr val="FFFFFF"/>
                </a:solidFill>
                <a:latin typeface="Aptos" panose="020B0004020202020204" pitchFamily="34" charset="0"/>
              </a:rPr>
              <a:t>Scenario 06: Answer Key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5F763A34-2C21-1D32-3764-2A04886DF373}"/>
              </a:ext>
            </a:extLst>
          </p:cNvPr>
          <p:cNvSpPr txBox="1"/>
          <p:nvPr/>
        </p:nvSpPr>
        <p:spPr>
          <a:xfrm>
            <a:off x="685800" y="1371600"/>
            <a:ext cx="10414000" cy="718145"/>
          </a:xfrm>
          <a:prstGeom prst="rect">
            <a:avLst/>
          </a:prstGeom>
          <a:noFill/>
        </p:spPr>
        <p:txBody>
          <a:bodyPr vert="horz" wrap="square" lIns="101600" tIns="50800" rIns="101600" bIns="50800" rtlCol="0">
            <a:spAutoFit/>
          </a:bodyPr>
          <a:lstStyle/>
          <a:p>
            <a:r>
              <a:rPr lang="en-US" sz="2000" b="1">
                <a:solidFill>
                  <a:srgbClr val="243F68"/>
                </a:solidFill>
                <a:latin typeface="Aptos" panose="020B0004020202020204" pitchFamily="34" charset="0"/>
              </a:rPr>
              <a:t>Challenge: What dump file was created, and what ATT&amp;CK sub-technique did the alert map to?</a:t>
            </a:r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634C53BE-A1AE-3A8E-A823-E62952984B10}"/>
              </a:ext>
            </a:extLst>
          </p:cNvPr>
          <p:cNvSpPr/>
          <p:nvPr/>
        </p:nvSpPr>
        <p:spPr>
          <a:xfrm>
            <a:off x="685800" y="2336800"/>
            <a:ext cx="10414000" cy="1206500"/>
          </a:xfrm>
          <a:prstGeom prst="rect">
            <a:avLst/>
          </a:prstGeom>
          <a:solidFill>
            <a:srgbClr val="EEF7ED"/>
          </a:solidFill>
          <a:ln w="12700">
            <a:solidFill>
              <a:srgbClr val="7FA9DA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EB328227-37B9-2F86-5F2D-7D917CA94B92}"/>
              </a:ext>
            </a:extLst>
          </p:cNvPr>
          <p:cNvSpPr txBox="1"/>
          <p:nvPr/>
        </p:nvSpPr>
        <p:spPr>
          <a:xfrm>
            <a:off x="812800" y="2438400"/>
            <a:ext cx="10160000" cy="595035"/>
          </a:xfrm>
          <a:prstGeom prst="rect">
            <a:avLst/>
          </a:prstGeom>
          <a:noFill/>
        </p:spPr>
        <p:txBody>
          <a:bodyPr vert="horz" wrap="square" lIns="101600" tIns="50800" rIns="101600" bIns="50800" rtlCol="0">
            <a:spAutoFit/>
          </a:bodyPr>
          <a:lstStyle/>
          <a:p>
            <a:r>
              <a:rPr lang="en-US" sz="1600" b="1">
                <a:solidFill>
                  <a:srgbClr val="15375F"/>
                </a:solidFill>
                <a:latin typeface="Aptos" panose="020B0004020202020204" pitchFamily="34" charset="0"/>
              </a:rPr>
              <a:t>Dump file: pid_976_2ztj_d6a.dmp. Alert: DumpLsass hacktool prevented. Technique: LSASS Memory (T1003.001).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812C5246-18F2-D23E-A040-3F7C97F6076D}"/>
              </a:ext>
            </a:extLst>
          </p:cNvPr>
          <p:cNvSpPr txBox="1"/>
          <p:nvPr/>
        </p:nvSpPr>
        <p:spPr>
          <a:xfrm>
            <a:off x="914400" y="3937000"/>
            <a:ext cx="10033000" cy="1456809"/>
          </a:xfrm>
          <a:prstGeom prst="rect">
            <a:avLst/>
          </a:prstGeom>
          <a:noFill/>
        </p:spPr>
        <p:txBody>
          <a:bodyPr vert="horz" wrap="square" lIns="101600" tIns="50800" rIns="101600" bIns="50800" rtlCol="0">
            <a:spAutoFit/>
          </a:bodyPr>
          <a:lstStyle/>
          <a:p>
            <a:pPr>
              <a:spcAft>
                <a:spcPts val="800"/>
              </a:spcAft>
            </a:pPr>
            <a:r>
              <a:rPr lang="en-US" sz="1700">
                <a:solidFill>
                  <a:srgbClr val="111111"/>
                </a:solidFill>
                <a:latin typeface="Aptos" panose="020B0004020202020204" pitchFamily="34" charset="0"/>
              </a:rPr>
              <a:t>- How the KQL finds it: start with the table most likely to hold the evidence.</a:t>
            </a:r>
          </a:p>
          <a:p>
            <a:pPr>
              <a:spcAft>
                <a:spcPts val="800"/>
              </a:spcAft>
            </a:pPr>
            <a:r>
              <a:rPr lang="en-US" sz="1700">
                <a:solidFill>
                  <a:srgbClr val="111111"/>
                </a:solidFill>
                <a:latin typeface="Aptos" panose="020B0004020202020204" pitchFamily="34" charset="0"/>
              </a:rPr>
              <a:t>- Use where filters to reduce to the device, time, and scenario clue.</a:t>
            </a:r>
          </a:p>
          <a:p>
            <a:pPr>
              <a:spcAft>
                <a:spcPts val="800"/>
              </a:spcAft>
            </a:pPr>
            <a:r>
              <a:rPr lang="en-US" sz="1700">
                <a:solidFill>
                  <a:srgbClr val="111111"/>
                </a:solidFill>
                <a:latin typeface="Aptos" panose="020B0004020202020204" pitchFamily="34" charset="0"/>
              </a:rPr>
              <a:t>- Use project to show only the columns that prove the answer.</a:t>
            </a:r>
          </a:p>
          <a:p>
            <a:pPr>
              <a:spcAft>
                <a:spcPts val="800"/>
              </a:spcAft>
            </a:pPr>
            <a:r>
              <a:rPr lang="en-US" sz="1700">
                <a:solidFill>
                  <a:srgbClr val="111111"/>
                </a:solidFill>
                <a:latin typeface="Aptos" panose="020B0004020202020204" pitchFamily="34" charset="0"/>
              </a:rPr>
              <a:t>- If one table is incomplete, pivot to file or alert evidence.</a:t>
            </a:r>
          </a:p>
        </p:txBody>
      </p:sp>
    </p:spTree>
    <p:extLst>
      <p:ext uri="{BB962C8B-B14F-4D97-AF65-F5344CB8AC3E}">
        <p14:creationId xmlns:p14="http://schemas.microsoft.com/office/powerpoint/2010/main" val="288777553"/>
      </p:ext>
    </p:extLst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>
            <a:extLst>
              <a:ext uri="{FF2B5EF4-FFF2-40B4-BE49-F238E27FC236}">
                <a16:creationId xmlns:a16="http://schemas.microsoft.com/office/drawing/2014/main" id="{282F7989-47BB-1AB7-FFC4-0A3EF99EF3C3}"/>
              </a:ext>
            </a:extLst>
          </p:cNvPr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262D9E08-9E90-6F13-0282-5D423A37A2CA}"/>
              </a:ext>
            </a:extLst>
          </p:cNvPr>
          <p:cNvSpPr/>
          <p:nvPr/>
        </p:nvSpPr>
        <p:spPr>
          <a:xfrm>
            <a:off x="0" y="0"/>
            <a:ext cx="12192000" cy="939800"/>
          </a:xfrm>
          <a:prstGeom prst="rect">
            <a:avLst/>
          </a:prstGeom>
          <a:solidFill>
            <a:srgbClr val="243F68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C1CED997-BE95-007F-4F92-D6690026AAAA}"/>
              </a:ext>
            </a:extLst>
          </p:cNvPr>
          <p:cNvSpPr txBox="1"/>
          <p:nvPr/>
        </p:nvSpPr>
        <p:spPr>
          <a:xfrm>
            <a:off x="406400" y="127000"/>
            <a:ext cx="11176000" cy="241092"/>
          </a:xfrm>
          <a:prstGeom prst="rect">
            <a:avLst/>
          </a:prstGeom>
          <a:noFill/>
        </p:spPr>
        <p:txBody>
          <a:bodyPr vert="horz" wrap="square" lIns="101600" tIns="50800" rIns="101600" bIns="50800" rtlCol="0">
            <a:spAutoFit/>
          </a:bodyPr>
          <a:lstStyle/>
          <a:p>
            <a:r>
              <a:rPr lang="en-US" sz="900" b="1">
                <a:solidFill>
                  <a:srgbClr val="BFD7FF"/>
                </a:solidFill>
                <a:latin typeface="Aptos" panose="020B0004020202020204" pitchFamily="34" charset="0"/>
              </a:rPr>
              <a:t>SCENARIO BRIEF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E948E598-70E1-E14B-8041-F9C482D6B5C5}"/>
              </a:ext>
            </a:extLst>
          </p:cNvPr>
          <p:cNvSpPr txBox="1"/>
          <p:nvPr/>
        </p:nvSpPr>
        <p:spPr>
          <a:xfrm>
            <a:off x="406400" y="342900"/>
            <a:ext cx="11176000" cy="487313"/>
          </a:xfrm>
          <a:prstGeom prst="rect">
            <a:avLst/>
          </a:prstGeom>
          <a:noFill/>
        </p:spPr>
        <p:txBody>
          <a:bodyPr vert="horz" wrap="square" lIns="101600" tIns="50800" rIns="101600" bIns="50800" rtlCol="0">
            <a:spAutoFit/>
          </a:bodyPr>
          <a:lstStyle/>
          <a:p>
            <a:r>
              <a:rPr lang="en-US" sz="2500" b="1">
                <a:solidFill>
                  <a:srgbClr val="FFFFFF"/>
                </a:solidFill>
                <a:latin typeface="Aptos" panose="020B0004020202020204" pitchFamily="34" charset="0"/>
              </a:rPr>
              <a:t>Scenario 07: Dump Passwords Using PwDump7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5D915798-59E6-157D-9118-9D97B67670B8}"/>
              </a:ext>
            </a:extLst>
          </p:cNvPr>
          <p:cNvSpPr txBox="1"/>
          <p:nvPr/>
        </p:nvSpPr>
        <p:spPr>
          <a:xfrm>
            <a:off x="685800" y="1333500"/>
            <a:ext cx="10795000" cy="1579920"/>
          </a:xfrm>
          <a:prstGeom prst="rect">
            <a:avLst/>
          </a:prstGeom>
          <a:noFill/>
        </p:spPr>
        <p:txBody>
          <a:bodyPr vert="horz" wrap="square" lIns="101600" tIns="50800" rIns="101600" bIns="50800" rtlCol="0">
            <a:spAutoFit/>
          </a:bodyPr>
          <a:lstStyle/>
          <a:p>
            <a:pPr>
              <a:spcAft>
                <a:spcPts val="800"/>
              </a:spcAft>
            </a:pPr>
            <a:r>
              <a:rPr lang="en-US" sz="1900">
                <a:solidFill>
                  <a:srgbClr val="111111"/>
                </a:solidFill>
                <a:latin typeface="Aptos" panose="020B0004020202020204" pitchFamily="34" charset="0"/>
              </a:rPr>
              <a:t>- PwDump7 is staged and Defender prevents the credential dumping attempt.</a:t>
            </a:r>
          </a:p>
          <a:p>
            <a:pPr>
              <a:spcAft>
                <a:spcPts val="800"/>
              </a:spcAft>
            </a:pPr>
            <a:r>
              <a:rPr lang="en-US" sz="1900">
                <a:solidFill>
                  <a:srgbClr val="111111"/>
                </a:solidFill>
                <a:latin typeface="Aptos" panose="020B0004020202020204" pitchFamily="34" charset="0"/>
              </a:rPr>
              <a:t>- KQL skill: Prevented tool evidence</a:t>
            </a:r>
          </a:p>
          <a:p>
            <a:pPr>
              <a:spcAft>
                <a:spcPts val="800"/>
              </a:spcAft>
            </a:pPr>
            <a:r>
              <a:rPr lang="en-US" sz="1900">
                <a:solidFill>
                  <a:srgbClr val="111111"/>
                </a:solidFill>
                <a:latin typeface="Aptos" panose="020B0004020202020204" pitchFamily="34" charset="0"/>
              </a:rPr>
              <a:t>- Student flow: read the brief, learn the query idea, build it slowly, then answer the challenge.</a:t>
            </a:r>
          </a:p>
          <a:p>
            <a:pPr>
              <a:spcAft>
                <a:spcPts val="800"/>
              </a:spcAft>
            </a:pPr>
            <a:r>
              <a:rPr lang="en-US" sz="1900">
                <a:solidFill>
                  <a:srgbClr val="111111"/>
                </a:solidFill>
                <a:latin typeface="Aptos" panose="020B0004020202020204" pitchFamily="34" charset="0"/>
              </a:rPr>
              <a:t>- Instructor reminder: do not show the full query until students have tried the build steps.</a:t>
            </a:r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CEF9D83A-C791-5810-F87C-64972E1A1985}"/>
              </a:ext>
            </a:extLst>
          </p:cNvPr>
          <p:cNvSpPr/>
          <p:nvPr/>
        </p:nvSpPr>
        <p:spPr>
          <a:xfrm>
            <a:off x="889000" y="5130800"/>
            <a:ext cx="10033000" cy="762000"/>
          </a:xfrm>
          <a:prstGeom prst="rect">
            <a:avLst/>
          </a:prstGeom>
          <a:solidFill>
            <a:srgbClr val="FFF6E5"/>
          </a:solidFill>
          <a:ln w="12700">
            <a:solidFill>
              <a:srgbClr val="7FA9DA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DAB89651-4AB9-85A3-DED6-EFD723908894}"/>
              </a:ext>
            </a:extLst>
          </p:cNvPr>
          <p:cNvSpPr txBox="1"/>
          <p:nvPr/>
        </p:nvSpPr>
        <p:spPr>
          <a:xfrm>
            <a:off x="1016000" y="5232400"/>
            <a:ext cx="9779000" cy="348813"/>
          </a:xfrm>
          <a:prstGeom prst="rect">
            <a:avLst/>
          </a:prstGeom>
          <a:noFill/>
        </p:spPr>
        <p:txBody>
          <a:bodyPr vert="horz" wrap="square" lIns="101600" tIns="50800" rIns="101600" bIns="50800" rtlCol="0">
            <a:spAutoFit/>
          </a:bodyPr>
          <a:lstStyle/>
          <a:p>
            <a:r>
              <a:rPr lang="en-US" sz="1600" b="1">
                <a:solidFill>
                  <a:srgbClr val="15375F"/>
                </a:solidFill>
                <a:latin typeface="Aptos" panose="020B0004020202020204" pitchFamily="34" charset="0"/>
              </a:rPr>
              <a:t>CTF challenge: Was PwDump executed cleanly, or was it prevented? What tells you?</a:t>
            </a:r>
          </a:p>
        </p:txBody>
      </p:sp>
    </p:spTree>
    <p:extLst>
      <p:ext uri="{BB962C8B-B14F-4D97-AF65-F5344CB8AC3E}">
        <p14:creationId xmlns:p14="http://schemas.microsoft.com/office/powerpoint/2010/main" val="3345991266"/>
      </p:ext>
    </p:extLst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>
            <a:extLst>
              <a:ext uri="{FF2B5EF4-FFF2-40B4-BE49-F238E27FC236}">
                <a16:creationId xmlns:a16="http://schemas.microsoft.com/office/drawing/2014/main" id="{E4A2C714-D66A-F71B-A753-39EE58211617}"/>
              </a:ext>
            </a:extLst>
          </p:cNvPr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0FFA624C-6180-1E1C-B4C6-944C03E24684}"/>
              </a:ext>
            </a:extLst>
          </p:cNvPr>
          <p:cNvSpPr/>
          <p:nvPr/>
        </p:nvSpPr>
        <p:spPr>
          <a:xfrm>
            <a:off x="0" y="0"/>
            <a:ext cx="12192000" cy="939800"/>
          </a:xfrm>
          <a:prstGeom prst="rect">
            <a:avLst/>
          </a:prstGeom>
          <a:solidFill>
            <a:srgbClr val="243F68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E105AF39-884D-5715-8E2B-FFAB10BB9CCC}"/>
              </a:ext>
            </a:extLst>
          </p:cNvPr>
          <p:cNvSpPr txBox="1"/>
          <p:nvPr/>
        </p:nvSpPr>
        <p:spPr>
          <a:xfrm>
            <a:off x="406400" y="127000"/>
            <a:ext cx="11176000" cy="241092"/>
          </a:xfrm>
          <a:prstGeom prst="rect">
            <a:avLst/>
          </a:prstGeom>
          <a:noFill/>
        </p:spPr>
        <p:txBody>
          <a:bodyPr vert="horz" wrap="square" lIns="101600" tIns="50800" rIns="101600" bIns="50800" rtlCol="0">
            <a:spAutoFit/>
          </a:bodyPr>
          <a:lstStyle/>
          <a:p>
            <a:r>
              <a:rPr lang="en-US" sz="900" b="1">
                <a:solidFill>
                  <a:srgbClr val="BFD7FF"/>
                </a:solidFill>
                <a:latin typeface="Aptos" panose="020B0004020202020204" pitchFamily="34" charset="0"/>
              </a:rPr>
              <a:t>DUMP PASSWORDS USING PWDUMP7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3AFA9406-1EFF-AD25-0BD3-8B7F2E170C6B}"/>
              </a:ext>
            </a:extLst>
          </p:cNvPr>
          <p:cNvSpPr txBox="1"/>
          <p:nvPr/>
        </p:nvSpPr>
        <p:spPr>
          <a:xfrm>
            <a:off x="406400" y="342900"/>
            <a:ext cx="11176000" cy="487313"/>
          </a:xfrm>
          <a:prstGeom prst="rect">
            <a:avLst/>
          </a:prstGeom>
          <a:noFill/>
        </p:spPr>
        <p:txBody>
          <a:bodyPr vert="horz" wrap="square" lIns="101600" tIns="50800" rIns="101600" bIns="50800" rtlCol="0">
            <a:spAutoFit/>
          </a:bodyPr>
          <a:lstStyle/>
          <a:p>
            <a:r>
              <a:rPr lang="en-US" sz="2500" b="1">
                <a:solidFill>
                  <a:srgbClr val="FFFFFF"/>
                </a:solidFill>
                <a:latin typeface="Aptos" panose="020B0004020202020204" pitchFamily="34" charset="0"/>
              </a:rPr>
              <a:t>Scenario 07: Build It Slowly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826CA84C-2EF5-E918-E70F-8ACDB4B93236}"/>
              </a:ext>
            </a:extLst>
          </p:cNvPr>
          <p:cNvSpPr txBox="1"/>
          <p:nvPr/>
        </p:nvSpPr>
        <p:spPr>
          <a:xfrm>
            <a:off x="685800" y="1371600"/>
            <a:ext cx="5461000" cy="1518364"/>
          </a:xfrm>
          <a:prstGeom prst="rect">
            <a:avLst/>
          </a:prstGeom>
          <a:noFill/>
        </p:spPr>
        <p:txBody>
          <a:bodyPr vert="horz" wrap="square" lIns="101600" tIns="50800" rIns="101600" bIns="50800" rtlCol="0">
            <a:spAutoFit/>
          </a:bodyPr>
          <a:lstStyle/>
          <a:p>
            <a:pPr>
              <a:spcAft>
                <a:spcPts val="800"/>
              </a:spcAft>
            </a:pPr>
            <a:r>
              <a:rPr lang="en-US">
                <a:solidFill>
                  <a:srgbClr val="111111"/>
                </a:solidFill>
                <a:latin typeface="Aptos" panose="020B0004020202020204" pitchFamily="34" charset="0"/>
              </a:rPr>
              <a:t>- Search file events for pwdump.</a:t>
            </a:r>
          </a:p>
          <a:p>
            <a:pPr>
              <a:spcAft>
                <a:spcPts val="800"/>
              </a:spcAft>
            </a:pPr>
            <a:r>
              <a:rPr lang="en-US">
                <a:solidFill>
                  <a:srgbClr val="111111"/>
                </a:solidFill>
                <a:latin typeface="Aptos" panose="020B0004020202020204" pitchFamily="34" charset="0"/>
              </a:rPr>
              <a:t>- Search alert titles for PWDump.</a:t>
            </a:r>
          </a:p>
          <a:p>
            <a:pPr>
              <a:spcAft>
                <a:spcPts val="800"/>
              </a:spcAft>
            </a:pPr>
            <a:r>
              <a:rPr lang="en-US">
                <a:solidFill>
                  <a:srgbClr val="111111"/>
                </a:solidFill>
                <a:latin typeface="Aptos" panose="020B0004020202020204" pitchFamily="34" charset="0"/>
              </a:rPr>
              <a:t>- Read Title and Severity to understand outcome.</a:t>
            </a:r>
          </a:p>
          <a:p>
            <a:pPr>
              <a:spcAft>
                <a:spcPts val="800"/>
              </a:spcAft>
            </a:pPr>
            <a:r>
              <a:rPr lang="en-US">
                <a:solidFill>
                  <a:srgbClr val="111111"/>
                </a:solidFill>
                <a:latin typeface="Aptos" panose="020B0004020202020204" pitchFamily="34" charset="0"/>
              </a:rPr>
              <a:t>- Explain attempted vs successful execution.</a:t>
            </a:r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380FB485-3FE8-F43D-88D8-E814E38117E9}"/>
              </a:ext>
            </a:extLst>
          </p:cNvPr>
          <p:cNvSpPr/>
          <p:nvPr/>
        </p:nvSpPr>
        <p:spPr>
          <a:xfrm>
            <a:off x="6604000" y="1397000"/>
            <a:ext cx="4508500" cy="3111500"/>
          </a:xfrm>
          <a:prstGeom prst="rect">
            <a:avLst/>
          </a:prstGeom>
          <a:solidFill>
            <a:srgbClr val="F4F7FB"/>
          </a:solidFill>
          <a:ln w="12700">
            <a:solidFill>
              <a:srgbClr val="D6E0EF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A776F718-E6D6-78B7-143D-64D5DB4BA73B}"/>
              </a:ext>
            </a:extLst>
          </p:cNvPr>
          <p:cNvSpPr txBox="1"/>
          <p:nvPr/>
        </p:nvSpPr>
        <p:spPr>
          <a:xfrm>
            <a:off x="6756400" y="1524000"/>
            <a:ext cx="4203700" cy="1626086"/>
          </a:xfrm>
          <a:prstGeom prst="rect">
            <a:avLst/>
          </a:prstGeom>
          <a:noFill/>
        </p:spPr>
        <p:txBody>
          <a:bodyPr vert="horz" wrap="square" lIns="101600" tIns="50800" rIns="101600" bIns="50800" rtlCol="0">
            <a:spAutoFit/>
          </a:bodyPr>
          <a:lstStyle/>
          <a:p>
            <a:r>
              <a:rPr lang="en-US" sz="1100">
                <a:solidFill>
                  <a:srgbClr val="0B1F3A"/>
                </a:solidFill>
                <a:latin typeface="Cascadia Mono" panose="020B0609020000020004" pitchFamily="49" charset="0"/>
              </a:rPr>
              <a:t>let TargetDevice = "usm262346";</a:t>
            </a:r>
          </a:p>
          <a:p>
            <a:r>
              <a:rPr lang="en-US" sz="1100">
                <a:solidFill>
                  <a:srgbClr val="0B1F3A"/>
                </a:solidFill>
                <a:latin typeface="Cascadia Mono" panose="020B0609020000020004" pitchFamily="49" charset="0"/>
              </a:rPr>
              <a:t>AlertEvidence</a:t>
            </a:r>
          </a:p>
          <a:p>
            <a:r>
              <a:rPr lang="en-US" sz="1100">
                <a:solidFill>
                  <a:srgbClr val="0B1F3A"/>
                </a:solidFill>
                <a:latin typeface="Cascadia Mono" panose="020B0609020000020004" pitchFamily="49" charset="0"/>
              </a:rPr>
              <a:t>| where Timestamp &gt; ago(7d)</a:t>
            </a:r>
          </a:p>
          <a:p>
            <a:r>
              <a:rPr lang="en-US" sz="1100">
                <a:solidFill>
                  <a:srgbClr val="0B1F3A"/>
                </a:solidFill>
                <a:latin typeface="Cascadia Mono" panose="020B0609020000020004" pitchFamily="49" charset="0"/>
              </a:rPr>
              <a:t>| where DeviceName == TargetDevice or FileName has "pwdump"</a:t>
            </a:r>
          </a:p>
          <a:p>
            <a:r>
              <a:rPr lang="en-US" sz="1100">
                <a:solidFill>
                  <a:srgbClr val="0B1F3A"/>
                </a:solidFill>
                <a:latin typeface="Cascadia Mono" panose="020B0609020000020004" pitchFamily="49" charset="0"/>
              </a:rPr>
              <a:t>| where Title has "PWDump" or FileName has "pwdump"</a:t>
            </a:r>
          </a:p>
          <a:p>
            <a:r>
              <a:rPr lang="en-US" sz="1100">
                <a:solidFill>
                  <a:srgbClr val="0B1F3A"/>
                </a:solidFill>
                <a:latin typeface="Cascadia Mono" panose="020B0609020000020004" pitchFamily="49" charset="0"/>
              </a:rPr>
              <a:t>| project Timestamp, Title, Severity, FileName, SHA256</a:t>
            </a:r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5065CD63-4825-5B12-E9DD-A02746418525}"/>
              </a:ext>
            </a:extLst>
          </p:cNvPr>
          <p:cNvSpPr/>
          <p:nvPr/>
        </p:nvSpPr>
        <p:spPr>
          <a:xfrm>
            <a:off x="6604000" y="4851400"/>
            <a:ext cx="4508500" cy="787400"/>
          </a:xfrm>
          <a:prstGeom prst="rect">
            <a:avLst/>
          </a:prstGeom>
          <a:solidFill>
            <a:srgbClr val="EAF3FF"/>
          </a:solidFill>
          <a:ln w="12700">
            <a:solidFill>
              <a:srgbClr val="7FA9DA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D173F008-9678-C305-D95F-751902ED0E7C}"/>
              </a:ext>
            </a:extLst>
          </p:cNvPr>
          <p:cNvSpPr txBox="1"/>
          <p:nvPr/>
        </p:nvSpPr>
        <p:spPr>
          <a:xfrm>
            <a:off x="6731000" y="4953000"/>
            <a:ext cx="4254500" cy="595035"/>
          </a:xfrm>
          <a:prstGeom prst="rect">
            <a:avLst/>
          </a:prstGeom>
          <a:noFill/>
        </p:spPr>
        <p:txBody>
          <a:bodyPr vert="horz" wrap="square" lIns="101600" tIns="50800" rIns="101600" bIns="50800" rtlCol="0">
            <a:spAutoFit/>
          </a:bodyPr>
          <a:lstStyle/>
          <a:p>
            <a:r>
              <a:rPr lang="en-US" sz="1600" b="1">
                <a:solidFill>
                  <a:srgbClr val="15375F"/>
                </a:solidFill>
                <a:latin typeface="Aptos" panose="020B0004020202020204" pitchFamily="34" charset="0"/>
              </a:rPr>
              <a:t>Ask: which table, which filter, which proof columns?</a:t>
            </a:r>
          </a:p>
        </p:txBody>
      </p:sp>
    </p:spTree>
    <p:extLst>
      <p:ext uri="{BB962C8B-B14F-4D97-AF65-F5344CB8AC3E}">
        <p14:creationId xmlns:p14="http://schemas.microsoft.com/office/powerpoint/2010/main" val="3792565323"/>
      </p:ext>
    </p:extLst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>
            <a:extLst>
              <a:ext uri="{FF2B5EF4-FFF2-40B4-BE49-F238E27FC236}">
                <a16:creationId xmlns:a16="http://schemas.microsoft.com/office/drawing/2014/main" id="{25D36E50-8B8C-8436-EB46-368B88A092D6}"/>
              </a:ext>
            </a:extLst>
          </p:cNvPr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F13658C1-519D-0172-2495-2338809EF693}"/>
              </a:ext>
            </a:extLst>
          </p:cNvPr>
          <p:cNvSpPr/>
          <p:nvPr/>
        </p:nvSpPr>
        <p:spPr>
          <a:xfrm>
            <a:off x="0" y="0"/>
            <a:ext cx="12192000" cy="939800"/>
          </a:xfrm>
          <a:prstGeom prst="rect">
            <a:avLst/>
          </a:prstGeom>
          <a:solidFill>
            <a:srgbClr val="243F68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D193321F-3409-6079-CADC-11630CDFE424}"/>
              </a:ext>
            </a:extLst>
          </p:cNvPr>
          <p:cNvSpPr txBox="1"/>
          <p:nvPr/>
        </p:nvSpPr>
        <p:spPr>
          <a:xfrm>
            <a:off x="406400" y="127000"/>
            <a:ext cx="11176000" cy="241092"/>
          </a:xfrm>
          <a:prstGeom prst="rect">
            <a:avLst/>
          </a:prstGeom>
          <a:noFill/>
        </p:spPr>
        <p:txBody>
          <a:bodyPr vert="horz" wrap="square" lIns="101600" tIns="50800" rIns="101600" bIns="50800" rtlCol="0">
            <a:spAutoFit/>
          </a:bodyPr>
          <a:lstStyle/>
          <a:p>
            <a:r>
              <a:rPr lang="en-US" sz="900" b="1">
                <a:solidFill>
                  <a:srgbClr val="BFD7FF"/>
                </a:solidFill>
                <a:latin typeface="Aptos" panose="020B0004020202020204" pitchFamily="34" charset="0"/>
              </a:rPr>
              <a:t>CHECK YOUR WORK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F6CEF353-E373-F2EE-E34D-D8800BCA6258}"/>
              </a:ext>
            </a:extLst>
          </p:cNvPr>
          <p:cNvSpPr txBox="1"/>
          <p:nvPr/>
        </p:nvSpPr>
        <p:spPr>
          <a:xfrm>
            <a:off x="406400" y="342900"/>
            <a:ext cx="11176000" cy="487313"/>
          </a:xfrm>
          <a:prstGeom prst="rect">
            <a:avLst/>
          </a:prstGeom>
          <a:noFill/>
        </p:spPr>
        <p:txBody>
          <a:bodyPr vert="horz" wrap="square" lIns="101600" tIns="50800" rIns="101600" bIns="50800" rtlCol="0">
            <a:spAutoFit/>
          </a:bodyPr>
          <a:lstStyle/>
          <a:p>
            <a:r>
              <a:rPr lang="en-US" sz="2500" b="1">
                <a:solidFill>
                  <a:srgbClr val="FFFFFF"/>
                </a:solidFill>
                <a:latin typeface="Aptos" panose="020B0004020202020204" pitchFamily="34" charset="0"/>
              </a:rPr>
              <a:t>Scenario 07: Answer Key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BEF33D1E-F200-86A6-434C-9022A034F1AE}"/>
              </a:ext>
            </a:extLst>
          </p:cNvPr>
          <p:cNvSpPr txBox="1"/>
          <p:nvPr/>
        </p:nvSpPr>
        <p:spPr>
          <a:xfrm>
            <a:off x="685800" y="1371600"/>
            <a:ext cx="10414000" cy="410369"/>
          </a:xfrm>
          <a:prstGeom prst="rect">
            <a:avLst/>
          </a:prstGeom>
          <a:noFill/>
        </p:spPr>
        <p:txBody>
          <a:bodyPr vert="horz" wrap="square" lIns="101600" tIns="50800" rIns="101600" bIns="50800" rtlCol="0">
            <a:spAutoFit/>
          </a:bodyPr>
          <a:lstStyle/>
          <a:p>
            <a:r>
              <a:rPr lang="en-US" sz="2000" b="1">
                <a:solidFill>
                  <a:srgbClr val="243F68"/>
                </a:solidFill>
                <a:latin typeface="Aptos" panose="020B0004020202020204" pitchFamily="34" charset="0"/>
              </a:rPr>
              <a:t>Challenge: Was PwDump executed cleanly, or was it prevented? What tells you?</a:t>
            </a:r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9BF4CBDF-35CE-9A02-9B7C-4EAB3CBA2CFF}"/>
              </a:ext>
            </a:extLst>
          </p:cNvPr>
          <p:cNvSpPr/>
          <p:nvPr/>
        </p:nvSpPr>
        <p:spPr>
          <a:xfrm>
            <a:off x="685800" y="2336800"/>
            <a:ext cx="10414000" cy="1206500"/>
          </a:xfrm>
          <a:prstGeom prst="rect">
            <a:avLst/>
          </a:prstGeom>
          <a:solidFill>
            <a:srgbClr val="EEF7ED"/>
          </a:solidFill>
          <a:ln w="12700">
            <a:solidFill>
              <a:srgbClr val="7FA9DA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3660AFC3-78D2-E17D-CFCA-164BCC81D7E8}"/>
              </a:ext>
            </a:extLst>
          </p:cNvPr>
          <p:cNvSpPr txBox="1"/>
          <p:nvPr/>
        </p:nvSpPr>
        <p:spPr>
          <a:xfrm>
            <a:off x="812800" y="2438400"/>
            <a:ext cx="10160000" cy="595035"/>
          </a:xfrm>
          <a:prstGeom prst="rect">
            <a:avLst/>
          </a:prstGeom>
          <a:noFill/>
        </p:spPr>
        <p:txBody>
          <a:bodyPr vert="horz" wrap="square" lIns="101600" tIns="50800" rIns="101600" bIns="50800" rtlCol="0">
            <a:spAutoFit/>
          </a:bodyPr>
          <a:lstStyle/>
          <a:p>
            <a:r>
              <a:rPr lang="en-US" sz="1600" b="1">
                <a:solidFill>
                  <a:srgbClr val="15375F"/>
                </a:solidFill>
                <a:latin typeface="Aptos" panose="020B0004020202020204" pitchFamily="34" charset="0"/>
              </a:rPr>
              <a:t>Artifact: pwdump7.zip. Defender alert: PWDump hacktool was prevented. Outcome: attempted and prevented.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AD72CFD9-B4D1-A901-1A6C-5FEAF3C1E72B}"/>
              </a:ext>
            </a:extLst>
          </p:cNvPr>
          <p:cNvSpPr txBox="1"/>
          <p:nvPr/>
        </p:nvSpPr>
        <p:spPr>
          <a:xfrm>
            <a:off x="914400" y="3937000"/>
            <a:ext cx="10033000" cy="1456809"/>
          </a:xfrm>
          <a:prstGeom prst="rect">
            <a:avLst/>
          </a:prstGeom>
          <a:noFill/>
        </p:spPr>
        <p:txBody>
          <a:bodyPr vert="horz" wrap="square" lIns="101600" tIns="50800" rIns="101600" bIns="50800" rtlCol="0">
            <a:spAutoFit/>
          </a:bodyPr>
          <a:lstStyle/>
          <a:p>
            <a:pPr>
              <a:spcAft>
                <a:spcPts val="800"/>
              </a:spcAft>
            </a:pPr>
            <a:r>
              <a:rPr lang="en-US" sz="1700">
                <a:solidFill>
                  <a:srgbClr val="111111"/>
                </a:solidFill>
                <a:latin typeface="Aptos" panose="020B0004020202020204" pitchFamily="34" charset="0"/>
              </a:rPr>
              <a:t>- How the KQL finds it: start with the table most likely to hold the evidence.</a:t>
            </a:r>
          </a:p>
          <a:p>
            <a:pPr>
              <a:spcAft>
                <a:spcPts val="800"/>
              </a:spcAft>
            </a:pPr>
            <a:r>
              <a:rPr lang="en-US" sz="1700">
                <a:solidFill>
                  <a:srgbClr val="111111"/>
                </a:solidFill>
                <a:latin typeface="Aptos" panose="020B0004020202020204" pitchFamily="34" charset="0"/>
              </a:rPr>
              <a:t>- Use where filters to reduce to the device, time, and scenario clue.</a:t>
            </a:r>
          </a:p>
          <a:p>
            <a:pPr>
              <a:spcAft>
                <a:spcPts val="800"/>
              </a:spcAft>
            </a:pPr>
            <a:r>
              <a:rPr lang="en-US" sz="1700">
                <a:solidFill>
                  <a:srgbClr val="111111"/>
                </a:solidFill>
                <a:latin typeface="Aptos" panose="020B0004020202020204" pitchFamily="34" charset="0"/>
              </a:rPr>
              <a:t>- Use project to show only the columns that prove the answer.</a:t>
            </a:r>
          </a:p>
          <a:p>
            <a:pPr>
              <a:spcAft>
                <a:spcPts val="800"/>
              </a:spcAft>
            </a:pPr>
            <a:r>
              <a:rPr lang="en-US" sz="1700">
                <a:solidFill>
                  <a:srgbClr val="111111"/>
                </a:solidFill>
                <a:latin typeface="Aptos" panose="020B0004020202020204" pitchFamily="34" charset="0"/>
              </a:rPr>
              <a:t>- If one table is incomplete, pivot to file or alert evidence.</a:t>
            </a:r>
          </a:p>
        </p:txBody>
      </p:sp>
    </p:spTree>
    <p:extLst>
      <p:ext uri="{BB962C8B-B14F-4D97-AF65-F5344CB8AC3E}">
        <p14:creationId xmlns:p14="http://schemas.microsoft.com/office/powerpoint/2010/main" val="3171354092"/>
      </p:ext>
    </p:extLst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>
            <a:extLst>
              <a:ext uri="{FF2B5EF4-FFF2-40B4-BE49-F238E27FC236}">
                <a16:creationId xmlns:a16="http://schemas.microsoft.com/office/drawing/2014/main" id="{A9163D46-B4DB-D8C9-7A0D-57D47B0110C6}"/>
              </a:ext>
            </a:extLst>
          </p:cNvPr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F701573B-BEDD-5493-D0FE-77C7DC3D330A}"/>
              </a:ext>
            </a:extLst>
          </p:cNvPr>
          <p:cNvSpPr/>
          <p:nvPr/>
        </p:nvSpPr>
        <p:spPr>
          <a:xfrm>
            <a:off x="0" y="0"/>
            <a:ext cx="12192000" cy="939800"/>
          </a:xfrm>
          <a:prstGeom prst="rect">
            <a:avLst/>
          </a:prstGeom>
          <a:solidFill>
            <a:srgbClr val="243F68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72E0E16D-B4C6-193A-F711-9BCB5303A3D7}"/>
              </a:ext>
            </a:extLst>
          </p:cNvPr>
          <p:cNvSpPr txBox="1"/>
          <p:nvPr/>
        </p:nvSpPr>
        <p:spPr>
          <a:xfrm>
            <a:off x="406400" y="127000"/>
            <a:ext cx="11176000" cy="241092"/>
          </a:xfrm>
          <a:prstGeom prst="rect">
            <a:avLst/>
          </a:prstGeom>
          <a:noFill/>
        </p:spPr>
        <p:txBody>
          <a:bodyPr vert="horz" wrap="square" lIns="101600" tIns="50800" rIns="101600" bIns="50800" rtlCol="0">
            <a:spAutoFit/>
          </a:bodyPr>
          <a:lstStyle/>
          <a:p>
            <a:r>
              <a:rPr lang="en-US" sz="900" b="1">
                <a:solidFill>
                  <a:srgbClr val="BFD7FF"/>
                </a:solidFill>
                <a:latin typeface="Aptos" panose="020B0004020202020204" pitchFamily="34" charset="0"/>
              </a:rPr>
              <a:t>SCENARIO BRIEF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CFCA6CEF-91FC-88D6-E5AC-21892BEE147D}"/>
              </a:ext>
            </a:extLst>
          </p:cNvPr>
          <p:cNvSpPr txBox="1"/>
          <p:nvPr/>
        </p:nvSpPr>
        <p:spPr>
          <a:xfrm>
            <a:off x="406400" y="342900"/>
            <a:ext cx="11176000" cy="487313"/>
          </a:xfrm>
          <a:prstGeom prst="rect">
            <a:avLst/>
          </a:prstGeom>
          <a:noFill/>
        </p:spPr>
        <p:txBody>
          <a:bodyPr vert="horz" wrap="square" lIns="101600" tIns="50800" rIns="101600" bIns="50800" rtlCol="0">
            <a:spAutoFit/>
          </a:bodyPr>
          <a:lstStyle/>
          <a:p>
            <a:r>
              <a:rPr lang="en-US" sz="2500" b="1">
                <a:solidFill>
                  <a:srgbClr val="FFFFFF"/>
                </a:solidFill>
                <a:latin typeface="Aptos" panose="020B0004020202020204" pitchFamily="34" charset="0"/>
              </a:rPr>
              <a:t>Scenario 08: Dump Passwords Using gsecdump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DE9F8B65-58A6-F455-4645-75934540A902}"/>
              </a:ext>
            </a:extLst>
          </p:cNvPr>
          <p:cNvSpPr txBox="1"/>
          <p:nvPr/>
        </p:nvSpPr>
        <p:spPr>
          <a:xfrm>
            <a:off x="685800" y="1333500"/>
            <a:ext cx="10795000" cy="1579920"/>
          </a:xfrm>
          <a:prstGeom prst="rect">
            <a:avLst/>
          </a:prstGeom>
          <a:noFill/>
        </p:spPr>
        <p:txBody>
          <a:bodyPr vert="horz" wrap="square" lIns="101600" tIns="50800" rIns="101600" bIns="50800" rtlCol="0">
            <a:spAutoFit/>
          </a:bodyPr>
          <a:lstStyle/>
          <a:p>
            <a:pPr>
              <a:spcAft>
                <a:spcPts val="800"/>
              </a:spcAft>
            </a:pPr>
            <a:r>
              <a:rPr lang="en-US" sz="1900">
                <a:solidFill>
                  <a:srgbClr val="111111"/>
                </a:solidFill>
                <a:latin typeface="Aptos" panose="020B0004020202020204" pitchFamily="34" charset="0"/>
              </a:rPr>
              <a:t>- gsecdump is staged, but Defender may label it with a detection family rather than the tool name.</a:t>
            </a:r>
          </a:p>
          <a:p>
            <a:pPr>
              <a:spcAft>
                <a:spcPts val="800"/>
              </a:spcAft>
            </a:pPr>
            <a:r>
              <a:rPr lang="en-US" sz="1900">
                <a:solidFill>
                  <a:srgbClr val="111111"/>
                </a:solidFill>
                <a:latin typeface="Aptos" panose="020B0004020202020204" pitchFamily="34" charset="0"/>
              </a:rPr>
              <a:t>- KQL skill: Artifact name versus detection name</a:t>
            </a:r>
          </a:p>
          <a:p>
            <a:pPr>
              <a:spcAft>
                <a:spcPts val="800"/>
              </a:spcAft>
            </a:pPr>
            <a:r>
              <a:rPr lang="en-US" sz="1900">
                <a:solidFill>
                  <a:srgbClr val="111111"/>
                </a:solidFill>
                <a:latin typeface="Aptos" panose="020B0004020202020204" pitchFamily="34" charset="0"/>
              </a:rPr>
              <a:t>- Student flow: read the brief, learn the query idea, build it slowly, then answer the challenge.</a:t>
            </a:r>
          </a:p>
          <a:p>
            <a:pPr>
              <a:spcAft>
                <a:spcPts val="800"/>
              </a:spcAft>
            </a:pPr>
            <a:r>
              <a:rPr lang="en-US" sz="1900">
                <a:solidFill>
                  <a:srgbClr val="111111"/>
                </a:solidFill>
                <a:latin typeface="Aptos" panose="020B0004020202020204" pitchFamily="34" charset="0"/>
              </a:rPr>
              <a:t>- Instructor reminder: do not show the full query until students have tried the build steps.</a:t>
            </a:r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4CF273EE-034A-967A-B477-D4C389ED5AA0}"/>
              </a:ext>
            </a:extLst>
          </p:cNvPr>
          <p:cNvSpPr/>
          <p:nvPr/>
        </p:nvSpPr>
        <p:spPr>
          <a:xfrm>
            <a:off x="889000" y="5130800"/>
            <a:ext cx="10033000" cy="762000"/>
          </a:xfrm>
          <a:prstGeom prst="rect">
            <a:avLst/>
          </a:prstGeom>
          <a:solidFill>
            <a:srgbClr val="FFF6E5"/>
          </a:solidFill>
          <a:ln w="12700">
            <a:solidFill>
              <a:srgbClr val="7FA9DA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ACF0EBC9-C928-06E7-3DF9-90528474D093}"/>
              </a:ext>
            </a:extLst>
          </p:cNvPr>
          <p:cNvSpPr txBox="1"/>
          <p:nvPr/>
        </p:nvSpPr>
        <p:spPr>
          <a:xfrm>
            <a:off x="1016000" y="5232400"/>
            <a:ext cx="9779000" cy="348813"/>
          </a:xfrm>
          <a:prstGeom prst="rect">
            <a:avLst/>
          </a:prstGeom>
          <a:noFill/>
        </p:spPr>
        <p:txBody>
          <a:bodyPr vert="horz" wrap="square" lIns="101600" tIns="50800" rIns="101600" bIns="50800" rtlCol="0">
            <a:spAutoFit/>
          </a:bodyPr>
          <a:lstStyle/>
          <a:p>
            <a:r>
              <a:rPr lang="en-US" sz="1600" b="1">
                <a:solidFill>
                  <a:srgbClr val="15375F"/>
                </a:solidFill>
                <a:latin typeface="Aptos" panose="020B0004020202020204" pitchFamily="34" charset="0"/>
              </a:rPr>
              <a:t>CTF challenge: What did Defender call the threat, and what was the actual staged file name?</a:t>
            </a:r>
          </a:p>
        </p:txBody>
      </p:sp>
    </p:spTree>
    <p:extLst>
      <p:ext uri="{BB962C8B-B14F-4D97-AF65-F5344CB8AC3E}">
        <p14:creationId xmlns:p14="http://schemas.microsoft.com/office/powerpoint/2010/main" val="2037944172"/>
      </p:ext>
    </p:extLst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>
            <a:extLst>
              <a:ext uri="{FF2B5EF4-FFF2-40B4-BE49-F238E27FC236}">
                <a16:creationId xmlns:a16="http://schemas.microsoft.com/office/drawing/2014/main" id="{95206295-4BEE-D38D-A604-19CB544E606F}"/>
              </a:ext>
            </a:extLst>
          </p:cNvPr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E8AAF33D-6450-8BD3-4C14-EEC7B1DA246A}"/>
              </a:ext>
            </a:extLst>
          </p:cNvPr>
          <p:cNvSpPr/>
          <p:nvPr/>
        </p:nvSpPr>
        <p:spPr>
          <a:xfrm>
            <a:off x="0" y="0"/>
            <a:ext cx="12192000" cy="939800"/>
          </a:xfrm>
          <a:prstGeom prst="rect">
            <a:avLst/>
          </a:prstGeom>
          <a:solidFill>
            <a:srgbClr val="243F68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93B4557F-D9BE-5497-B40F-6817872BDBC2}"/>
              </a:ext>
            </a:extLst>
          </p:cNvPr>
          <p:cNvSpPr txBox="1"/>
          <p:nvPr/>
        </p:nvSpPr>
        <p:spPr>
          <a:xfrm>
            <a:off x="406400" y="127000"/>
            <a:ext cx="11176000" cy="241092"/>
          </a:xfrm>
          <a:prstGeom prst="rect">
            <a:avLst/>
          </a:prstGeom>
          <a:noFill/>
        </p:spPr>
        <p:txBody>
          <a:bodyPr vert="horz" wrap="square" lIns="101600" tIns="50800" rIns="101600" bIns="50800" rtlCol="0">
            <a:spAutoFit/>
          </a:bodyPr>
          <a:lstStyle/>
          <a:p>
            <a:r>
              <a:rPr lang="en-US" sz="900" b="1">
                <a:solidFill>
                  <a:srgbClr val="BFD7FF"/>
                </a:solidFill>
                <a:latin typeface="Aptos" panose="020B0004020202020204" pitchFamily="34" charset="0"/>
              </a:rPr>
              <a:t>DUMP PASSWORDS USING GSECDUMP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769731A6-1D7E-F523-7F8F-78D416F84DE0}"/>
              </a:ext>
            </a:extLst>
          </p:cNvPr>
          <p:cNvSpPr txBox="1"/>
          <p:nvPr/>
        </p:nvSpPr>
        <p:spPr>
          <a:xfrm>
            <a:off x="406400" y="342900"/>
            <a:ext cx="11176000" cy="487313"/>
          </a:xfrm>
          <a:prstGeom prst="rect">
            <a:avLst/>
          </a:prstGeom>
          <a:noFill/>
        </p:spPr>
        <p:txBody>
          <a:bodyPr vert="horz" wrap="square" lIns="101600" tIns="50800" rIns="101600" bIns="50800" rtlCol="0">
            <a:spAutoFit/>
          </a:bodyPr>
          <a:lstStyle/>
          <a:p>
            <a:r>
              <a:rPr lang="en-US" sz="2500" b="1">
                <a:solidFill>
                  <a:srgbClr val="FFFFFF"/>
                </a:solidFill>
                <a:latin typeface="Aptos" panose="020B0004020202020204" pitchFamily="34" charset="0"/>
              </a:rPr>
              <a:t>Scenario 08: Build It Slowly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6B77786C-0C99-9617-4E36-BC0FB58DDA0A}"/>
              </a:ext>
            </a:extLst>
          </p:cNvPr>
          <p:cNvSpPr txBox="1"/>
          <p:nvPr/>
        </p:nvSpPr>
        <p:spPr>
          <a:xfrm>
            <a:off x="685800" y="1371600"/>
            <a:ext cx="5461000" cy="1795363"/>
          </a:xfrm>
          <a:prstGeom prst="rect">
            <a:avLst/>
          </a:prstGeom>
          <a:noFill/>
        </p:spPr>
        <p:txBody>
          <a:bodyPr vert="horz" wrap="square" lIns="101600" tIns="50800" rIns="101600" bIns="50800" rtlCol="0">
            <a:spAutoFit/>
          </a:bodyPr>
          <a:lstStyle/>
          <a:p>
            <a:pPr>
              <a:spcAft>
                <a:spcPts val="800"/>
              </a:spcAft>
            </a:pPr>
            <a:r>
              <a:rPr lang="en-US">
                <a:solidFill>
                  <a:srgbClr val="111111"/>
                </a:solidFill>
                <a:latin typeface="Aptos" panose="020B0004020202020204" pitchFamily="34" charset="0"/>
              </a:rPr>
              <a:t>- Find gsecdump in DeviceFileEvents.</a:t>
            </a:r>
          </a:p>
          <a:p>
            <a:pPr>
              <a:spcAft>
                <a:spcPts val="800"/>
              </a:spcAft>
            </a:pPr>
            <a:r>
              <a:rPr lang="en-US">
                <a:solidFill>
                  <a:srgbClr val="111111"/>
                </a:solidFill>
                <a:latin typeface="Aptos" panose="020B0004020202020204" pitchFamily="34" charset="0"/>
              </a:rPr>
              <a:t>- Search AlertEvidence for gsecdump or Vigorf.</a:t>
            </a:r>
          </a:p>
          <a:p>
            <a:pPr>
              <a:spcAft>
                <a:spcPts val="800"/>
              </a:spcAft>
            </a:pPr>
            <a:r>
              <a:rPr lang="en-US">
                <a:solidFill>
                  <a:srgbClr val="111111"/>
                </a:solidFill>
                <a:latin typeface="Aptos" panose="020B0004020202020204" pitchFamily="34" charset="0"/>
              </a:rPr>
              <a:t>- Compare staged artifact to alert title.</a:t>
            </a:r>
          </a:p>
          <a:p>
            <a:pPr>
              <a:spcAft>
                <a:spcPts val="800"/>
              </a:spcAft>
            </a:pPr>
            <a:r>
              <a:rPr lang="en-US">
                <a:solidFill>
                  <a:srgbClr val="111111"/>
                </a:solidFill>
                <a:latin typeface="Aptos" panose="020B0004020202020204" pitchFamily="34" charset="0"/>
              </a:rPr>
              <a:t>- Teach that product verdicts may not repeat the tool name.</a:t>
            </a:r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19601672-A861-7801-E16B-DEAB6050263B}"/>
              </a:ext>
            </a:extLst>
          </p:cNvPr>
          <p:cNvSpPr/>
          <p:nvPr/>
        </p:nvSpPr>
        <p:spPr>
          <a:xfrm>
            <a:off x="6604000" y="1397000"/>
            <a:ext cx="4508500" cy="3111500"/>
          </a:xfrm>
          <a:prstGeom prst="rect">
            <a:avLst/>
          </a:prstGeom>
          <a:solidFill>
            <a:srgbClr val="F4F7FB"/>
          </a:solidFill>
          <a:ln w="12700">
            <a:solidFill>
              <a:srgbClr val="D6E0EF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07B9A0BC-5FFB-3472-07C2-5EE99375A686}"/>
              </a:ext>
            </a:extLst>
          </p:cNvPr>
          <p:cNvSpPr txBox="1"/>
          <p:nvPr/>
        </p:nvSpPr>
        <p:spPr>
          <a:xfrm>
            <a:off x="6756400" y="1524000"/>
            <a:ext cx="4203700" cy="1456809"/>
          </a:xfrm>
          <a:prstGeom prst="rect">
            <a:avLst/>
          </a:prstGeom>
          <a:noFill/>
        </p:spPr>
        <p:txBody>
          <a:bodyPr vert="horz" wrap="square" lIns="101600" tIns="50800" rIns="101600" bIns="50800" rtlCol="0">
            <a:spAutoFit/>
          </a:bodyPr>
          <a:lstStyle/>
          <a:p>
            <a:r>
              <a:rPr lang="en-US" sz="1100">
                <a:solidFill>
                  <a:srgbClr val="0B1F3A"/>
                </a:solidFill>
                <a:latin typeface="Cascadia Mono" panose="020B0609020000020004" pitchFamily="49" charset="0"/>
              </a:rPr>
              <a:t>let TargetDevice = "usm262346";</a:t>
            </a:r>
          </a:p>
          <a:p>
            <a:r>
              <a:rPr lang="en-US" sz="1100">
                <a:solidFill>
                  <a:srgbClr val="0B1F3A"/>
                </a:solidFill>
                <a:latin typeface="Cascadia Mono" panose="020B0609020000020004" pitchFamily="49" charset="0"/>
              </a:rPr>
              <a:t>AlertEvidence</a:t>
            </a:r>
          </a:p>
          <a:p>
            <a:r>
              <a:rPr lang="en-US" sz="1100">
                <a:solidFill>
                  <a:srgbClr val="0B1F3A"/>
                </a:solidFill>
                <a:latin typeface="Cascadia Mono" panose="020B0609020000020004" pitchFamily="49" charset="0"/>
              </a:rPr>
              <a:t>| where Timestamp &gt; ago(7d)</a:t>
            </a:r>
          </a:p>
          <a:p>
            <a:r>
              <a:rPr lang="en-US" sz="1100">
                <a:solidFill>
                  <a:srgbClr val="0B1F3A"/>
                </a:solidFill>
                <a:latin typeface="Cascadia Mono" panose="020B0609020000020004" pitchFamily="49" charset="0"/>
              </a:rPr>
              <a:t>| where DeviceName == TargetDevice or FileName has "gsecdump"</a:t>
            </a:r>
          </a:p>
          <a:p>
            <a:r>
              <a:rPr lang="en-US" sz="1100">
                <a:solidFill>
                  <a:srgbClr val="0B1F3A"/>
                </a:solidFill>
                <a:latin typeface="Cascadia Mono" panose="020B0609020000020004" pitchFamily="49" charset="0"/>
              </a:rPr>
              <a:t>| where FileName has "gsecdump" or Title has_any ("Vigorf", "malware")</a:t>
            </a:r>
          </a:p>
          <a:p>
            <a:r>
              <a:rPr lang="en-US" sz="1100">
                <a:solidFill>
                  <a:srgbClr val="0B1F3A"/>
                </a:solidFill>
                <a:latin typeface="Cascadia Mono" panose="020B0609020000020004" pitchFamily="49" charset="0"/>
              </a:rPr>
              <a:t>| project Timestamp, Title, Severity, FileName</a:t>
            </a:r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2EB7E299-492D-8DC3-3DB4-DBC10054449F}"/>
              </a:ext>
            </a:extLst>
          </p:cNvPr>
          <p:cNvSpPr/>
          <p:nvPr/>
        </p:nvSpPr>
        <p:spPr>
          <a:xfrm>
            <a:off x="6604000" y="4851400"/>
            <a:ext cx="4508500" cy="787400"/>
          </a:xfrm>
          <a:prstGeom prst="rect">
            <a:avLst/>
          </a:prstGeom>
          <a:solidFill>
            <a:srgbClr val="EAF3FF"/>
          </a:solidFill>
          <a:ln w="12700">
            <a:solidFill>
              <a:srgbClr val="7FA9DA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3BB48F0A-A8D5-83D4-88DA-DC40405EF35A}"/>
              </a:ext>
            </a:extLst>
          </p:cNvPr>
          <p:cNvSpPr txBox="1"/>
          <p:nvPr/>
        </p:nvSpPr>
        <p:spPr>
          <a:xfrm>
            <a:off x="6731000" y="4953000"/>
            <a:ext cx="4254500" cy="595035"/>
          </a:xfrm>
          <a:prstGeom prst="rect">
            <a:avLst/>
          </a:prstGeom>
          <a:noFill/>
        </p:spPr>
        <p:txBody>
          <a:bodyPr vert="horz" wrap="square" lIns="101600" tIns="50800" rIns="101600" bIns="50800" rtlCol="0">
            <a:spAutoFit/>
          </a:bodyPr>
          <a:lstStyle/>
          <a:p>
            <a:r>
              <a:rPr lang="en-US" sz="1600" b="1">
                <a:solidFill>
                  <a:srgbClr val="15375F"/>
                </a:solidFill>
                <a:latin typeface="Aptos" panose="020B0004020202020204" pitchFamily="34" charset="0"/>
              </a:rPr>
              <a:t>Ask: which table, which filter, which proof columns?</a:t>
            </a:r>
          </a:p>
        </p:txBody>
      </p:sp>
    </p:spTree>
    <p:extLst>
      <p:ext uri="{BB962C8B-B14F-4D97-AF65-F5344CB8AC3E}">
        <p14:creationId xmlns:p14="http://schemas.microsoft.com/office/powerpoint/2010/main" val="3110202244"/>
      </p:ext>
    </p:extLst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>
            <a:extLst>
              <a:ext uri="{FF2B5EF4-FFF2-40B4-BE49-F238E27FC236}">
                <a16:creationId xmlns:a16="http://schemas.microsoft.com/office/drawing/2014/main" id="{183AD587-1E20-0CD6-38F9-A2D7582246BF}"/>
              </a:ext>
            </a:extLst>
          </p:cNvPr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6129547D-D144-D2A8-98E9-58B61021B1C5}"/>
              </a:ext>
            </a:extLst>
          </p:cNvPr>
          <p:cNvSpPr/>
          <p:nvPr/>
        </p:nvSpPr>
        <p:spPr>
          <a:xfrm>
            <a:off x="0" y="0"/>
            <a:ext cx="12192000" cy="939800"/>
          </a:xfrm>
          <a:prstGeom prst="rect">
            <a:avLst/>
          </a:prstGeom>
          <a:solidFill>
            <a:srgbClr val="243F68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45225952-7D09-16BB-3C47-D88ED552E949}"/>
              </a:ext>
            </a:extLst>
          </p:cNvPr>
          <p:cNvSpPr txBox="1"/>
          <p:nvPr/>
        </p:nvSpPr>
        <p:spPr>
          <a:xfrm>
            <a:off x="406400" y="127000"/>
            <a:ext cx="11176000" cy="241092"/>
          </a:xfrm>
          <a:prstGeom prst="rect">
            <a:avLst/>
          </a:prstGeom>
          <a:noFill/>
        </p:spPr>
        <p:txBody>
          <a:bodyPr vert="horz" wrap="square" lIns="101600" tIns="50800" rIns="101600" bIns="50800" rtlCol="0">
            <a:spAutoFit/>
          </a:bodyPr>
          <a:lstStyle/>
          <a:p>
            <a:r>
              <a:rPr lang="en-US" sz="900" b="1">
                <a:solidFill>
                  <a:srgbClr val="BFD7FF"/>
                </a:solidFill>
                <a:latin typeface="Aptos" panose="020B0004020202020204" pitchFamily="34" charset="0"/>
              </a:rPr>
              <a:t>CHECK YOUR WORK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84C8EDD8-5472-B367-0281-4B02FB96B646}"/>
              </a:ext>
            </a:extLst>
          </p:cNvPr>
          <p:cNvSpPr txBox="1"/>
          <p:nvPr/>
        </p:nvSpPr>
        <p:spPr>
          <a:xfrm>
            <a:off x="406400" y="342900"/>
            <a:ext cx="11176000" cy="487313"/>
          </a:xfrm>
          <a:prstGeom prst="rect">
            <a:avLst/>
          </a:prstGeom>
          <a:noFill/>
        </p:spPr>
        <p:txBody>
          <a:bodyPr vert="horz" wrap="square" lIns="101600" tIns="50800" rIns="101600" bIns="50800" rtlCol="0">
            <a:spAutoFit/>
          </a:bodyPr>
          <a:lstStyle/>
          <a:p>
            <a:r>
              <a:rPr lang="en-US" sz="2500" b="1">
                <a:solidFill>
                  <a:srgbClr val="FFFFFF"/>
                </a:solidFill>
                <a:latin typeface="Aptos" panose="020B0004020202020204" pitchFamily="34" charset="0"/>
              </a:rPr>
              <a:t>Scenario 08: Answer Key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54F91625-6E35-E57A-8543-77BB77A6C414}"/>
              </a:ext>
            </a:extLst>
          </p:cNvPr>
          <p:cNvSpPr txBox="1"/>
          <p:nvPr/>
        </p:nvSpPr>
        <p:spPr>
          <a:xfrm>
            <a:off x="685800" y="1371600"/>
            <a:ext cx="10414000" cy="410369"/>
          </a:xfrm>
          <a:prstGeom prst="rect">
            <a:avLst/>
          </a:prstGeom>
          <a:noFill/>
        </p:spPr>
        <p:txBody>
          <a:bodyPr vert="horz" wrap="square" lIns="101600" tIns="50800" rIns="101600" bIns="50800" rtlCol="0">
            <a:spAutoFit/>
          </a:bodyPr>
          <a:lstStyle/>
          <a:p>
            <a:r>
              <a:rPr lang="en-US" sz="2000" b="1">
                <a:solidFill>
                  <a:srgbClr val="243F68"/>
                </a:solidFill>
                <a:latin typeface="Aptos" panose="020B0004020202020204" pitchFamily="34" charset="0"/>
              </a:rPr>
              <a:t>Challenge: What did Defender call the threat, and what was the actual staged file name?</a:t>
            </a:r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273E24A9-FB61-95D9-66FF-04790B304C39}"/>
              </a:ext>
            </a:extLst>
          </p:cNvPr>
          <p:cNvSpPr/>
          <p:nvPr/>
        </p:nvSpPr>
        <p:spPr>
          <a:xfrm>
            <a:off x="685800" y="2336800"/>
            <a:ext cx="10414000" cy="1206500"/>
          </a:xfrm>
          <a:prstGeom prst="rect">
            <a:avLst/>
          </a:prstGeom>
          <a:solidFill>
            <a:srgbClr val="EEF7ED"/>
          </a:solidFill>
          <a:ln w="12700">
            <a:solidFill>
              <a:srgbClr val="7FA9DA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B5338BFD-D3EB-ACD8-8895-373EC34D1A14}"/>
              </a:ext>
            </a:extLst>
          </p:cNvPr>
          <p:cNvSpPr txBox="1"/>
          <p:nvPr/>
        </p:nvSpPr>
        <p:spPr>
          <a:xfrm>
            <a:off x="812800" y="2438400"/>
            <a:ext cx="10160000" cy="348813"/>
          </a:xfrm>
          <a:prstGeom prst="rect">
            <a:avLst/>
          </a:prstGeom>
          <a:noFill/>
        </p:spPr>
        <p:txBody>
          <a:bodyPr vert="horz" wrap="square" lIns="101600" tIns="50800" rIns="101600" bIns="50800" rtlCol="0">
            <a:spAutoFit/>
          </a:bodyPr>
          <a:lstStyle/>
          <a:p>
            <a:r>
              <a:rPr lang="en-US" sz="1600" b="1">
                <a:solidFill>
                  <a:srgbClr val="15375F"/>
                </a:solidFill>
                <a:latin typeface="Aptos" panose="020B0004020202020204" pitchFamily="34" charset="0"/>
              </a:rPr>
              <a:t>Staged file: gsecdump-0.7-win32.zip. Defender alert: Vigorf malware was prevented.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90861A0E-EDF0-38C4-76EB-4C27FC64E0F1}"/>
              </a:ext>
            </a:extLst>
          </p:cNvPr>
          <p:cNvSpPr txBox="1"/>
          <p:nvPr/>
        </p:nvSpPr>
        <p:spPr>
          <a:xfrm>
            <a:off x="914400" y="3937000"/>
            <a:ext cx="10033000" cy="1456809"/>
          </a:xfrm>
          <a:prstGeom prst="rect">
            <a:avLst/>
          </a:prstGeom>
          <a:noFill/>
        </p:spPr>
        <p:txBody>
          <a:bodyPr vert="horz" wrap="square" lIns="101600" tIns="50800" rIns="101600" bIns="50800" rtlCol="0">
            <a:spAutoFit/>
          </a:bodyPr>
          <a:lstStyle/>
          <a:p>
            <a:pPr>
              <a:spcAft>
                <a:spcPts val="800"/>
              </a:spcAft>
            </a:pPr>
            <a:r>
              <a:rPr lang="en-US" sz="1700">
                <a:solidFill>
                  <a:srgbClr val="111111"/>
                </a:solidFill>
                <a:latin typeface="Aptos" panose="020B0004020202020204" pitchFamily="34" charset="0"/>
              </a:rPr>
              <a:t>- How the KQL finds it: start with the table most likely to hold the evidence.</a:t>
            </a:r>
          </a:p>
          <a:p>
            <a:pPr>
              <a:spcAft>
                <a:spcPts val="800"/>
              </a:spcAft>
            </a:pPr>
            <a:r>
              <a:rPr lang="en-US" sz="1700">
                <a:solidFill>
                  <a:srgbClr val="111111"/>
                </a:solidFill>
                <a:latin typeface="Aptos" panose="020B0004020202020204" pitchFamily="34" charset="0"/>
              </a:rPr>
              <a:t>- Use where filters to reduce to the device, time, and scenario clue.</a:t>
            </a:r>
          </a:p>
          <a:p>
            <a:pPr>
              <a:spcAft>
                <a:spcPts val="800"/>
              </a:spcAft>
            </a:pPr>
            <a:r>
              <a:rPr lang="en-US" sz="1700">
                <a:solidFill>
                  <a:srgbClr val="111111"/>
                </a:solidFill>
                <a:latin typeface="Aptos" panose="020B0004020202020204" pitchFamily="34" charset="0"/>
              </a:rPr>
              <a:t>- Use project to show only the columns that prove the answer.</a:t>
            </a:r>
          </a:p>
          <a:p>
            <a:pPr>
              <a:spcAft>
                <a:spcPts val="800"/>
              </a:spcAft>
            </a:pPr>
            <a:r>
              <a:rPr lang="en-US" sz="1700">
                <a:solidFill>
                  <a:srgbClr val="111111"/>
                </a:solidFill>
                <a:latin typeface="Aptos" panose="020B0004020202020204" pitchFamily="34" charset="0"/>
              </a:rPr>
              <a:t>- If one table is incomplete, pivot to file or alert evidence.</a:t>
            </a:r>
          </a:p>
        </p:txBody>
      </p:sp>
    </p:spTree>
    <p:extLst>
      <p:ext uri="{BB962C8B-B14F-4D97-AF65-F5344CB8AC3E}">
        <p14:creationId xmlns:p14="http://schemas.microsoft.com/office/powerpoint/2010/main" val="4222827370"/>
      </p:ext>
    </p:extLst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>
            <a:extLst>
              <a:ext uri="{FF2B5EF4-FFF2-40B4-BE49-F238E27FC236}">
                <a16:creationId xmlns:a16="http://schemas.microsoft.com/office/drawing/2014/main" id="{5C0617FB-AE72-9C02-4F15-BD585D90C319}"/>
              </a:ext>
            </a:extLst>
          </p:cNvPr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0BF3BC49-95C1-3AB3-4571-980CF0504B79}"/>
              </a:ext>
            </a:extLst>
          </p:cNvPr>
          <p:cNvSpPr/>
          <p:nvPr/>
        </p:nvSpPr>
        <p:spPr>
          <a:xfrm>
            <a:off x="0" y="0"/>
            <a:ext cx="12192000" cy="939800"/>
          </a:xfrm>
          <a:prstGeom prst="rect">
            <a:avLst/>
          </a:prstGeom>
          <a:solidFill>
            <a:srgbClr val="243F68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AB10A457-72A3-7DC2-1D45-692C56D59883}"/>
              </a:ext>
            </a:extLst>
          </p:cNvPr>
          <p:cNvSpPr txBox="1"/>
          <p:nvPr/>
        </p:nvSpPr>
        <p:spPr>
          <a:xfrm>
            <a:off x="406400" y="127000"/>
            <a:ext cx="11176000" cy="241092"/>
          </a:xfrm>
          <a:prstGeom prst="rect">
            <a:avLst/>
          </a:prstGeom>
          <a:noFill/>
        </p:spPr>
        <p:txBody>
          <a:bodyPr vert="horz" wrap="square" lIns="101600" tIns="50800" rIns="101600" bIns="50800" rtlCol="0">
            <a:spAutoFit/>
          </a:bodyPr>
          <a:lstStyle/>
          <a:p>
            <a:r>
              <a:rPr lang="en-US" sz="900" b="1">
                <a:solidFill>
                  <a:srgbClr val="BFD7FF"/>
                </a:solidFill>
                <a:latin typeface="Aptos" panose="020B0004020202020204" pitchFamily="34" charset="0"/>
              </a:rPr>
              <a:t>SCENARIO BRIEF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4F7F4286-2D1C-D608-0710-61A73B316564}"/>
              </a:ext>
            </a:extLst>
          </p:cNvPr>
          <p:cNvSpPr txBox="1"/>
          <p:nvPr/>
        </p:nvSpPr>
        <p:spPr>
          <a:xfrm>
            <a:off x="406400" y="342900"/>
            <a:ext cx="11176000" cy="487313"/>
          </a:xfrm>
          <a:prstGeom prst="rect">
            <a:avLst/>
          </a:prstGeom>
          <a:noFill/>
        </p:spPr>
        <p:txBody>
          <a:bodyPr vert="horz" wrap="square" lIns="101600" tIns="50800" rIns="101600" bIns="50800" rtlCol="0">
            <a:spAutoFit/>
          </a:bodyPr>
          <a:lstStyle/>
          <a:p>
            <a:r>
              <a:rPr lang="en-US" sz="2500" b="1">
                <a:solidFill>
                  <a:srgbClr val="FFFFFF"/>
                </a:solidFill>
                <a:latin typeface="Aptos" panose="020B0004020202020204" pitchFamily="34" charset="0"/>
              </a:rPr>
              <a:t>Scenario 09: Dump Passwords Using LaZagne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B3120A48-A2CE-10B1-AA1D-EBB66D11B640}"/>
              </a:ext>
            </a:extLst>
          </p:cNvPr>
          <p:cNvSpPr txBox="1"/>
          <p:nvPr/>
        </p:nvSpPr>
        <p:spPr>
          <a:xfrm>
            <a:off x="685800" y="1333500"/>
            <a:ext cx="10795000" cy="1579920"/>
          </a:xfrm>
          <a:prstGeom prst="rect">
            <a:avLst/>
          </a:prstGeom>
          <a:noFill/>
        </p:spPr>
        <p:txBody>
          <a:bodyPr vert="horz" wrap="square" lIns="101600" tIns="50800" rIns="101600" bIns="50800" rtlCol="0">
            <a:spAutoFit/>
          </a:bodyPr>
          <a:lstStyle/>
          <a:p>
            <a:pPr>
              <a:spcAft>
                <a:spcPts val="800"/>
              </a:spcAft>
            </a:pPr>
            <a:r>
              <a:rPr lang="en-US" sz="1900">
                <a:solidFill>
                  <a:srgbClr val="111111"/>
                </a:solidFill>
                <a:latin typeface="Aptos" panose="020B0004020202020204" pitchFamily="34" charset="0"/>
              </a:rPr>
              <a:t>- LaZagne appears on disk and is later cleaned up.</a:t>
            </a:r>
          </a:p>
          <a:p>
            <a:pPr>
              <a:spcAft>
                <a:spcPts val="800"/>
              </a:spcAft>
            </a:pPr>
            <a:r>
              <a:rPr lang="en-US" sz="1900">
                <a:solidFill>
                  <a:srgbClr val="111111"/>
                </a:solidFill>
                <a:latin typeface="Aptos" panose="020B0004020202020204" pitchFamily="34" charset="0"/>
              </a:rPr>
              <a:t>- KQL skill: File lifecycle with ActionType and summarize</a:t>
            </a:r>
          </a:p>
          <a:p>
            <a:pPr>
              <a:spcAft>
                <a:spcPts val="800"/>
              </a:spcAft>
            </a:pPr>
            <a:r>
              <a:rPr lang="en-US" sz="1900">
                <a:solidFill>
                  <a:srgbClr val="111111"/>
                </a:solidFill>
                <a:latin typeface="Aptos" panose="020B0004020202020204" pitchFamily="34" charset="0"/>
              </a:rPr>
              <a:t>- Student flow: read the brief, learn the query idea, build it slowly, then answer the challenge.</a:t>
            </a:r>
          </a:p>
          <a:p>
            <a:pPr>
              <a:spcAft>
                <a:spcPts val="800"/>
              </a:spcAft>
            </a:pPr>
            <a:r>
              <a:rPr lang="en-US" sz="1900">
                <a:solidFill>
                  <a:srgbClr val="111111"/>
                </a:solidFill>
                <a:latin typeface="Aptos" panose="020B0004020202020204" pitchFamily="34" charset="0"/>
              </a:rPr>
              <a:t>- Instructor reminder: do not show the full query until students have tried the build steps.</a:t>
            </a:r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0ACBAE83-8AC1-F840-3F47-2A11D1D4800A}"/>
              </a:ext>
            </a:extLst>
          </p:cNvPr>
          <p:cNvSpPr/>
          <p:nvPr/>
        </p:nvSpPr>
        <p:spPr>
          <a:xfrm>
            <a:off x="889000" y="5130800"/>
            <a:ext cx="10033000" cy="762000"/>
          </a:xfrm>
          <a:prstGeom prst="rect">
            <a:avLst/>
          </a:prstGeom>
          <a:solidFill>
            <a:srgbClr val="FFF6E5"/>
          </a:solidFill>
          <a:ln w="12700">
            <a:solidFill>
              <a:srgbClr val="7FA9DA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EEEF2D6D-5111-E14B-A072-6627087CBEA6}"/>
              </a:ext>
            </a:extLst>
          </p:cNvPr>
          <p:cNvSpPr txBox="1"/>
          <p:nvPr/>
        </p:nvSpPr>
        <p:spPr>
          <a:xfrm>
            <a:off x="1016000" y="5232400"/>
            <a:ext cx="9779000" cy="348813"/>
          </a:xfrm>
          <a:prstGeom prst="rect">
            <a:avLst/>
          </a:prstGeom>
          <a:noFill/>
        </p:spPr>
        <p:txBody>
          <a:bodyPr vert="horz" wrap="square" lIns="101600" tIns="50800" rIns="101600" bIns="50800" rtlCol="0">
            <a:spAutoFit/>
          </a:bodyPr>
          <a:lstStyle/>
          <a:p>
            <a:r>
              <a:rPr lang="en-US" sz="1600" b="1">
                <a:solidFill>
                  <a:srgbClr val="15375F"/>
                </a:solidFill>
                <a:latin typeface="Aptos" panose="020B0004020202020204" pitchFamily="34" charset="0"/>
              </a:rPr>
              <a:t>CTF challenge: How do we know the tool was cleaned up after staging?</a:t>
            </a:r>
          </a:p>
        </p:txBody>
      </p:sp>
    </p:spTree>
    <p:extLst>
      <p:ext uri="{BB962C8B-B14F-4D97-AF65-F5344CB8AC3E}">
        <p14:creationId xmlns:p14="http://schemas.microsoft.com/office/powerpoint/2010/main" val="2379217498"/>
      </p:ext>
    </p:extLst>
  </p:cSld>
  <p:clrMapOvr>
    <a:masterClrMapping/>
  </p:clrMapOvr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>
            <a:extLst>
              <a:ext uri="{FF2B5EF4-FFF2-40B4-BE49-F238E27FC236}">
                <a16:creationId xmlns:a16="http://schemas.microsoft.com/office/drawing/2014/main" id="{B26BF90A-0604-5335-B5AD-F680B773C36A}"/>
              </a:ext>
            </a:extLst>
          </p:cNvPr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2AF17240-20D5-42B6-9742-50A082779962}"/>
              </a:ext>
            </a:extLst>
          </p:cNvPr>
          <p:cNvSpPr/>
          <p:nvPr/>
        </p:nvSpPr>
        <p:spPr>
          <a:xfrm>
            <a:off x="0" y="0"/>
            <a:ext cx="12192000" cy="939800"/>
          </a:xfrm>
          <a:prstGeom prst="rect">
            <a:avLst/>
          </a:prstGeom>
          <a:solidFill>
            <a:srgbClr val="243F68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EA02EB6E-0216-8FBF-12E0-2650B0EDE0E1}"/>
              </a:ext>
            </a:extLst>
          </p:cNvPr>
          <p:cNvSpPr txBox="1"/>
          <p:nvPr/>
        </p:nvSpPr>
        <p:spPr>
          <a:xfrm>
            <a:off x="406400" y="127000"/>
            <a:ext cx="11176000" cy="241092"/>
          </a:xfrm>
          <a:prstGeom prst="rect">
            <a:avLst/>
          </a:prstGeom>
          <a:noFill/>
        </p:spPr>
        <p:txBody>
          <a:bodyPr vert="horz" wrap="square" lIns="101600" tIns="50800" rIns="101600" bIns="50800" rtlCol="0">
            <a:spAutoFit/>
          </a:bodyPr>
          <a:lstStyle/>
          <a:p>
            <a:r>
              <a:rPr lang="en-US" sz="900" b="1">
                <a:solidFill>
                  <a:srgbClr val="BFD7FF"/>
                </a:solidFill>
                <a:latin typeface="Aptos" panose="020B0004020202020204" pitchFamily="34" charset="0"/>
              </a:rPr>
              <a:t>DUMP PASSWORDS USING LAZAGNE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EEF4F28F-B97C-B0EA-43EF-61E218071161}"/>
              </a:ext>
            </a:extLst>
          </p:cNvPr>
          <p:cNvSpPr txBox="1"/>
          <p:nvPr/>
        </p:nvSpPr>
        <p:spPr>
          <a:xfrm>
            <a:off x="406400" y="342900"/>
            <a:ext cx="11176000" cy="487313"/>
          </a:xfrm>
          <a:prstGeom prst="rect">
            <a:avLst/>
          </a:prstGeom>
          <a:noFill/>
        </p:spPr>
        <p:txBody>
          <a:bodyPr vert="horz" wrap="square" lIns="101600" tIns="50800" rIns="101600" bIns="50800" rtlCol="0">
            <a:spAutoFit/>
          </a:bodyPr>
          <a:lstStyle/>
          <a:p>
            <a:r>
              <a:rPr lang="en-US" sz="2500" b="1">
                <a:solidFill>
                  <a:srgbClr val="FFFFFF"/>
                </a:solidFill>
                <a:latin typeface="Aptos" panose="020B0004020202020204" pitchFamily="34" charset="0"/>
              </a:rPr>
              <a:t>Scenario 09: Build It Slowly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8ECB3977-10F2-280F-5AF1-A98FACBF23FE}"/>
              </a:ext>
            </a:extLst>
          </p:cNvPr>
          <p:cNvSpPr txBox="1"/>
          <p:nvPr/>
        </p:nvSpPr>
        <p:spPr>
          <a:xfrm>
            <a:off x="685800" y="1371600"/>
            <a:ext cx="5461000" cy="1795363"/>
          </a:xfrm>
          <a:prstGeom prst="rect">
            <a:avLst/>
          </a:prstGeom>
          <a:noFill/>
        </p:spPr>
        <p:txBody>
          <a:bodyPr vert="horz" wrap="square" lIns="101600" tIns="50800" rIns="101600" bIns="50800" rtlCol="0">
            <a:spAutoFit/>
          </a:bodyPr>
          <a:lstStyle/>
          <a:p>
            <a:pPr>
              <a:spcAft>
                <a:spcPts val="800"/>
              </a:spcAft>
            </a:pPr>
            <a:r>
              <a:rPr lang="en-US">
                <a:solidFill>
                  <a:srgbClr val="111111"/>
                </a:solidFill>
                <a:latin typeface="Aptos" panose="020B0004020202020204" pitchFamily="34" charset="0"/>
              </a:rPr>
              <a:t>- Search FileName has lazagne.</a:t>
            </a:r>
          </a:p>
          <a:p>
            <a:pPr>
              <a:spcAft>
                <a:spcPts val="800"/>
              </a:spcAft>
            </a:pPr>
            <a:r>
              <a:rPr lang="en-US">
                <a:solidFill>
                  <a:srgbClr val="111111"/>
                </a:solidFill>
                <a:latin typeface="Aptos" panose="020B0004020202020204" pitchFamily="34" charset="0"/>
              </a:rPr>
              <a:t>- Keep ActionType in the output.</a:t>
            </a:r>
          </a:p>
          <a:p>
            <a:pPr>
              <a:spcAft>
                <a:spcPts val="800"/>
              </a:spcAft>
            </a:pPr>
            <a:r>
              <a:rPr lang="en-US">
                <a:solidFill>
                  <a:srgbClr val="111111"/>
                </a:solidFill>
                <a:latin typeface="Aptos" panose="020B0004020202020204" pitchFamily="34" charset="0"/>
              </a:rPr>
              <a:t>- Sort by Timestamp asc to see lifecycle.</a:t>
            </a:r>
          </a:p>
          <a:p>
            <a:pPr>
              <a:spcAft>
                <a:spcPts val="800"/>
              </a:spcAft>
            </a:pPr>
            <a:r>
              <a:rPr lang="en-US">
                <a:solidFill>
                  <a:srgbClr val="111111"/>
                </a:solidFill>
                <a:latin typeface="Aptos" panose="020B0004020202020204" pitchFamily="34" charset="0"/>
              </a:rPr>
              <a:t>- Use summarize make_set(ActionType) for a compact answer.</a:t>
            </a:r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8EDDB359-C04F-4BA7-0C08-FD9CF33E4D0B}"/>
              </a:ext>
            </a:extLst>
          </p:cNvPr>
          <p:cNvSpPr/>
          <p:nvPr/>
        </p:nvSpPr>
        <p:spPr>
          <a:xfrm>
            <a:off x="6604000" y="1397000"/>
            <a:ext cx="4508500" cy="3111500"/>
          </a:xfrm>
          <a:prstGeom prst="rect">
            <a:avLst/>
          </a:prstGeom>
          <a:solidFill>
            <a:srgbClr val="F4F7FB"/>
          </a:solidFill>
          <a:ln w="12700">
            <a:solidFill>
              <a:srgbClr val="D6E0EF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0B0EC9D1-DFE8-94DE-8F30-08D84D1F658E}"/>
              </a:ext>
            </a:extLst>
          </p:cNvPr>
          <p:cNvSpPr txBox="1"/>
          <p:nvPr/>
        </p:nvSpPr>
        <p:spPr>
          <a:xfrm>
            <a:off x="6756400" y="1524000"/>
            <a:ext cx="4203700" cy="1456809"/>
          </a:xfrm>
          <a:prstGeom prst="rect">
            <a:avLst/>
          </a:prstGeom>
          <a:noFill/>
        </p:spPr>
        <p:txBody>
          <a:bodyPr vert="horz" wrap="square" lIns="101600" tIns="50800" rIns="101600" bIns="50800" rtlCol="0">
            <a:spAutoFit/>
          </a:bodyPr>
          <a:lstStyle/>
          <a:p>
            <a:r>
              <a:rPr lang="en-US" sz="1100">
                <a:solidFill>
                  <a:srgbClr val="0B1F3A"/>
                </a:solidFill>
                <a:latin typeface="Cascadia Mono" panose="020B0609020000020004" pitchFamily="49" charset="0"/>
              </a:rPr>
              <a:t>let TargetDevice = "usm262346";</a:t>
            </a:r>
          </a:p>
          <a:p>
            <a:r>
              <a:rPr lang="en-US" sz="1100">
                <a:solidFill>
                  <a:srgbClr val="0B1F3A"/>
                </a:solidFill>
                <a:latin typeface="Cascadia Mono" panose="020B0609020000020004" pitchFamily="49" charset="0"/>
              </a:rPr>
              <a:t>DeviceFileEvents</a:t>
            </a:r>
          </a:p>
          <a:p>
            <a:r>
              <a:rPr lang="en-US" sz="1100">
                <a:solidFill>
                  <a:srgbClr val="0B1F3A"/>
                </a:solidFill>
                <a:latin typeface="Cascadia Mono" panose="020B0609020000020004" pitchFamily="49" charset="0"/>
              </a:rPr>
              <a:t>| where Timestamp &gt; ago(7d)</a:t>
            </a:r>
          </a:p>
          <a:p>
            <a:r>
              <a:rPr lang="en-US" sz="1100">
                <a:solidFill>
                  <a:srgbClr val="0B1F3A"/>
                </a:solidFill>
                <a:latin typeface="Cascadia Mono" panose="020B0609020000020004" pitchFamily="49" charset="0"/>
              </a:rPr>
              <a:t>| where DeviceName == TargetDevice</a:t>
            </a:r>
          </a:p>
          <a:p>
            <a:r>
              <a:rPr lang="en-US" sz="1100">
                <a:solidFill>
                  <a:srgbClr val="0B1F3A"/>
                </a:solidFill>
                <a:latin typeface="Cascadia Mono" panose="020B0609020000020004" pitchFamily="49" charset="0"/>
              </a:rPr>
              <a:t>| where FileName has "lazagne"</a:t>
            </a:r>
          </a:p>
          <a:p>
            <a:r>
              <a:rPr lang="en-US" sz="1100">
                <a:solidFill>
                  <a:srgbClr val="0B1F3A"/>
                </a:solidFill>
                <a:latin typeface="Cascadia Mono" panose="020B0609020000020004" pitchFamily="49" charset="0"/>
              </a:rPr>
              <a:t>| summarize Actions=make_set(ActionType), FirstSeen=min(Timestamp), LastSeen=max(Timestamp) by FileName</a:t>
            </a:r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AF6A2E3E-4AEE-40E6-C41D-62DD552A0C54}"/>
              </a:ext>
            </a:extLst>
          </p:cNvPr>
          <p:cNvSpPr/>
          <p:nvPr/>
        </p:nvSpPr>
        <p:spPr>
          <a:xfrm>
            <a:off x="6604000" y="4851400"/>
            <a:ext cx="4508500" cy="787400"/>
          </a:xfrm>
          <a:prstGeom prst="rect">
            <a:avLst/>
          </a:prstGeom>
          <a:solidFill>
            <a:srgbClr val="EAF3FF"/>
          </a:solidFill>
          <a:ln w="12700">
            <a:solidFill>
              <a:srgbClr val="7FA9DA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2B403928-CC24-6CA4-CD2E-165FF2C66B92}"/>
              </a:ext>
            </a:extLst>
          </p:cNvPr>
          <p:cNvSpPr txBox="1"/>
          <p:nvPr/>
        </p:nvSpPr>
        <p:spPr>
          <a:xfrm>
            <a:off x="6731000" y="4953000"/>
            <a:ext cx="4254500" cy="595035"/>
          </a:xfrm>
          <a:prstGeom prst="rect">
            <a:avLst/>
          </a:prstGeom>
          <a:noFill/>
        </p:spPr>
        <p:txBody>
          <a:bodyPr vert="horz" wrap="square" lIns="101600" tIns="50800" rIns="101600" bIns="50800" rtlCol="0">
            <a:spAutoFit/>
          </a:bodyPr>
          <a:lstStyle/>
          <a:p>
            <a:r>
              <a:rPr lang="en-US" sz="1600" b="1">
                <a:solidFill>
                  <a:srgbClr val="15375F"/>
                </a:solidFill>
                <a:latin typeface="Aptos" panose="020B0004020202020204" pitchFamily="34" charset="0"/>
              </a:rPr>
              <a:t>Ask: which table, which filter, which proof columns?</a:t>
            </a:r>
          </a:p>
        </p:txBody>
      </p:sp>
    </p:spTree>
    <p:extLst>
      <p:ext uri="{BB962C8B-B14F-4D97-AF65-F5344CB8AC3E}">
        <p14:creationId xmlns:p14="http://schemas.microsoft.com/office/powerpoint/2010/main" val="1511144655"/>
      </p:ext>
    </p:extLst>
  </p:cSld>
  <p:clrMapOvr>
    <a:masterClrMapping/>
  </p:clrMapOvr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>
            <a:extLst>
              <a:ext uri="{FF2B5EF4-FFF2-40B4-BE49-F238E27FC236}">
                <a16:creationId xmlns:a16="http://schemas.microsoft.com/office/drawing/2014/main" id="{3B7AD3F1-1441-E30C-7BE8-6682EF5F54DA}"/>
              </a:ext>
            </a:extLst>
          </p:cNvPr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C5B32895-F585-1D19-E322-C306485C535A}"/>
              </a:ext>
            </a:extLst>
          </p:cNvPr>
          <p:cNvSpPr/>
          <p:nvPr/>
        </p:nvSpPr>
        <p:spPr>
          <a:xfrm>
            <a:off x="0" y="0"/>
            <a:ext cx="12192000" cy="939800"/>
          </a:xfrm>
          <a:prstGeom prst="rect">
            <a:avLst/>
          </a:prstGeom>
          <a:solidFill>
            <a:srgbClr val="243F68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30B1D2A6-054F-4695-49FA-9653365FF1DD}"/>
              </a:ext>
            </a:extLst>
          </p:cNvPr>
          <p:cNvSpPr txBox="1"/>
          <p:nvPr/>
        </p:nvSpPr>
        <p:spPr>
          <a:xfrm>
            <a:off x="406400" y="127000"/>
            <a:ext cx="11176000" cy="241092"/>
          </a:xfrm>
          <a:prstGeom prst="rect">
            <a:avLst/>
          </a:prstGeom>
          <a:noFill/>
        </p:spPr>
        <p:txBody>
          <a:bodyPr vert="horz" wrap="square" lIns="101600" tIns="50800" rIns="101600" bIns="50800" rtlCol="0">
            <a:spAutoFit/>
          </a:bodyPr>
          <a:lstStyle/>
          <a:p>
            <a:r>
              <a:rPr lang="en-US" sz="900" b="1">
                <a:solidFill>
                  <a:srgbClr val="BFD7FF"/>
                </a:solidFill>
                <a:latin typeface="Aptos" panose="020B0004020202020204" pitchFamily="34" charset="0"/>
              </a:rPr>
              <a:t>CHECK YOUR WORK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C339DDB4-346C-195A-6F71-18FD4AC204DC}"/>
              </a:ext>
            </a:extLst>
          </p:cNvPr>
          <p:cNvSpPr txBox="1"/>
          <p:nvPr/>
        </p:nvSpPr>
        <p:spPr>
          <a:xfrm>
            <a:off x="406400" y="342900"/>
            <a:ext cx="11176000" cy="487313"/>
          </a:xfrm>
          <a:prstGeom prst="rect">
            <a:avLst/>
          </a:prstGeom>
          <a:noFill/>
        </p:spPr>
        <p:txBody>
          <a:bodyPr vert="horz" wrap="square" lIns="101600" tIns="50800" rIns="101600" bIns="50800" rtlCol="0">
            <a:spAutoFit/>
          </a:bodyPr>
          <a:lstStyle/>
          <a:p>
            <a:r>
              <a:rPr lang="en-US" sz="2500" b="1">
                <a:solidFill>
                  <a:srgbClr val="FFFFFF"/>
                </a:solidFill>
                <a:latin typeface="Aptos" panose="020B0004020202020204" pitchFamily="34" charset="0"/>
              </a:rPr>
              <a:t>Scenario 09: Answer Key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1CF243C9-B720-5713-08F8-FDEA3CF54816}"/>
              </a:ext>
            </a:extLst>
          </p:cNvPr>
          <p:cNvSpPr txBox="1"/>
          <p:nvPr/>
        </p:nvSpPr>
        <p:spPr>
          <a:xfrm>
            <a:off x="685800" y="1371600"/>
            <a:ext cx="10414000" cy="410369"/>
          </a:xfrm>
          <a:prstGeom prst="rect">
            <a:avLst/>
          </a:prstGeom>
          <a:noFill/>
        </p:spPr>
        <p:txBody>
          <a:bodyPr vert="horz" wrap="square" lIns="101600" tIns="50800" rIns="101600" bIns="50800" rtlCol="0">
            <a:spAutoFit/>
          </a:bodyPr>
          <a:lstStyle/>
          <a:p>
            <a:r>
              <a:rPr lang="en-US" sz="2000" b="1">
                <a:solidFill>
                  <a:srgbClr val="243F68"/>
                </a:solidFill>
                <a:latin typeface="Aptos" panose="020B0004020202020204" pitchFamily="34" charset="0"/>
              </a:rPr>
              <a:t>Challenge: How do we know the tool was cleaned up after staging?</a:t>
            </a:r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6D5BFD95-B67B-8057-1313-0386F0C50576}"/>
              </a:ext>
            </a:extLst>
          </p:cNvPr>
          <p:cNvSpPr/>
          <p:nvPr/>
        </p:nvSpPr>
        <p:spPr>
          <a:xfrm>
            <a:off x="685800" y="2336800"/>
            <a:ext cx="10414000" cy="1206500"/>
          </a:xfrm>
          <a:prstGeom prst="rect">
            <a:avLst/>
          </a:prstGeom>
          <a:solidFill>
            <a:srgbClr val="EEF7ED"/>
          </a:solidFill>
          <a:ln w="12700">
            <a:solidFill>
              <a:srgbClr val="7FA9DA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F95C04F6-E6CE-B665-2DE2-3C6C0BA5A959}"/>
              </a:ext>
            </a:extLst>
          </p:cNvPr>
          <p:cNvSpPr txBox="1"/>
          <p:nvPr/>
        </p:nvSpPr>
        <p:spPr>
          <a:xfrm>
            <a:off x="812800" y="2438400"/>
            <a:ext cx="10160000" cy="595035"/>
          </a:xfrm>
          <a:prstGeom prst="rect">
            <a:avLst/>
          </a:prstGeom>
          <a:noFill/>
        </p:spPr>
        <p:txBody>
          <a:bodyPr vert="horz" wrap="square" lIns="101600" tIns="50800" rIns="101600" bIns="50800" rtlCol="0">
            <a:spAutoFit/>
          </a:bodyPr>
          <a:lstStyle/>
          <a:p>
            <a:r>
              <a:rPr lang="en-US" sz="1600" b="1">
                <a:solidFill>
                  <a:srgbClr val="15375F"/>
                </a:solidFill>
                <a:latin typeface="Aptos" panose="020B0004020202020204" pitchFamily="34" charset="0"/>
              </a:rPr>
              <a:t>Artifact: laZagne_windows_x64.exe. Evidence shows it was created and later deleted. Cleanup did not erase telemetry.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131ADC5B-1F96-DEB9-3324-6A5A8DB730C7}"/>
              </a:ext>
            </a:extLst>
          </p:cNvPr>
          <p:cNvSpPr txBox="1"/>
          <p:nvPr/>
        </p:nvSpPr>
        <p:spPr>
          <a:xfrm>
            <a:off x="914400" y="3937000"/>
            <a:ext cx="10033000" cy="1456809"/>
          </a:xfrm>
          <a:prstGeom prst="rect">
            <a:avLst/>
          </a:prstGeom>
          <a:noFill/>
        </p:spPr>
        <p:txBody>
          <a:bodyPr vert="horz" wrap="square" lIns="101600" tIns="50800" rIns="101600" bIns="50800" rtlCol="0">
            <a:spAutoFit/>
          </a:bodyPr>
          <a:lstStyle/>
          <a:p>
            <a:pPr>
              <a:spcAft>
                <a:spcPts val="800"/>
              </a:spcAft>
            </a:pPr>
            <a:r>
              <a:rPr lang="en-US" sz="1700">
                <a:solidFill>
                  <a:srgbClr val="111111"/>
                </a:solidFill>
                <a:latin typeface="Aptos" panose="020B0004020202020204" pitchFamily="34" charset="0"/>
              </a:rPr>
              <a:t>- How the KQL finds it: start with the table most likely to hold the evidence.</a:t>
            </a:r>
          </a:p>
          <a:p>
            <a:pPr>
              <a:spcAft>
                <a:spcPts val="800"/>
              </a:spcAft>
            </a:pPr>
            <a:r>
              <a:rPr lang="en-US" sz="1700">
                <a:solidFill>
                  <a:srgbClr val="111111"/>
                </a:solidFill>
                <a:latin typeface="Aptos" panose="020B0004020202020204" pitchFamily="34" charset="0"/>
              </a:rPr>
              <a:t>- Use where filters to reduce to the device, time, and scenario clue.</a:t>
            </a:r>
          </a:p>
          <a:p>
            <a:pPr>
              <a:spcAft>
                <a:spcPts val="800"/>
              </a:spcAft>
            </a:pPr>
            <a:r>
              <a:rPr lang="en-US" sz="1700">
                <a:solidFill>
                  <a:srgbClr val="111111"/>
                </a:solidFill>
                <a:latin typeface="Aptos" panose="020B0004020202020204" pitchFamily="34" charset="0"/>
              </a:rPr>
              <a:t>- Use project to show only the columns that prove the answer.</a:t>
            </a:r>
          </a:p>
          <a:p>
            <a:pPr>
              <a:spcAft>
                <a:spcPts val="800"/>
              </a:spcAft>
            </a:pPr>
            <a:r>
              <a:rPr lang="en-US" sz="1700">
                <a:solidFill>
                  <a:srgbClr val="111111"/>
                </a:solidFill>
                <a:latin typeface="Aptos" panose="020B0004020202020204" pitchFamily="34" charset="0"/>
              </a:rPr>
              <a:t>- If one table is incomplete, pivot to file or alert evidence.</a:t>
            </a:r>
          </a:p>
        </p:txBody>
      </p:sp>
    </p:spTree>
    <p:extLst>
      <p:ext uri="{BB962C8B-B14F-4D97-AF65-F5344CB8AC3E}">
        <p14:creationId xmlns:p14="http://schemas.microsoft.com/office/powerpoint/2010/main" val="662415912"/>
      </p:ext>
    </p:extLst>
  </p:cSld>
  <p:clrMapOvr>
    <a:masterClrMapping/>
  </p:clrMapOvr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>
            <a:extLst>
              <a:ext uri="{FF2B5EF4-FFF2-40B4-BE49-F238E27FC236}">
                <a16:creationId xmlns:a16="http://schemas.microsoft.com/office/drawing/2014/main" id="{35729C3B-13DC-6B88-BB3D-814B02ED2A7C}"/>
              </a:ext>
            </a:extLst>
          </p:cNvPr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82BD6F79-3671-2E36-84EA-8C74DF37E486}"/>
              </a:ext>
            </a:extLst>
          </p:cNvPr>
          <p:cNvSpPr/>
          <p:nvPr/>
        </p:nvSpPr>
        <p:spPr>
          <a:xfrm>
            <a:off x="0" y="0"/>
            <a:ext cx="12192000" cy="939800"/>
          </a:xfrm>
          <a:prstGeom prst="rect">
            <a:avLst/>
          </a:prstGeom>
          <a:solidFill>
            <a:srgbClr val="243F68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BE003222-A023-3B9E-3844-85CB1F7A9DD3}"/>
              </a:ext>
            </a:extLst>
          </p:cNvPr>
          <p:cNvSpPr txBox="1"/>
          <p:nvPr/>
        </p:nvSpPr>
        <p:spPr>
          <a:xfrm>
            <a:off x="406400" y="127000"/>
            <a:ext cx="11176000" cy="241092"/>
          </a:xfrm>
          <a:prstGeom prst="rect">
            <a:avLst/>
          </a:prstGeom>
          <a:noFill/>
        </p:spPr>
        <p:txBody>
          <a:bodyPr vert="horz" wrap="square" lIns="101600" tIns="50800" rIns="101600" bIns="50800" rtlCol="0">
            <a:spAutoFit/>
          </a:bodyPr>
          <a:lstStyle/>
          <a:p>
            <a:r>
              <a:rPr lang="en-US" sz="900" b="1">
                <a:solidFill>
                  <a:srgbClr val="BFD7FF"/>
                </a:solidFill>
                <a:latin typeface="Aptos" panose="020B0004020202020204" pitchFamily="34" charset="0"/>
              </a:rPr>
              <a:t>SCENARIO BRIEF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9CF7B698-F7BF-4B64-C55C-28780B16D747}"/>
              </a:ext>
            </a:extLst>
          </p:cNvPr>
          <p:cNvSpPr txBox="1"/>
          <p:nvPr/>
        </p:nvSpPr>
        <p:spPr>
          <a:xfrm>
            <a:off x="406400" y="342900"/>
            <a:ext cx="11176000" cy="487313"/>
          </a:xfrm>
          <a:prstGeom prst="rect">
            <a:avLst/>
          </a:prstGeom>
          <a:noFill/>
        </p:spPr>
        <p:txBody>
          <a:bodyPr vert="horz" wrap="square" lIns="101600" tIns="50800" rIns="101600" bIns="50800" rtlCol="0">
            <a:spAutoFit/>
          </a:bodyPr>
          <a:lstStyle/>
          <a:p>
            <a:r>
              <a:rPr lang="en-US" sz="2500" b="1">
                <a:solidFill>
                  <a:srgbClr val="FFFFFF"/>
                </a:solidFill>
                <a:latin typeface="Aptos" panose="020B0004020202020204" pitchFamily="34" charset="0"/>
              </a:rPr>
              <a:t>Scenario 10: Obfuscated Mimikatz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6AF27ADE-C92B-3D7A-BAD5-7901213D404E}"/>
              </a:ext>
            </a:extLst>
          </p:cNvPr>
          <p:cNvSpPr txBox="1"/>
          <p:nvPr/>
        </p:nvSpPr>
        <p:spPr>
          <a:xfrm>
            <a:off x="685800" y="1333500"/>
            <a:ext cx="10795000" cy="1579920"/>
          </a:xfrm>
          <a:prstGeom prst="rect">
            <a:avLst/>
          </a:prstGeom>
          <a:noFill/>
        </p:spPr>
        <p:txBody>
          <a:bodyPr vert="horz" wrap="square" lIns="101600" tIns="50800" rIns="101600" bIns="50800" rtlCol="0">
            <a:spAutoFit/>
          </a:bodyPr>
          <a:lstStyle/>
          <a:p>
            <a:pPr>
              <a:spcAft>
                <a:spcPts val="800"/>
              </a:spcAft>
            </a:pPr>
            <a:r>
              <a:rPr lang="en-US" sz="1900">
                <a:solidFill>
                  <a:srgbClr val="111111"/>
                </a:solidFill>
                <a:latin typeface="Aptos" panose="020B0004020202020204" pitchFamily="34" charset="0"/>
              </a:rPr>
              <a:t>- Mimikatz-style behavior appears as a PowerShell script rather than mimikatz.exe.</a:t>
            </a:r>
          </a:p>
          <a:p>
            <a:pPr>
              <a:spcAft>
                <a:spcPts val="800"/>
              </a:spcAft>
            </a:pPr>
            <a:r>
              <a:rPr lang="en-US" sz="1900">
                <a:solidFill>
                  <a:srgbClr val="111111"/>
                </a:solidFill>
                <a:latin typeface="Aptos" panose="020B0004020202020204" pitchFamily="34" charset="0"/>
              </a:rPr>
              <a:t>- KQL skill: Behavior verdict beats process-name-only hunting</a:t>
            </a:r>
          </a:p>
          <a:p>
            <a:pPr>
              <a:spcAft>
                <a:spcPts val="800"/>
              </a:spcAft>
            </a:pPr>
            <a:r>
              <a:rPr lang="en-US" sz="1900">
                <a:solidFill>
                  <a:srgbClr val="111111"/>
                </a:solidFill>
                <a:latin typeface="Aptos" panose="020B0004020202020204" pitchFamily="34" charset="0"/>
              </a:rPr>
              <a:t>- Student flow: read the brief, learn the query idea, build it slowly, then answer the challenge.</a:t>
            </a:r>
          </a:p>
          <a:p>
            <a:pPr>
              <a:spcAft>
                <a:spcPts val="800"/>
              </a:spcAft>
            </a:pPr>
            <a:r>
              <a:rPr lang="en-US" sz="1900">
                <a:solidFill>
                  <a:srgbClr val="111111"/>
                </a:solidFill>
                <a:latin typeface="Aptos" panose="020B0004020202020204" pitchFamily="34" charset="0"/>
              </a:rPr>
              <a:t>- Instructor reminder: do not show the full query until students have tried the build steps.</a:t>
            </a:r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E8C8BEAA-3C1B-26BB-D9FE-C6D58D4FBDDA}"/>
              </a:ext>
            </a:extLst>
          </p:cNvPr>
          <p:cNvSpPr/>
          <p:nvPr/>
        </p:nvSpPr>
        <p:spPr>
          <a:xfrm>
            <a:off x="889000" y="5130800"/>
            <a:ext cx="10033000" cy="762000"/>
          </a:xfrm>
          <a:prstGeom prst="rect">
            <a:avLst/>
          </a:prstGeom>
          <a:solidFill>
            <a:srgbClr val="FFF6E5"/>
          </a:solidFill>
          <a:ln w="12700">
            <a:solidFill>
              <a:srgbClr val="7FA9DA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7F1C0DA4-4778-84E0-569A-8A0946D37AF2}"/>
              </a:ext>
            </a:extLst>
          </p:cNvPr>
          <p:cNvSpPr txBox="1"/>
          <p:nvPr/>
        </p:nvSpPr>
        <p:spPr>
          <a:xfrm>
            <a:off x="1016000" y="5232400"/>
            <a:ext cx="9779000" cy="348813"/>
          </a:xfrm>
          <a:prstGeom prst="rect">
            <a:avLst/>
          </a:prstGeom>
          <a:noFill/>
        </p:spPr>
        <p:txBody>
          <a:bodyPr vert="horz" wrap="square" lIns="101600" tIns="50800" rIns="101600" bIns="50800" rtlCol="0">
            <a:spAutoFit/>
          </a:bodyPr>
          <a:lstStyle/>
          <a:p>
            <a:r>
              <a:rPr lang="en-US" sz="1600" b="1">
                <a:solidFill>
                  <a:srgbClr val="15375F"/>
                </a:solidFill>
                <a:latin typeface="Aptos" panose="020B0004020202020204" pitchFamily="34" charset="0"/>
              </a:rPr>
              <a:t>CTF challenge: What makes this different from simply looking for mimikatz.exe?</a:t>
            </a:r>
          </a:p>
        </p:txBody>
      </p:sp>
    </p:spTree>
    <p:extLst>
      <p:ext uri="{BB962C8B-B14F-4D97-AF65-F5344CB8AC3E}">
        <p14:creationId xmlns:p14="http://schemas.microsoft.com/office/powerpoint/2010/main" val="2493516286"/>
      </p:ext>
    </p:extLst>
  </p:cSld>
  <p:clrMapOvr>
    <a:masterClrMapping/>
  </p:clrMapOvr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>
            <a:extLst>
              <a:ext uri="{FF2B5EF4-FFF2-40B4-BE49-F238E27FC236}">
                <a16:creationId xmlns:a16="http://schemas.microsoft.com/office/drawing/2014/main" id="{483ABB40-DCD0-720D-5603-AF2B716ED176}"/>
              </a:ext>
            </a:extLst>
          </p:cNvPr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68234839-C030-4CEA-6669-C2ED37E61B01}"/>
              </a:ext>
            </a:extLst>
          </p:cNvPr>
          <p:cNvSpPr/>
          <p:nvPr/>
        </p:nvSpPr>
        <p:spPr>
          <a:xfrm>
            <a:off x="0" y="0"/>
            <a:ext cx="12192000" cy="939800"/>
          </a:xfrm>
          <a:prstGeom prst="rect">
            <a:avLst/>
          </a:prstGeom>
          <a:solidFill>
            <a:srgbClr val="243F68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8C46FD87-0FF5-F026-5761-5D83772D8568}"/>
              </a:ext>
            </a:extLst>
          </p:cNvPr>
          <p:cNvSpPr txBox="1"/>
          <p:nvPr/>
        </p:nvSpPr>
        <p:spPr>
          <a:xfrm>
            <a:off x="406400" y="127000"/>
            <a:ext cx="11176000" cy="241092"/>
          </a:xfrm>
          <a:prstGeom prst="rect">
            <a:avLst/>
          </a:prstGeom>
          <a:noFill/>
        </p:spPr>
        <p:txBody>
          <a:bodyPr vert="horz" wrap="square" lIns="101600" tIns="50800" rIns="101600" bIns="50800" rtlCol="0">
            <a:spAutoFit/>
          </a:bodyPr>
          <a:lstStyle/>
          <a:p>
            <a:r>
              <a:rPr lang="en-US" sz="900" b="1">
                <a:solidFill>
                  <a:srgbClr val="BFD7FF"/>
                </a:solidFill>
                <a:latin typeface="Aptos" panose="020B0004020202020204" pitchFamily="34" charset="0"/>
              </a:rPr>
              <a:t>OBFUSCATED MIMIKATZ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9672894C-BCCA-3B01-8F0E-023E02DD798F}"/>
              </a:ext>
            </a:extLst>
          </p:cNvPr>
          <p:cNvSpPr txBox="1"/>
          <p:nvPr/>
        </p:nvSpPr>
        <p:spPr>
          <a:xfrm>
            <a:off x="406400" y="342900"/>
            <a:ext cx="11176000" cy="487313"/>
          </a:xfrm>
          <a:prstGeom prst="rect">
            <a:avLst/>
          </a:prstGeom>
          <a:noFill/>
        </p:spPr>
        <p:txBody>
          <a:bodyPr vert="horz" wrap="square" lIns="101600" tIns="50800" rIns="101600" bIns="50800" rtlCol="0">
            <a:spAutoFit/>
          </a:bodyPr>
          <a:lstStyle/>
          <a:p>
            <a:r>
              <a:rPr lang="en-US" sz="2500" b="1">
                <a:solidFill>
                  <a:srgbClr val="FFFFFF"/>
                </a:solidFill>
                <a:latin typeface="Aptos" panose="020B0004020202020204" pitchFamily="34" charset="0"/>
              </a:rPr>
              <a:t>Scenario 10: Build It Slowly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07721CD8-0F79-DDB1-46E9-79EB23B992BD}"/>
              </a:ext>
            </a:extLst>
          </p:cNvPr>
          <p:cNvSpPr txBox="1"/>
          <p:nvPr/>
        </p:nvSpPr>
        <p:spPr>
          <a:xfrm>
            <a:off x="685800" y="1371600"/>
            <a:ext cx="5461000" cy="1518364"/>
          </a:xfrm>
          <a:prstGeom prst="rect">
            <a:avLst/>
          </a:prstGeom>
          <a:noFill/>
        </p:spPr>
        <p:txBody>
          <a:bodyPr vert="horz" wrap="square" lIns="101600" tIns="50800" rIns="101600" bIns="50800" rtlCol="0">
            <a:spAutoFit/>
          </a:bodyPr>
          <a:lstStyle/>
          <a:p>
            <a:pPr>
              <a:spcAft>
                <a:spcPts val="800"/>
              </a:spcAft>
            </a:pPr>
            <a:r>
              <a:rPr lang="en-US">
                <a:solidFill>
                  <a:srgbClr val="111111"/>
                </a:solidFill>
                <a:latin typeface="Aptos" panose="020B0004020202020204" pitchFamily="34" charset="0"/>
              </a:rPr>
              <a:t>- Search file events for mimikatz script artifacts.</a:t>
            </a:r>
          </a:p>
          <a:p>
            <a:pPr>
              <a:spcAft>
                <a:spcPts val="800"/>
              </a:spcAft>
            </a:pPr>
            <a:r>
              <a:rPr lang="en-US">
                <a:solidFill>
                  <a:srgbClr val="111111"/>
                </a:solidFill>
                <a:latin typeface="Aptos" panose="020B0004020202020204" pitchFamily="34" charset="0"/>
              </a:rPr>
              <a:t>- Search alert titles for Mimikatz credential theft tool.</a:t>
            </a:r>
          </a:p>
          <a:p>
            <a:pPr>
              <a:spcAft>
                <a:spcPts val="800"/>
              </a:spcAft>
            </a:pPr>
            <a:r>
              <a:rPr lang="en-US">
                <a:solidFill>
                  <a:srgbClr val="111111"/>
                </a:solidFill>
                <a:latin typeface="Aptos" panose="020B0004020202020204" pitchFamily="34" charset="0"/>
              </a:rPr>
              <a:t>- Explain why process-name-only hunts miss this.</a:t>
            </a:r>
          </a:p>
          <a:p>
            <a:pPr>
              <a:spcAft>
                <a:spcPts val="800"/>
              </a:spcAft>
            </a:pPr>
            <a:r>
              <a:rPr lang="en-US">
                <a:solidFill>
                  <a:srgbClr val="111111"/>
                </a:solidFill>
                <a:latin typeface="Aptos" panose="020B0004020202020204" pitchFamily="34" charset="0"/>
              </a:rPr>
              <a:t>- Keep Title, Severity, FileName, SHA256.</a:t>
            </a:r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B6BF7CF5-69ED-A41E-C38D-9C150E417B98}"/>
              </a:ext>
            </a:extLst>
          </p:cNvPr>
          <p:cNvSpPr/>
          <p:nvPr/>
        </p:nvSpPr>
        <p:spPr>
          <a:xfrm>
            <a:off x="6604000" y="1397000"/>
            <a:ext cx="4508500" cy="3111500"/>
          </a:xfrm>
          <a:prstGeom prst="rect">
            <a:avLst/>
          </a:prstGeom>
          <a:solidFill>
            <a:srgbClr val="F4F7FB"/>
          </a:solidFill>
          <a:ln w="12700">
            <a:solidFill>
              <a:srgbClr val="D6E0EF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E094B321-AE9D-D9D5-77B0-62EC11C1577E}"/>
              </a:ext>
            </a:extLst>
          </p:cNvPr>
          <p:cNvSpPr txBox="1"/>
          <p:nvPr/>
        </p:nvSpPr>
        <p:spPr>
          <a:xfrm>
            <a:off x="6756400" y="1524000"/>
            <a:ext cx="4203700" cy="1795363"/>
          </a:xfrm>
          <a:prstGeom prst="rect">
            <a:avLst/>
          </a:prstGeom>
          <a:noFill/>
        </p:spPr>
        <p:txBody>
          <a:bodyPr vert="horz" wrap="square" lIns="101600" tIns="50800" rIns="101600" bIns="50800" rtlCol="0">
            <a:spAutoFit/>
          </a:bodyPr>
          <a:lstStyle/>
          <a:p>
            <a:r>
              <a:rPr lang="en-US" sz="1100">
                <a:solidFill>
                  <a:srgbClr val="0B1F3A"/>
                </a:solidFill>
                <a:latin typeface="Cascadia Mono" panose="020B0609020000020004" pitchFamily="49" charset="0"/>
              </a:rPr>
              <a:t>let TargetDevice = "usm262346";</a:t>
            </a:r>
          </a:p>
          <a:p>
            <a:r>
              <a:rPr lang="en-US" sz="1100">
                <a:solidFill>
                  <a:srgbClr val="0B1F3A"/>
                </a:solidFill>
                <a:latin typeface="Cascadia Mono" panose="020B0609020000020004" pitchFamily="49" charset="0"/>
              </a:rPr>
              <a:t>AlertEvidence</a:t>
            </a:r>
          </a:p>
          <a:p>
            <a:r>
              <a:rPr lang="en-US" sz="1100">
                <a:solidFill>
                  <a:srgbClr val="0B1F3A"/>
                </a:solidFill>
                <a:latin typeface="Cascadia Mono" panose="020B0609020000020004" pitchFamily="49" charset="0"/>
              </a:rPr>
              <a:t>| where Timestamp &gt; ago(7d)</a:t>
            </a:r>
          </a:p>
          <a:p>
            <a:r>
              <a:rPr lang="en-US" sz="1100">
                <a:solidFill>
                  <a:srgbClr val="0B1F3A"/>
                </a:solidFill>
                <a:latin typeface="Cascadia Mono" panose="020B0609020000020004" pitchFamily="49" charset="0"/>
              </a:rPr>
              <a:t>| where DeviceName == TargetDevice or FileName has "mimikatz"</a:t>
            </a:r>
          </a:p>
          <a:p>
            <a:r>
              <a:rPr lang="en-US" sz="1100">
                <a:solidFill>
                  <a:srgbClr val="0B1F3A"/>
                </a:solidFill>
                <a:latin typeface="Cascadia Mono" panose="020B0609020000020004" pitchFamily="49" charset="0"/>
              </a:rPr>
              <a:t>| where Title has "Mimikatz credential theft tool" or FileName =~ "mimikatz_dump_passwords_v2.ps1"</a:t>
            </a:r>
          </a:p>
          <a:p>
            <a:r>
              <a:rPr lang="en-US" sz="1100">
                <a:solidFill>
                  <a:srgbClr val="0B1F3A"/>
                </a:solidFill>
                <a:latin typeface="Cascadia Mono" panose="020B0609020000020004" pitchFamily="49" charset="0"/>
              </a:rPr>
              <a:t>| project Timestamp, Title, Severity, FileName, SHA256</a:t>
            </a:r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EEB73B47-C6E6-F264-315F-AC84AB0A0C3E}"/>
              </a:ext>
            </a:extLst>
          </p:cNvPr>
          <p:cNvSpPr/>
          <p:nvPr/>
        </p:nvSpPr>
        <p:spPr>
          <a:xfrm>
            <a:off x="6604000" y="4851400"/>
            <a:ext cx="4508500" cy="787400"/>
          </a:xfrm>
          <a:prstGeom prst="rect">
            <a:avLst/>
          </a:prstGeom>
          <a:solidFill>
            <a:srgbClr val="EAF3FF"/>
          </a:solidFill>
          <a:ln w="12700">
            <a:solidFill>
              <a:srgbClr val="7FA9DA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CE674BAF-6C25-7FE5-4878-0A1FFD9E5C79}"/>
              </a:ext>
            </a:extLst>
          </p:cNvPr>
          <p:cNvSpPr txBox="1"/>
          <p:nvPr/>
        </p:nvSpPr>
        <p:spPr>
          <a:xfrm>
            <a:off x="6731000" y="4953000"/>
            <a:ext cx="4254500" cy="595035"/>
          </a:xfrm>
          <a:prstGeom prst="rect">
            <a:avLst/>
          </a:prstGeom>
          <a:noFill/>
        </p:spPr>
        <p:txBody>
          <a:bodyPr vert="horz" wrap="square" lIns="101600" tIns="50800" rIns="101600" bIns="50800" rtlCol="0">
            <a:spAutoFit/>
          </a:bodyPr>
          <a:lstStyle/>
          <a:p>
            <a:r>
              <a:rPr lang="en-US" sz="1600" b="1">
                <a:solidFill>
                  <a:srgbClr val="15375F"/>
                </a:solidFill>
                <a:latin typeface="Aptos" panose="020B0004020202020204" pitchFamily="34" charset="0"/>
              </a:rPr>
              <a:t>Ask: which table, which filter, which proof columns?</a:t>
            </a:r>
          </a:p>
        </p:txBody>
      </p:sp>
    </p:spTree>
    <p:extLst>
      <p:ext uri="{BB962C8B-B14F-4D97-AF65-F5344CB8AC3E}">
        <p14:creationId xmlns:p14="http://schemas.microsoft.com/office/powerpoint/2010/main" val="4241077583"/>
      </p:ext>
    </p:extLst>
  </p:cSld>
  <p:clrMapOvr>
    <a:masterClrMapping/>
  </p:clrMapOvr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>
            <a:extLst>
              <a:ext uri="{FF2B5EF4-FFF2-40B4-BE49-F238E27FC236}">
                <a16:creationId xmlns:a16="http://schemas.microsoft.com/office/drawing/2014/main" id="{9B8D4B5A-C9EF-16CE-39B6-43FD93DEC7A2}"/>
              </a:ext>
            </a:extLst>
          </p:cNvPr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5C61C2CF-72C3-110E-0BFE-6CB1D9E8A071}"/>
              </a:ext>
            </a:extLst>
          </p:cNvPr>
          <p:cNvSpPr/>
          <p:nvPr/>
        </p:nvSpPr>
        <p:spPr>
          <a:xfrm>
            <a:off x="0" y="0"/>
            <a:ext cx="12192000" cy="939800"/>
          </a:xfrm>
          <a:prstGeom prst="rect">
            <a:avLst/>
          </a:prstGeom>
          <a:solidFill>
            <a:srgbClr val="243F68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55A0276A-6F6F-E229-8F52-1D355DACF6E8}"/>
              </a:ext>
            </a:extLst>
          </p:cNvPr>
          <p:cNvSpPr txBox="1"/>
          <p:nvPr/>
        </p:nvSpPr>
        <p:spPr>
          <a:xfrm>
            <a:off x="406400" y="127000"/>
            <a:ext cx="11176000" cy="241092"/>
          </a:xfrm>
          <a:prstGeom prst="rect">
            <a:avLst/>
          </a:prstGeom>
          <a:noFill/>
        </p:spPr>
        <p:txBody>
          <a:bodyPr vert="horz" wrap="square" lIns="101600" tIns="50800" rIns="101600" bIns="50800" rtlCol="0">
            <a:spAutoFit/>
          </a:bodyPr>
          <a:lstStyle/>
          <a:p>
            <a:r>
              <a:rPr lang="en-US" sz="900" b="1">
                <a:solidFill>
                  <a:srgbClr val="BFD7FF"/>
                </a:solidFill>
                <a:latin typeface="Aptos" panose="020B0004020202020204" pitchFamily="34" charset="0"/>
              </a:rPr>
              <a:t>CHECK YOUR WORK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CEC4E82E-B137-B2A4-8CBD-B041863CF1F1}"/>
              </a:ext>
            </a:extLst>
          </p:cNvPr>
          <p:cNvSpPr txBox="1"/>
          <p:nvPr/>
        </p:nvSpPr>
        <p:spPr>
          <a:xfrm>
            <a:off x="406400" y="342900"/>
            <a:ext cx="11176000" cy="487313"/>
          </a:xfrm>
          <a:prstGeom prst="rect">
            <a:avLst/>
          </a:prstGeom>
          <a:noFill/>
        </p:spPr>
        <p:txBody>
          <a:bodyPr vert="horz" wrap="square" lIns="101600" tIns="50800" rIns="101600" bIns="50800" rtlCol="0">
            <a:spAutoFit/>
          </a:bodyPr>
          <a:lstStyle/>
          <a:p>
            <a:r>
              <a:rPr lang="en-US" sz="2500" b="1">
                <a:solidFill>
                  <a:srgbClr val="FFFFFF"/>
                </a:solidFill>
                <a:latin typeface="Aptos" panose="020B0004020202020204" pitchFamily="34" charset="0"/>
              </a:rPr>
              <a:t>Scenario 10: Answer Key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6B263581-E106-1E94-DDA6-E18F274DB3A8}"/>
              </a:ext>
            </a:extLst>
          </p:cNvPr>
          <p:cNvSpPr txBox="1"/>
          <p:nvPr/>
        </p:nvSpPr>
        <p:spPr>
          <a:xfrm>
            <a:off x="685800" y="1371600"/>
            <a:ext cx="10414000" cy="410369"/>
          </a:xfrm>
          <a:prstGeom prst="rect">
            <a:avLst/>
          </a:prstGeom>
          <a:noFill/>
        </p:spPr>
        <p:txBody>
          <a:bodyPr vert="horz" wrap="square" lIns="101600" tIns="50800" rIns="101600" bIns="50800" rtlCol="0">
            <a:spAutoFit/>
          </a:bodyPr>
          <a:lstStyle/>
          <a:p>
            <a:r>
              <a:rPr lang="en-US" sz="2000" b="1">
                <a:solidFill>
                  <a:srgbClr val="243F68"/>
                </a:solidFill>
                <a:latin typeface="Aptos" panose="020B0004020202020204" pitchFamily="34" charset="0"/>
              </a:rPr>
              <a:t>Challenge: What makes this different from simply looking for mimikatz.exe?</a:t>
            </a:r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3F5426C5-6E15-DEEB-13EC-AF9DA7B11E0F}"/>
              </a:ext>
            </a:extLst>
          </p:cNvPr>
          <p:cNvSpPr/>
          <p:nvPr/>
        </p:nvSpPr>
        <p:spPr>
          <a:xfrm>
            <a:off x="685800" y="2336800"/>
            <a:ext cx="10414000" cy="1206500"/>
          </a:xfrm>
          <a:prstGeom prst="rect">
            <a:avLst/>
          </a:prstGeom>
          <a:solidFill>
            <a:srgbClr val="EEF7ED"/>
          </a:solidFill>
          <a:ln w="12700">
            <a:solidFill>
              <a:srgbClr val="7FA9DA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9B3E16D7-67ED-EF76-EF69-238AC3F8DD6D}"/>
              </a:ext>
            </a:extLst>
          </p:cNvPr>
          <p:cNvSpPr txBox="1"/>
          <p:nvPr/>
        </p:nvSpPr>
        <p:spPr>
          <a:xfrm>
            <a:off x="812800" y="2438400"/>
            <a:ext cx="10160000" cy="595035"/>
          </a:xfrm>
          <a:prstGeom prst="rect">
            <a:avLst/>
          </a:prstGeom>
          <a:noFill/>
        </p:spPr>
        <p:txBody>
          <a:bodyPr vert="horz" wrap="square" lIns="101600" tIns="50800" rIns="101600" bIns="50800" rtlCol="0">
            <a:spAutoFit/>
          </a:bodyPr>
          <a:lstStyle/>
          <a:p>
            <a:r>
              <a:rPr lang="en-US" sz="1600" b="1">
                <a:solidFill>
                  <a:srgbClr val="15375F"/>
                </a:solidFill>
                <a:latin typeface="Aptos" panose="020B0004020202020204" pitchFamily="34" charset="0"/>
              </a:rPr>
              <a:t>Artifact: mimikatz_dump_passwords_v2.ps1. Defender verdict: Mimikatz credential theft tool. The hunt works even without mimikatz.exe execution.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43A4D83C-70D7-3C3D-CAC6-1EB99467EB76}"/>
              </a:ext>
            </a:extLst>
          </p:cNvPr>
          <p:cNvSpPr txBox="1"/>
          <p:nvPr/>
        </p:nvSpPr>
        <p:spPr>
          <a:xfrm>
            <a:off x="914400" y="3937000"/>
            <a:ext cx="10033000" cy="1456809"/>
          </a:xfrm>
          <a:prstGeom prst="rect">
            <a:avLst/>
          </a:prstGeom>
          <a:noFill/>
        </p:spPr>
        <p:txBody>
          <a:bodyPr vert="horz" wrap="square" lIns="101600" tIns="50800" rIns="101600" bIns="50800" rtlCol="0">
            <a:spAutoFit/>
          </a:bodyPr>
          <a:lstStyle/>
          <a:p>
            <a:pPr>
              <a:spcAft>
                <a:spcPts val="800"/>
              </a:spcAft>
            </a:pPr>
            <a:r>
              <a:rPr lang="en-US" sz="1700">
                <a:solidFill>
                  <a:srgbClr val="111111"/>
                </a:solidFill>
                <a:latin typeface="Aptos" panose="020B0004020202020204" pitchFamily="34" charset="0"/>
              </a:rPr>
              <a:t>- How the KQL finds it: start with the table most likely to hold the evidence.</a:t>
            </a:r>
          </a:p>
          <a:p>
            <a:pPr>
              <a:spcAft>
                <a:spcPts val="800"/>
              </a:spcAft>
            </a:pPr>
            <a:r>
              <a:rPr lang="en-US" sz="1700">
                <a:solidFill>
                  <a:srgbClr val="111111"/>
                </a:solidFill>
                <a:latin typeface="Aptos" panose="020B0004020202020204" pitchFamily="34" charset="0"/>
              </a:rPr>
              <a:t>- Use where filters to reduce to the device, time, and scenario clue.</a:t>
            </a:r>
          </a:p>
          <a:p>
            <a:pPr>
              <a:spcAft>
                <a:spcPts val="800"/>
              </a:spcAft>
            </a:pPr>
            <a:r>
              <a:rPr lang="en-US" sz="1700">
                <a:solidFill>
                  <a:srgbClr val="111111"/>
                </a:solidFill>
                <a:latin typeface="Aptos" panose="020B0004020202020204" pitchFamily="34" charset="0"/>
              </a:rPr>
              <a:t>- Use project to show only the columns that prove the answer.</a:t>
            </a:r>
          </a:p>
          <a:p>
            <a:pPr>
              <a:spcAft>
                <a:spcPts val="800"/>
              </a:spcAft>
            </a:pPr>
            <a:r>
              <a:rPr lang="en-US" sz="1700">
                <a:solidFill>
                  <a:srgbClr val="111111"/>
                </a:solidFill>
                <a:latin typeface="Aptos" panose="020B0004020202020204" pitchFamily="34" charset="0"/>
              </a:rPr>
              <a:t>- If one table is incomplete, pivot to file or alert evidence.</a:t>
            </a:r>
          </a:p>
        </p:txBody>
      </p:sp>
    </p:spTree>
    <p:extLst>
      <p:ext uri="{BB962C8B-B14F-4D97-AF65-F5344CB8AC3E}">
        <p14:creationId xmlns:p14="http://schemas.microsoft.com/office/powerpoint/2010/main" val="2230590147"/>
      </p:ext>
    </p:extLst>
  </p:cSld>
  <p:clrMapOvr>
    <a:masterClrMapping/>
  </p:clrMapOvr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>
            <a:extLst>
              <a:ext uri="{FF2B5EF4-FFF2-40B4-BE49-F238E27FC236}">
                <a16:creationId xmlns:a16="http://schemas.microsoft.com/office/drawing/2014/main" id="{EC9D0795-7DC1-437B-DB6D-C9CC380D4FD3}"/>
              </a:ext>
            </a:extLst>
          </p:cNvPr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17E3A42E-4AF6-D752-2FFE-EF21108597E7}"/>
              </a:ext>
            </a:extLst>
          </p:cNvPr>
          <p:cNvSpPr/>
          <p:nvPr/>
        </p:nvSpPr>
        <p:spPr>
          <a:xfrm>
            <a:off x="0" y="0"/>
            <a:ext cx="12192000" cy="939800"/>
          </a:xfrm>
          <a:prstGeom prst="rect">
            <a:avLst/>
          </a:prstGeom>
          <a:solidFill>
            <a:srgbClr val="243F68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564D7C05-4F0E-5E76-E97B-8BA3C0BD1EE7}"/>
              </a:ext>
            </a:extLst>
          </p:cNvPr>
          <p:cNvSpPr txBox="1"/>
          <p:nvPr/>
        </p:nvSpPr>
        <p:spPr>
          <a:xfrm>
            <a:off x="406400" y="127000"/>
            <a:ext cx="11176000" cy="241092"/>
          </a:xfrm>
          <a:prstGeom prst="rect">
            <a:avLst/>
          </a:prstGeom>
          <a:noFill/>
        </p:spPr>
        <p:txBody>
          <a:bodyPr vert="horz" wrap="square" lIns="101600" tIns="50800" rIns="101600" bIns="50800" rtlCol="0">
            <a:spAutoFit/>
          </a:bodyPr>
          <a:lstStyle/>
          <a:p>
            <a:r>
              <a:rPr lang="en-US" sz="900" b="1">
                <a:solidFill>
                  <a:srgbClr val="BFD7FF"/>
                </a:solidFill>
                <a:latin typeface="Aptos" panose="020B0004020202020204" pitchFamily="34" charset="0"/>
              </a:rPr>
              <a:t>SCENARIO BRIEF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E1F4752B-8522-80DB-0EB9-85F2F3E41CDF}"/>
              </a:ext>
            </a:extLst>
          </p:cNvPr>
          <p:cNvSpPr txBox="1"/>
          <p:nvPr/>
        </p:nvSpPr>
        <p:spPr>
          <a:xfrm>
            <a:off x="406400" y="342900"/>
            <a:ext cx="11176000" cy="487313"/>
          </a:xfrm>
          <a:prstGeom prst="rect">
            <a:avLst/>
          </a:prstGeom>
          <a:noFill/>
        </p:spPr>
        <p:txBody>
          <a:bodyPr vert="horz" wrap="square" lIns="101600" tIns="50800" rIns="101600" bIns="50800" rtlCol="0">
            <a:spAutoFit/>
          </a:bodyPr>
          <a:lstStyle/>
          <a:p>
            <a:r>
              <a:rPr lang="en-US" sz="2500" b="1">
                <a:solidFill>
                  <a:srgbClr val="FFFFFF"/>
                </a:solidFill>
                <a:latin typeface="Aptos" panose="020B0004020202020204" pitchFamily="34" charset="0"/>
              </a:rPr>
              <a:t>Scenario 11: Original Mimikatz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FFF3704F-FB3A-72F8-E9DB-CB6F8FB0A0B7}"/>
              </a:ext>
            </a:extLst>
          </p:cNvPr>
          <p:cNvSpPr txBox="1"/>
          <p:nvPr/>
        </p:nvSpPr>
        <p:spPr>
          <a:xfrm>
            <a:off x="685800" y="1333500"/>
            <a:ext cx="10795000" cy="1579920"/>
          </a:xfrm>
          <a:prstGeom prst="rect">
            <a:avLst/>
          </a:prstGeom>
          <a:noFill/>
        </p:spPr>
        <p:txBody>
          <a:bodyPr vert="horz" wrap="square" lIns="101600" tIns="50800" rIns="101600" bIns="50800" rtlCol="0">
            <a:spAutoFit/>
          </a:bodyPr>
          <a:lstStyle/>
          <a:p>
            <a:pPr>
              <a:spcAft>
                <a:spcPts val="800"/>
              </a:spcAft>
            </a:pPr>
            <a:r>
              <a:rPr lang="en-US" sz="1900">
                <a:solidFill>
                  <a:srgbClr val="111111"/>
                </a:solidFill>
                <a:latin typeface="Aptos" panose="020B0004020202020204" pitchFamily="34" charset="0"/>
              </a:rPr>
              <a:t>- The classic Mimikatz package is staged and Defender identifies it.</a:t>
            </a:r>
          </a:p>
          <a:p>
            <a:pPr>
              <a:spcAft>
                <a:spcPts val="800"/>
              </a:spcAft>
            </a:pPr>
            <a:r>
              <a:rPr lang="en-US" sz="1900">
                <a:solidFill>
                  <a:srgbClr val="111111"/>
                </a:solidFill>
                <a:latin typeface="Aptos" panose="020B0004020202020204" pitchFamily="34" charset="0"/>
              </a:rPr>
              <a:t>- KQL skill: Report-ready proof with filename, verdict, and hash</a:t>
            </a:r>
          </a:p>
          <a:p>
            <a:pPr>
              <a:spcAft>
                <a:spcPts val="800"/>
              </a:spcAft>
            </a:pPr>
            <a:r>
              <a:rPr lang="en-US" sz="1900">
                <a:solidFill>
                  <a:srgbClr val="111111"/>
                </a:solidFill>
                <a:latin typeface="Aptos" panose="020B0004020202020204" pitchFamily="34" charset="0"/>
              </a:rPr>
              <a:t>- Student flow: read the brief, learn the query idea, build it slowly, then answer the challenge.</a:t>
            </a:r>
          </a:p>
          <a:p>
            <a:pPr>
              <a:spcAft>
                <a:spcPts val="800"/>
              </a:spcAft>
            </a:pPr>
            <a:r>
              <a:rPr lang="en-US" sz="1900">
                <a:solidFill>
                  <a:srgbClr val="111111"/>
                </a:solidFill>
                <a:latin typeface="Aptos" panose="020B0004020202020204" pitchFamily="34" charset="0"/>
              </a:rPr>
              <a:t>- Instructor reminder: do not show the full query until students have tried the build steps.</a:t>
            </a:r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DAC8F131-3060-1FF8-C3EF-5F7E8444B9FB}"/>
              </a:ext>
            </a:extLst>
          </p:cNvPr>
          <p:cNvSpPr/>
          <p:nvPr/>
        </p:nvSpPr>
        <p:spPr>
          <a:xfrm>
            <a:off x="889000" y="5130800"/>
            <a:ext cx="10033000" cy="762000"/>
          </a:xfrm>
          <a:prstGeom prst="rect">
            <a:avLst/>
          </a:prstGeom>
          <a:solidFill>
            <a:srgbClr val="FFF6E5"/>
          </a:solidFill>
          <a:ln w="12700">
            <a:solidFill>
              <a:srgbClr val="7FA9DA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0CBF51B5-5B19-0DD9-A0F0-C5E635319F53}"/>
              </a:ext>
            </a:extLst>
          </p:cNvPr>
          <p:cNvSpPr txBox="1"/>
          <p:nvPr/>
        </p:nvSpPr>
        <p:spPr>
          <a:xfrm>
            <a:off x="1016000" y="5232400"/>
            <a:ext cx="9779000" cy="348813"/>
          </a:xfrm>
          <a:prstGeom prst="rect">
            <a:avLst/>
          </a:prstGeom>
          <a:noFill/>
        </p:spPr>
        <p:txBody>
          <a:bodyPr vert="horz" wrap="square" lIns="101600" tIns="50800" rIns="101600" bIns="50800" rtlCol="0">
            <a:spAutoFit/>
          </a:bodyPr>
          <a:lstStyle/>
          <a:p>
            <a:r>
              <a:rPr lang="en-US" sz="1600" b="1">
                <a:solidFill>
                  <a:srgbClr val="15375F"/>
                </a:solidFill>
                <a:latin typeface="Aptos" panose="020B0004020202020204" pitchFamily="34" charset="0"/>
              </a:rPr>
              <a:t>CTF challenge: Which Mimikatz artifact was blocked, and what hash identifies it in alert evidence?</a:t>
            </a:r>
          </a:p>
        </p:txBody>
      </p:sp>
    </p:spTree>
    <p:extLst>
      <p:ext uri="{BB962C8B-B14F-4D97-AF65-F5344CB8AC3E}">
        <p14:creationId xmlns:p14="http://schemas.microsoft.com/office/powerpoint/2010/main" val="3589153357"/>
      </p:ext>
    </p:extLst>
  </p:cSld>
  <p:clrMapOvr>
    <a:masterClrMapping/>
  </p:clrMapOvr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>
            <a:extLst>
              <a:ext uri="{FF2B5EF4-FFF2-40B4-BE49-F238E27FC236}">
                <a16:creationId xmlns:a16="http://schemas.microsoft.com/office/drawing/2014/main" id="{9DF50160-4AB3-9F0E-E628-55DB43055049}"/>
              </a:ext>
            </a:extLst>
          </p:cNvPr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20141610-794E-EFBA-539D-E49BCA735CCC}"/>
              </a:ext>
            </a:extLst>
          </p:cNvPr>
          <p:cNvSpPr/>
          <p:nvPr/>
        </p:nvSpPr>
        <p:spPr>
          <a:xfrm>
            <a:off x="0" y="0"/>
            <a:ext cx="12192000" cy="939800"/>
          </a:xfrm>
          <a:prstGeom prst="rect">
            <a:avLst/>
          </a:prstGeom>
          <a:solidFill>
            <a:srgbClr val="243F68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9D80B273-3018-E127-3864-0258A6545780}"/>
              </a:ext>
            </a:extLst>
          </p:cNvPr>
          <p:cNvSpPr txBox="1"/>
          <p:nvPr/>
        </p:nvSpPr>
        <p:spPr>
          <a:xfrm>
            <a:off x="406400" y="127000"/>
            <a:ext cx="11176000" cy="241092"/>
          </a:xfrm>
          <a:prstGeom prst="rect">
            <a:avLst/>
          </a:prstGeom>
          <a:noFill/>
        </p:spPr>
        <p:txBody>
          <a:bodyPr vert="horz" wrap="square" lIns="101600" tIns="50800" rIns="101600" bIns="50800" rtlCol="0">
            <a:spAutoFit/>
          </a:bodyPr>
          <a:lstStyle/>
          <a:p>
            <a:r>
              <a:rPr lang="en-US" sz="900" b="1">
                <a:solidFill>
                  <a:srgbClr val="BFD7FF"/>
                </a:solidFill>
                <a:latin typeface="Aptos" panose="020B0004020202020204" pitchFamily="34" charset="0"/>
              </a:rPr>
              <a:t>ORIGINAL MIMIKATZ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8844E2AA-31F5-3DD4-E2E7-C85F33A05EE2}"/>
              </a:ext>
            </a:extLst>
          </p:cNvPr>
          <p:cNvSpPr txBox="1"/>
          <p:nvPr/>
        </p:nvSpPr>
        <p:spPr>
          <a:xfrm>
            <a:off x="406400" y="342900"/>
            <a:ext cx="11176000" cy="487313"/>
          </a:xfrm>
          <a:prstGeom prst="rect">
            <a:avLst/>
          </a:prstGeom>
          <a:noFill/>
        </p:spPr>
        <p:txBody>
          <a:bodyPr vert="horz" wrap="square" lIns="101600" tIns="50800" rIns="101600" bIns="50800" rtlCol="0">
            <a:spAutoFit/>
          </a:bodyPr>
          <a:lstStyle/>
          <a:p>
            <a:r>
              <a:rPr lang="en-US" sz="2500" b="1">
                <a:solidFill>
                  <a:srgbClr val="FFFFFF"/>
                </a:solidFill>
                <a:latin typeface="Aptos" panose="020B0004020202020204" pitchFamily="34" charset="0"/>
              </a:rPr>
              <a:t>Scenario 11: Build It Slowly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6193ADF5-A97E-C876-915A-B559FDA7F0D4}"/>
              </a:ext>
            </a:extLst>
          </p:cNvPr>
          <p:cNvSpPr txBox="1"/>
          <p:nvPr/>
        </p:nvSpPr>
        <p:spPr>
          <a:xfrm>
            <a:off x="685800" y="1371600"/>
            <a:ext cx="5461000" cy="1518364"/>
          </a:xfrm>
          <a:prstGeom prst="rect">
            <a:avLst/>
          </a:prstGeom>
          <a:noFill/>
        </p:spPr>
        <p:txBody>
          <a:bodyPr vert="horz" wrap="square" lIns="101600" tIns="50800" rIns="101600" bIns="50800" rtlCol="0">
            <a:spAutoFit/>
          </a:bodyPr>
          <a:lstStyle/>
          <a:p>
            <a:pPr>
              <a:spcAft>
                <a:spcPts val="800"/>
              </a:spcAft>
            </a:pPr>
            <a:r>
              <a:rPr lang="en-US">
                <a:solidFill>
                  <a:srgbClr val="111111"/>
                </a:solidFill>
                <a:latin typeface="Aptos" panose="020B0004020202020204" pitchFamily="34" charset="0"/>
              </a:rPr>
              <a:t>- Find mimikatz-x64.zip.</a:t>
            </a:r>
          </a:p>
          <a:p>
            <a:pPr>
              <a:spcAft>
                <a:spcPts val="800"/>
              </a:spcAft>
            </a:pPr>
            <a:r>
              <a:rPr lang="en-US">
                <a:solidFill>
                  <a:srgbClr val="111111"/>
                </a:solidFill>
                <a:latin typeface="Aptos" panose="020B0004020202020204" pitchFamily="34" charset="0"/>
              </a:rPr>
              <a:t>- Pull Defender verdict from AlertEvidence.</a:t>
            </a:r>
          </a:p>
          <a:p>
            <a:pPr>
              <a:spcAft>
                <a:spcPts val="800"/>
              </a:spcAft>
            </a:pPr>
            <a:r>
              <a:rPr lang="en-US">
                <a:solidFill>
                  <a:srgbClr val="111111"/>
                </a:solidFill>
                <a:latin typeface="Aptos" panose="020B0004020202020204" pitchFamily="34" charset="0"/>
              </a:rPr>
              <a:t>- Project SHA256 for durable evidence.</a:t>
            </a:r>
          </a:p>
          <a:p>
            <a:pPr>
              <a:spcAft>
                <a:spcPts val="800"/>
              </a:spcAft>
            </a:pPr>
            <a:r>
              <a:rPr lang="en-US">
                <a:solidFill>
                  <a:srgbClr val="111111"/>
                </a:solidFill>
                <a:latin typeface="Aptos" panose="020B0004020202020204" pitchFamily="34" charset="0"/>
              </a:rPr>
              <a:t>- Answer with file, hash, device, time, verdict.</a:t>
            </a:r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A66D1FF5-FAFD-385B-3F7E-01E3942FEF56}"/>
              </a:ext>
            </a:extLst>
          </p:cNvPr>
          <p:cNvSpPr/>
          <p:nvPr/>
        </p:nvSpPr>
        <p:spPr>
          <a:xfrm>
            <a:off x="6604000" y="1397000"/>
            <a:ext cx="4508500" cy="3111500"/>
          </a:xfrm>
          <a:prstGeom prst="rect">
            <a:avLst/>
          </a:prstGeom>
          <a:solidFill>
            <a:srgbClr val="F4F7FB"/>
          </a:solidFill>
          <a:ln w="12700">
            <a:solidFill>
              <a:srgbClr val="D6E0EF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59FD5810-7AEB-251B-27CA-E44BFE84FC8B}"/>
              </a:ext>
            </a:extLst>
          </p:cNvPr>
          <p:cNvSpPr txBox="1"/>
          <p:nvPr/>
        </p:nvSpPr>
        <p:spPr>
          <a:xfrm>
            <a:off x="6756400" y="1524000"/>
            <a:ext cx="4203700" cy="1626086"/>
          </a:xfrm>
          <a:prstGeom prst="rect">
            <a:avLst/>
          </a:prstGeom>
          <a:noFill/>
        </p:spPr>
        <p:txBody>
          <a:bodyPr vert="horz" wrap="square" lIns="101600" tIns="50800" rIns="101600" bIns="50800" rtlCol="0">
            <a:spAutoFit/>
          </a:bodyPr>
          <a:lstStyle/>
          <a:p>
            <a:r>
              <a:rPr lang="en-US" sz="1100">
                <a:solidFill>
                  <a:srgbClr val="0B1F3A"/>
                </a:solidFill>
                <a:latin typeface="Cascadia Mono" panose="020B0609020000020004" pitchFamily="49" charset="0"/>
              </a:rPr>
              <a:t>let TargetDevice = "usm262346";</a:t>
            </a:r>
          </a:p>
          <a:p>
            <a:r>
              <a:rPr lang="en-US" sz="1100">
                <a:solidFill>
                  <a:srgbClr val="0B1F3A"/>
                </a:solidFill>
                <a:latin typeface="Cascadia Mono" panose="020B0609020000020004" pitchFamily="49" charset="0"/>
              </a:rPr>
              <a:t>AlertEvidence</a:t>
            </a:r>
          </a:p>
          <a:p>
            <a:r>
              <a:rPr lang="en-US" sz="1100">
                <a:solidFill>
                  <a:srgbClr val="0B1F3A"/>
                </a:solidFill>
                <a:latin typeface="Cascadia Mono" panose="020B0609020000020004" pitchFamily="49" charset="0"/>
              </a:rPr>
              <a:t>| where Timestamp &gt; ago(7d)</a:t>
            </a:r>
          </a:p>
          <a:p>
            <a:r>
              <a:rPr lang="en-US" sz="1100">
                <a:solidFill>
                  <a:srgbClr val="0B1F3A"/>
                </a:solidFill>
                <a:latin typeface="Cascadia Mono" panose="020B0609020000020004" pitchFamily="49" charset="0"/>
              </a:rPr>
              <a:t>| where DeviceName == TargetDevice or FileName =~ "mimikatz-x64.zip"</a:t>
            </a:r>
          </a:p>
          <a:p>
            <a:r>
              <a:rPr lang="en-US" sz="1100">
                <a:solidFill>
                  <a:srgbClr val="0B1F3A"/>
                </a:solidFill>
                <a:latin typeface="Cascadia Mono" panose="020B0609020000020004" pitchFamily="49" charset="0"/>
              </a:rPr>
              <a:t>| where FileName =~ "mimikatz-x64.zip" or Title has "Mimikatz credential theft tool"</a:t>
            </a:r>
          </a:p>
          <a:p>
            <a:r>
              <a:rPr lang="en-US" sz="1100">
                <a:solidFill>
                  <a:srgbClr val="0B1F3A"/>
                </a:solidFill>
                <a:latin typeface="Cascadia Mono" panose="020B0609020000020004" pitchFamily="49" charset="0"/>
              </a:rPr>
              <a:t>| project Timestamp, Title, Severity, FileName, SHA256</a:t>
            </a:r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D9845F91-5C36-4B7F-573C-189560DFD36D}"/>
              </a:ext>
            </a:extLst>
          </p:cNvPr>
          <p:cNvSpPr/>
          <p:nvPr/>
        </p:nvSpPr>
        <p:spPr>
          <a:xfrm>
            <a:off x="6604000" y="4851400"/>
            <a:ext cx="4508500" cy="787400"/>
          </a:xfrm>
          <a:prstGeom prst="rect">
            <a:avLst/>
          </a:prstGeom>
          <a:solidFill>
            <a:srgbClr val="EAF3FF"/>
          </a:solidFill>
          <a:ln w="12700">
            <a:solidFill>
              <a:srgbClr val="7FA9DA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4D986089-71EC-CC0E-3D3C-0060B56BF156}"/>
              </a:ext>
            </a:extLst>
          </p:cNvPr>
          <p:cNvSpPr txBox="1"/>
          <p:nvPr/>
        </p:nvSpPr>
        <p:spPr>
          <a:xfrm>
            <a:off x="6731000" y="4953000"/>
            <a:ext cx="4254500" cy="595035"/>
          </a:xfrm>
          <a:prstGeom prst="rect">
            <a:avLst/>
          </a:prstGeom>
          <a:noFill/>
        </p:spPr>
        <p:txBody>
          <a:bodyPr vert="horz" wrap="square" lIns="101600" tIns="50800" rIns="101600" bIns="50800" rtlCol="0">
            <a:spAutoFit/>
          </a:bodyPr>
          <a:lstStyle/>
          <a:p>
            <a:r>
              <a:rPr lang="en-US" sz="1600" b="1">
                <a:solidFill>
                  <a:srgbClr val="15375F"/>
                </a:solidFill>
                <a:latin typeface="Aptos" panose="020B0004020202020204" pitchFamily="34" charset="0"/>
              </a:rPr>
              <a:t>Ask: which table, which filter, which proof columns?</a:t>
            </a:r>
          </a:p>
        </p:txBody>
      </p:sp>
    </p:spTree>
    <p:extLst>
      <p:ext uri="{BB962C8B-B14F-4D97-AF65-F5344CB8AC3E}">
        <p14:creationId xmlns:p14="http://schemas.microsoft.com/office/powerpoint/2010/main" val="1476654655"/>
      </p:ext>
    </p:extLst>
  </p:cSld>
  <p:clrMapOvr>
    <a:masterClrMapping/>
  </p:clrMapOvr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>
            <a:extLst>
              <a:ext uri="{FF2B5EF4-FFF2-40B4-BE49-F238E27FC236}">
                <a16:creationId xmlns:a16="http://schemas.microsoft.com/office/drawing/2014/main" id="{C8FFA7A0-4478-6F2F-A561-C5C7CB237510}"/>
              </a:ext>
            </a:extLst>
          </p:cNvPr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F1D53556-247B-E182-9355-074D85710DB4}"/>
              </a:ext>
            </a:extLst>
          </p:cNvPr>
          <p:cNvSpPr/>
          <p:nvPr/>
        </p:nvSpPr>
        <p:spPr>
          <a:xfrm>
            <a:off x="0" y="0"/>
            <a:ext cx="12192000" cy="939800"/>
          </a:xfrm>
          <a:prstGeom prst="rect">
            <a:avLst/>
          </a:prstGeom>
          <a:solidFill>
            <a:srgbClr val="243F68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29926769-B8F9-AFFD-7033-66AC1DC29F6E}"/>
              </a:ext>
            </a:extLst>
          </p:cNvPr>
          <p:cNvSpPr txBox="1"/>
          <p:nvPr/>
        </p:nvSpPr>
        <p:spPr>
          <a:xfrm>
            <a:off x="406400" y="127000"/>
            <a:ext cx="11176000" cy="241092"/>
          </a:xfrm>
          <a:prstGeom prst="rect">
            <a:avLst/>
          </a:prstGeom>
          <a:noFill/>
        </p:spPr>
        <p:txBody>
          <a:bodyPr vert="horz" wrap="square" lIns="101600" tIns="50800" rIns="101600" bIns="50800" rtlCol="0">
            <a:spAutoFit/>
          </a:bodyPr>
          <a:lstStyle/>
          <a:p>
            <a:r>
              <a:rPr lang="en-US" sz="900" b="1">
                <a:solidFill>
                  <a:srgbClr val="BFD7FF"/>
                </a:solidFill>
                <a:latin typeface="Aptos" panose="020B0004020202020204" pitchFamily="34" charset="0"/>
              </a:rPr>
              <a:t>CHECK YOUR WORK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E79FA728-F260-713B-F43E-2FB68739FF3B}"/>
              </a:ext>
            </a:extLst>
          </p:cNvPr>
          <p:cNvSpPr txBox="1"/>
          <p:nvPr/>
        </p:nvSpPr>
        <p:spPr>
          <a:xfrm>
            <a:off x="406400" y="342900"/>
            <a:ext cx="11176000" cy="487313"/>
          </a:xfrm>
          <a:prstGeom prst="rect">
            <a:avLst/>
          </a:prstGeom>
          <a:noFill/>
        </p:spPr>
        <p:txBody>
          <a:bodyPr vert="horz" wrap="square" lIns="101600" tIns="50800" rIns="101600" bIns="50800" rtlCol="0">
            <a:spAutoFit/>
          </a:bodyPr>
          <a:lstStyle/>
          <a:p>
            <a:r>
              <a:rPr lang="en-US" sz="2500" b="1">
                <a:solidFill>
                  <a:srgbClr val="FFFFFF"/>
                </a:solidFill>
                <a:latin typeface="Aptos" panose="020B0004020202020204" pitchFamily="34" charset="0"/>
              </a:rPr>
              <a:t>Scenario 11: Answer Key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1A3A132A-9928-3314-FC25-B2E3723188D2}"/>
              </a:ext>
            </a:extLst>
          </p:cNvPr>
          <p:cNvSpPr txBox="1"/>
          <p:nvPr/>
        </p:nvSpPr>
        <p:spPr>
          <a:xfrm>
            <a:off x="685800" y="1371600"/>
            <a:ext cx="10414000" cy="718145"/>
          </a:xfrm>
          <a:prstGeom prst="rect">
            <a:avLst/>
          </a:prstGeom>
          <a:noFill/>
        </p:spPr>
        <p:txBody>
          <a:bodyPr vert="horz" wrap="square" lIns="101600" tIns="50800" rIns="101600" bIns="50800" rtlCol="0">
            <a:spAutoFit/>
          </a:bodyPr>
          <a:lstStyle/>
          <a:p>
            <a:r>
              <a:rPr lang="en-US" sz="2000" b="1">
                <a:solidFill>
                  <a:srgbClr val="243F68"/>
                </a:solidFill>
                <a:latin typeface="Aptos" panose="020B0004020202020204" pitchFamily="34" charset="0"/>
              </a:rPr>
              <a:t>Challenge: Which Mimikatz artifact was blocked, and what hash identifies it in alert evidence?</a:t>
            </a:r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B06E3DFC-D298-703A-DDD2-94CCA52E4D6D}"/>
              </a:ext>
            </a:extLst>
          </p:cNvPr>
          <p:cNvSpPr/>
          <p:nvPr/>
        </p:nvSpPr>
        <p:spPr>
          <a:xfrm>
            <a:off x="685800" y="2336800"/>
            <a:ext cx="10414000" cy="1206500"/>
          </a:xfrm>
          <a:prstGeom prst="rect">
            <a:avLst/>
          </a:prstGeom>
          <a:solidFill>
            <a:srgbClr val="EEF7ED"/>
          </a:solidFill>
          <a:ln w="12700">
            <a:solidFill>
              <a:srgbClr val="7FA9DA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E94356FE-D169-D045-BD1B-A20CABA4608E}"/>
              </a:ext>
            </a:extLst>
          </p:cNvPr>
          <p:cNvSpPr txBox="1"/>
          <p:nvPr/>
        </p:nvSpPr>
        <p:spPr>
          <a:xfrm>
            <a:off x="812800" y="2438400"/>
            <a:ext cx="10160000" cy="595035"/>
          </a:xfrm>
          <a:prstGeom prst="rect">
            <a:avLst/>
          </a:prstGeom>
          <a:noFill/>
        </p:spPr>
        <p:txBody>
          <a:bodyPr vert="horz" wrap="square" lIns="101600" tIns="50800" rIns="101600" bIns="50800" rtlCol="0">
            <a:spAutoFit/>
          </a:bodyPr>
          <a:lstStyle/>
          <a:p>
            <a:r>
              <a:rPr lang="en-US" sz="1600" b="1">
                <a:solidFill>
                  <a:srgbClr val="15375F"/>
                </a:solidFill>
                <a:latin typeface="Aptos" panose="020B0004020202020204" pitchFamily="34" charset="0"/>
              </a:rPr>
              <a:t>Artifact: mimikatz-x64.zip. Verdict: Mimikatz credential theft tool. Hash: 29a3e90d067a848bac1d7301e22d6ac7b6979c89be10373b98a47845e94c45b8.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34CAEAA8-5D45-4BF7-8D51-35305C8BE2FF}"/>
              </a:ext>
            </a:extLst>
          </p:cNvPr>
          <p:cNvSpPr txBox="1"/>
          <p:nvPr/>
        </p:nvSpPr>
        <p:spPr>
          <a:xfrm>
            <a:off x="914400" y="3937000"/>
            <a:ext cx="10033000" cy="1456809"/>
          </a:xfrm>
          <a:prstGeom prst="rect">
            <a:avLst/>
          </a:prstGeom>
          <a:noFill/>
        </p:spPr>
        <p:txBody>
          <a:bodyPr vert="horz" wrap="square" lIns="101600" tIns="50800" rIns="101600" bIns="50800" rtlCol="0">
            <a:spAutoFit/>
          </a:bodyPr>
          <a:lstStyle/>
          <a:p>
            <a:pPr>
              <a:spcAft>
                <a:spcPts val="800"/>
              </a:spcAft>
            </a:pPr>
            <a:r>
              <a:rPr lang="en-US" sz="1700">
                <a:solidFill>
                  <a:srgbClr val="111111"/>
                </a:solidFill>
                <a:latin typeface="Aptos" panose="020B0004020202020204" pitchFamily="34" charset="0"/>
              </a:rPr>
              <a:t>- How the KQL finds it: start with the table most likely to hold the evidence.</a:t>
            </a:r>
          </a:p>
          <a:p>
            <a:pPr>
              <a:spcAft>
                <a:spcPts val="800"/>
              </a:spcAft>
            </a:pPr>
            <a:r>
              <a:rPr lang="en-US" sz="1700">
                <a:solidFill>
                  <a:srgbClr val="111111"/>
                </a:solidFill>
                <a:latin typeface="Aptos" panose="020B0004020202020204" pitchFamily="34" charset="0"/>
              </a:rPr>
              <a:t>- Use where filters to reduce to the device, time, and scenario clue.</a:t>
            </a:r>
          </a:p>
          <a:p>
            <a:pPr>
              <a:spcAft>
                <a:spcPts val="800"/>
              </a:spcAft>
            </a:pPr>
            <a:r>
              <a:rPr lang="en-US" sz="1700">
                <a:solidFill>
                  <a:srgbClr val="111111"/>
                </a:solidFill>
                <a:latin typeface="Aptos" panose="020B0004020202020204" pitchFamily="34" charset="0"/>
              </a:rPr>
              <a:t>- Use project to show only the columns that prove the answer.</a:t>
            </a:r>
          </a:p>
          <a:p>
            <a:pPr>
              <a:spcAft>
                <a:spcPts val="800"/>
              </a:spcAft>
            </a:pPr>
            <a:r>
              <a:rPr lang="en-US" sz="1700">
                <a:solidFill>
                  <a:srgbClr val="111111"/>
                </a:solidFill>
                <a:latin typeface="Aptos" panose="020B0004020202020204" pitchFamily="34" charset="0"/>
              </a:rPr>
              <a:t>- If one table is incomplete, pivot to file or alert evidence.</a:t>
            </a:r>
          </a:p>
        </p:txBody>
      </p:sp>
    </p:spTree>
    <p:extLst>
      <p:ext uri="{BB962C8B-B14F-4D97-AF65-F5344CB8AC3E}">
        <p14:creationId xmlns:p14="http://schemas.microsoft.com/office/powerpoint/2010/main" val="3119448409"/>
      </p:ext>
    </p:extLst>
  </p:cSld>
  <p:clrMapOvr>
    <a:masterClrMapping/>
  </p:clrMapOvr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>
            <a:extLst>
              <a:ext uri="{FF2B5EF4-FFF2-40B4-BE49-F238E27FC236}">
                <a16:creationId xmlns:a16="http://schemas.microsoft.com/office/drawing/2014/main" id="{E9D04880-F711-DA2F-B6A1-2D15777AC705}"/>
              </a:ext>
            </a:extLst>
          </p:cNvPr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45A9F3D4-5D63-3253-815C-0CF62AF20D61}"/>
              </a:ext>
            </a:extLst>
          </p:cNvPr>
          <p:cNvSpPr/>
          <p:nvPr/>
        </p:nvSpPr>
        <p:spPr>
          <a:xfrm>
            <a:off x="0" y="0"/>
            <a:ext cx="12192000" cy="939800"/>
          </a:xfrm>
          <a:prstGeom prst="rect">
            <a:avLst/>
          </a:prstGeom>
          <a:solidFill>
            <a:srgbClr val="243F68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B6F229AA-9495-E047-ED30-2E8589154609}"/>
              </a:ext>
            </a:extLst>
          </p:cNvPr>
          <p:cNvSpPr txBox="1"/>
          <p:nvPr/>
        </p:nvSpPr>
        <p:spPr>
          <a:xfrm>
            <a:off x="406400" y="127000"/>
            <a:ext cx="11176000" cy="241092"/>
          </a:xfrm>
          <a:prstGeom prst="rect">
            <a:avLst/>
          </a:prstGeom>
          <a:noFill/>
        </p:spPr>
        <p:txBody>
          <a:bodyPr vert="horz" wrap="square" lIns="101600" tIns="50800" rIns="101600" bIns="50800" rtlCol="0">
            <a:spAutoFit/>
          </a:bodyPr>
          <a:lstStyle/>
          <a:p>
            <a:r>
              <a:rPr lang="en-US" sz="900" b="1">
                <a:solidFill>
                  <a:srgbClr val="BFD7FF"/>
                </a:solidFill>
                <a:latin typeface="Aptos" panose="020B0004020202020204" pitchFamily="34" charset="0"/>
              </a:rPr>
              <a:t>DELIVERY SUPPORT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327DBF34-2F2F-BB6A-01D8-1386F854FC40}"/>
              </a:ext>
            </a:extLst>
          </p:cNvPr>
          <p:cNvSpPr txBox="1"/>
          <p:nvPr/>
        </p:nvSpPr>
        <p:spPr>
          <a:xfrm>
            <a:off x="406400" y="342900"/>
            <a:ext cx="11176000" cy="487313"/>
          </a:xfrm>
          <a:prstGeom prst="rect">
            <a:avLst/>
          </a:prstGeom>
          <a:noFill/>
        </p:spPr>
        <p:txBody>
          <a:bodyPr vert="horz" wrap="square" lIns="101600" tIns="50800" rIns="101600" bIns="50800" rtlCol="0">
            <a:spAutoFit/>
          </a:bodyPr>
          <a:lstStyle/>
          <a:p>
            <a:r>
              <a:rPr lang="en-US" sz="2500" b="1">
                <a:solidFill>
                  <a:srgbClr val="FFFFFF"/>
                </a:solidFill>
                <a:latin typeface="Aptos" panose="020B0004020202020204" pitchFamily="34" charset="0"/>
              </a:rPr>
              <a:t>Instructor Notes: When Students Get Lost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F9D1AC69-EDEB-076F-8BAF-8DB6DE66F03A}"/>
              </a:ext>
            </a:extLst>
          </p:cNvPr>
          <p:cNvSpPr txBox="1"/>
          <p:nvPr/>
        </p:nvSpPr>
        <p:spPr>
          <a:xfrm>
            <a:off x="685800" y="1333500"/>
            <a:ext cx="10795000" cy="2051844"/>
          </a:xfrm>
          <a:prstGeom prst="rect">
            <a:avLst/>
          </a:prstGeom>
          <a:noFill/>
        </p:spPr>
        <p:txBody>
          <a:bodyPr vert="horz" wrap="square" lIns="101600" tIns="50800" rIns="101600" bIns="50800" rtlCol="0">
            <a:spAutoFit/>
          </a:bodyPr>
          <a:lstStyle/>
          <a:p>
            <a:pPr>
              <a:spcAft>
                <a:spcPts val="800"/>
              </a:spcAft>
            </a:pPr>
            <a:r>
              <a:rPr lang="en-US" sz="2000">
                <a:solidFill>
                  <a:srgbClr val="111111"/>
                </a:solidFill>
                <a:latin typeface="Aptos" panose="020B0004020202020204" pitchFamily="34" charset="0"/>
              </a:rPr>
              <a:t>- Ask: which table should contain this evidence: process, file, or alert?</a:t>
            </a:r>
          </a:p>
          <a:p>
            <a:pPr>
              <a:spcAft>
                <a:spcPts val="800"/>
              </a:spcAft>
            </a:pPr>
            <a:r>
              <a:rPr lang="en-US" sz="2000">
                <a:solidFill>
                  <a:srgbClr val="111111"/>
                </a:solidFill>
                <a:latin typeface="Aptos" panose="020B0004020202020204" pitchFamily="34" charset="0"/>
              </a:rPr>
              <a:t>- Ask: which column contains the command line?</a:t>
            </a:r>
          </a:p>
          <a:p>
            <a:pPr>
              <a:spcAft>
                <a:spcPts val="800"/>
              </a:spcAft>
            </a:pPr>
            <a:r>
              <a:rPr lang="en-US" sz="2000">
                <a:solidFill>
                  <a:srgbClr val="111111"/>
                </a:solidFill>
                <a:latin typeface="Aptos" panose="020B0004020202020204" pitchFamily="34" charset="0"/>
              </a:rPr>
              <a:t>- Ask: which column contains the Defender verdict?</a:t>
            </a:r>
          </a:p>
          <a:p>
            <a:pPr>
              <a:spcAft>
                <a:spcPts val="800"/>
              </a:spcAft>
            </a:pPr>
            <a:r>
              <a:rPr lang="en-US" sz="2000">
                <a:solidFill>
                  <a:srgbClr val="111111"/>
                </a:solidFill>
                <a:latin typeface="Aptos" panose="020B0004020202020204" pitchFamily="34" charset="0"/>
              </a:rPr>
              <a:t>- Ask: can we reduce noise with DeviceName == TargetDevice?</a:t>
            </a:r>
          </a:p>
          <a:p>
            <a:pPr>
              <a:spcAft>
                <a:spcPts val="800"/>
              </a:spcAft>
            </a:pPr>
            <a:r>
              <a:rPr lang="en-US" sz="2000">
                <a:solidFill>
                  <a:srgbClr val="111111"/>
                </a:solidFill>
                <a:latin typeface="Aptos" panose="020B0004020202020204" pitchFamily="34" charset="0"/>
              </a:rPr>
              <a:t>- Ask: can we prove when, where, what, and why it matters?</a:t>
            </a:r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5B48A001-6CA4-5107-BAF8-68E19CAF003E}"/>
              </a:ext>
            </a:extLst>
          </p:cNvPr>
          <p:cNvSpPr/>
          <p:nvPr/>
        </p:nvSpPr>
        <p:spPr>
          <a:xfrm>
            <a:off x="965200" y="5207000"/>
            <a:ext cx="10033000" cy="736600"/>
          </a:xfrm>
          <a:prstGeom prst="rect">
            <a:avLst/>
          </a:prstGeom>
          <a:solidFill>
            <a:srgbClr val="FFF6E5"/>
          </a:solidFill>
          <a:ln w="12700">
            <a:solidFill>
              <a:srgbClr val="7FA9DA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700DCD54-78BD-3129-6CF9-DE4945B2FEF3}"/>
              </a:ext>
            </a:extLst>
          </p:cNvPr>
          <p:cNvSpPr txBox="1"/>
          <p:nvPr/>
        </p:nvSpPr>
        <p:spPr>
          <a:xfrm>
            <a:off x="1092200" y="5308600"/>
            <a:ext cx="9779000" cy="348813"/>
          </a:xfrm>
          <a:prstGeom prst="rect">
            <a:avLst/>
          </a:prstGeom>
          <a:noFill/>
        </p:spPr>
        <p:txBody>
          <a:bodyPr vert="horz" wrap="square" lIns="101600" tIns="50800" rIns="101600" bIns="50800" rtlCol="0">
            <a:spAutoFit/>
          </a:bodyPr>
          <a:lstStyle/>
          <a:p>
            <a:r>
              <a:rPr lang="en-US" sz="1600" b="1">
                <a:solidFill>
                  <a:srgbClr val="15375F"/>
                </a:solidFill>
                <a:latin typeface="Aptos" panose="020B0004020202020204" pitchFamily="34" charset="0"/>
              </a:rPr>
              <a:t>Keep coming back to the same rhythm: table -&gt; filter -&gt; pivot -&gt; evidence.</a:t>
            </a:r>
          </a:p>
        </p:txBody>
      </p:sp>
    </p:spTree>
    <p:extLst>
      <p:ext uri="{BB962C8B-B14F-4D97-AF65-F5344CB8AC3E}">
        <p14:creationId xmlns:p14="http://schemas.microsoft.com/office/powerpoint/2010/main" val="1675343125"/>
      </p:ext>
    </p:extLst>
  </p:cSld>
  <p:clrMapOvr>
    <a:masterClrMapping/>
  </p:clrMapOvr>
</p:sld>
</file>

<file path=ppt/slides/slide4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>
            <a:extLst>
              <a:ext uri="{FF2B5EF4-FFF2-40B4-BE49-F238E27FC236}">
                <a16:creationId xmlns:a16="http://schemas.microsoft.com/office/drawing/2014/main" id="{DE7DC407-EAE1-C5D8-D5CA-855E1078839F}"/>
              </a:ext>
            </a:extLst>
          </p:cNvPr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D3D67400-33E6-BC1E-5FF0-A6B14E57E31A}"/>
              </a:ext>
            </a:extLst>
          </p:cNvPr>
          <p:cNvSpPr/>
          <p:nvPr/>
        </p:nvSpPr>
        <p:spPr>
          <a:xfrm>
            <a:off x="0" y="0"/>
            <a:ext cx="12192000" cy="939800"/>
          </a:xfrm>
          <a:prstGeom prst="rect">
            <a:avLst/>
          </a:prstGeom>
          <a:solidFill>
            <a:srgbClr val="243F68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8B2CAEF4-67E3-FFBE-2E3E-592C5DB507B1}"/>
              </a:ext>
            </a:extLst>
          </p:cNvPr>
          <p:cNvSpPr txBox="1"/>
          <p:nvPr/>
        </p:nvSpPr>
        <p:spPr>
          <a:xfrm>
            <a:off x="406400" y="127000"/>
            <a:ext cx="11176000" cy="241092"/>
          </a:xfrm>
          <a:prstGeom prst="rect">
            <a:avLst/>
          </a:prstGeom>
          <a:noFill/>
        </p:spPr>
        <p:txBody>
          <a:bodyPr vert="horz" wrap="square" lIns="101600" tIns="50800" rIns="101600" bIns="50800" rtlCol="0">
            <a:spAutoFit/>
          </a:bodyPr>
          <a:lstStyle/>
          <a:p>
            <a:r>
              <a:rPr lang="en-US" sz="900" b="1">
                <a:solidFill>
                  <a:srgbClr val="BFD7FF"/>
                </a:solidFill>
                <a:latin typeface="Aptos" panose="020B0004020202020204" pitchFamily="34" charset="0"/>
              </a:rPr>
              <a:t>USE ONLY IF THE CUSTOMER HAS THE INCIDENT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8FC3062A-594B-1812-64C5-F986E20A4607}"/>
              </a:ext>
            </a:extLst>
          </p:cNvPr>
          <p:cNvSpPr txBox="1"/>
          <p:nvPr/>
        </p:nvSpPr>
        <p:spPr>
          <a:xfrm>
            <a:off x="406400" y="342900"/>
            <a:ext cx="11176000" cy="487313"/>
          </a:xfrm>
          <a:prstGeom prst="rect">
            <a:avLst/>
          </a:prstGeom>
          <a:noFill/>
        </p:spPr>
        <p:txBody>
          <a:bodyPr vert="horz" wrap="square" lIns="101600" tIns="50800" rIns="101600" bIns="50800" rtlCol="0">
            <a:spAutoFit/>
          </a:bodyPr>
          <a:lstStyle/>
          <a:p>
            <a:r>
              <a:rPr lang="en-US" sz="2500" b="1">
                <a:solidFill>
                  <a:srgbClr val="FFFFFF"/>
                </a:solidFill>
                <a:latin typeface="Aptos" panose="020B0004020202020204" pitchFamily="34" charset="0"/>
              </a:rPr>
              <a:t>Optional XDR Incident Pivot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80D602C6-6DB3-768A-E299-87BF94D65CCB}"/>
              </a:ext>
            </a:extLst>
          </p:cNvPr>
          <p:cNvSpPr txBox="1"/>
          <p:nvPr/>
        </p:nvSpPr>
        <p:spPr>
          <a:xfrm>
            <a:off x="685800" y="1295400"/>
            <a:ext cx="4953000" cy="2728952"/>
          </a:xfrm>
          <a:prstGeom prst="rect">
            <a:avLst/>
          </a:prstGeom>
          <a:noFill/>
        </p:spPr>
        <p:txBody>
          <a:bodyPr vert="horz" wrap="square" lIns="101600" tIns="50800" rIns="101600" bIns="50800" rtlCol="0">
            <a:spAutoFit/>
          </a:bodyPr>
          <a:lstStyle/>
          <a:p>
            <a:pPr>
              <a:spcAft>
                <a:spcPts val="800"/>
              </a:spcAft>
            </a:pPr>
            <a:r>
              <a:rPr lang="en-US">
                <a:solidFill>
                  <a:srgbClr val="111111"/>
                </a:solidFill>
                <a:latin typeface="Aptos" panose="020B0004020202020204" pitchFamily="34" charset="0"/>
              </a:rPr>
              <a:t>- Incident IDs are tenant-specific.</a:t>
            </a:r>
          </a:p>
          <a:p>
            <a:pPr>
              <a:spcAft>
                <a:spcPts val="800"/>
              </a:spcAft>
            </a:pPr>
            <a:r>
              <a:rPr lang="en-US">
                <a:solidFill>
                  <a:srgbClr val="111111"/>
                </a:solidFill>
                <a:latin typeface="Aptos" panose="020B0004020202020204" pitchFamily="34" charset="0"/>
              </a:rPr>
              <a:t>- Alert grouping can vary by tenant and policy.</a:t>
            </a:r>
          </a:p>
          <a:p>
            <a:pPr>
              <a:spcAft>
                <a:spcPts val="800"/>
              </a:spcAft>
            </a:pPr>
            <a:r>
              <a:rPr lang="en-US">
                <a:solidFill>
                  <a:srgbClr val="111111"/>
                </a:solidFill>
                <a:latin typeface="Aptos" panose="020B0004020202020204" pitchFamily="34" charset="0"/>
              </a:rPr>
              <a:t>- Do not make the class depend on a matching incident.</a:t>
            </a:r>
          </a:p>
          <a:p>
            <a:pPr>
              <a:spcAft>
                <a:spcPts val="800"/>
              </a:spcAft>
            </a:pPr>
            <a:r>
              <a:rPr lang="en-US">
                <a:solidFill>
                  <a:srgbClr val="111111"/>
                </a:solidFill>
                <a:latin typeface="Aptos" panose="020B0004020202020204" pitchFamily="34" charset="0"/>
              </a:rPr>
              <a:t>- If present, use the incident as a story hook, then pivot back to Advanced Hunting.</a:t>
            </a:r>
          </a:p>
          <a:p>
            <a:pPr>
              <a:spcAft>
                <a:spcPts val="800"/>
              </a:spcAft>
            </a:pPr>
            <a:r>
              <a:rPr lang="en-US">
                <a:solidFill>
                  <a:srgbClr val="111111"/>
                </a:solidFill>
                <a:latin typeface="Aptos" panose="020B0004020202020204" pitchFamily="34" charset="0"/>
              </a:rPr>
              <a:t>- Endpoint telemetry remains the ground truth for the lab.</a:t>
            </a:r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1A65A477-2920-CF38-9371-7541ACA61E0B}"/>
              </a:ext>
            </a:extLst>
          </p:cNvPr>
          <p:cNvSpPr/>
          <p:nvPr/>
        </p:nvSpPr>
        <p:spPr>
          <a:xfrm>
            <a:off x="6159500" y="1333500"/>
            <a:ext cx="4953000" cy="3619500"/>
          </a:xfrm>
          <a:prstGeom prst="rect">
            <a:avLst/>
          </a:prstGeom>
          <a:solidFill>
            <a:srgbClr val="F4F7FB"/>
          </a:solidFill>
          <a:ln w="12700">
            <a:solidFill>
              <a:srgbClr val="D6E0EF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1E440C17-C298-41E6-088A-40689F3D15ED}"/>
              </a:ext>
            </a:extLst>
          </p:cNvPr>
          <p:cNvSpPr txBox="1"/>
          <p:nvPr/>
        </p:nvSpPr>
        <p:spPr>
          <a:xfrm>
            <a:off x="6311900" y="1460500"/>
            <a:ext cx="4648200" cy="1395254"/>
          </a:xfrm>
          <a:prstGeom prst="rect">
            <a:avLst/>
          </a:prstGeom>
          <a:noFill/>
        </p:spPr>
        <p:txBody>
          <a:bodyPr vert="horz" wrap="square" lIns="101600" tIns="50800" rIns="101600" bIns="50800" rtlCol="0">
            <a:spAutoFit/>
          </a:bodyPr>
          <a:lstStyle/>
          <a:p>
            <a:r>
              <a:rPr lang="en-US" sz="1200">
                <a:solidFill>
                  <a:srgbClr val="0B1F3A"/>
                </a:solidFill>
                <a:latin typeface="Cascadia Mono" panose="020B0609020000020004" pitchFamily="49" charset="0"/>
              </a:rPr>
              <a:t>let IncidentIdToReview = "PUT-INCIDENT-ID-HERE";</a:t>
            </a:r>
          </a:p>
          <a:p>
            <a:r>
              <a:rPr lang="en-US" sz="1200">
                <a:solidFill>
                  <a:srgbClr val="0B1F3A"/>
                </a:solidFill>
                <a:latin typeface="Cascadia Mono" panose="020B0609020000020004" pitchFamily="49" charset="0"/>
              </a:rPr>
              <a:t>AlertInfo</a:t>
            </a:r>
          </a:p>
          <a:p>
            <a:r>
              <a:rPr lang="en-US" sz="1200">
                <a:solidFill>
                  <a:srgbClr val="0B1F3A"/>
                </a:solidFill>
                <a:latin typeface="Cascadia Mono" panose="020B0609020000020004" pitchFamily="49" charset="0"/>
              </a:rPr>
              <a:t>| where Timestamp &gt; ago(7d)</a:t>
            </a:r>
          </a:p>
          <a:p>
            <a:r>
              <a:rPr lang="en-US" sz="1200">
                <a:solidFill>
                  <a:srgbClr val="0B1F3A"/>
                </a:solidFill>
                <a:latin typeface="Cascadia Mono" panose="020B0609020000020004" pitchFamily="49" charset="0"/>
              </a:rPr>
              <a:t>| where IncidentId == IncidentIdToReview</a:t>
            </a:r>
          </a:p>
          <a:p>
            <a:r>
              <a:rPr lang="en-US" sz="1200">
                <a:solidFill>
                  <a:srgbClr val="0B1F3A"/>
                </a:solidFill>
                <a:latin typeface="Cascadia Mono" panose="020B0609020000020004" pitchFamily="49" charset="0"/>
              </a:rPr>
              <a:t>| project Timestamp, IncidentId, AlertId, Title, Severity, AttackTechniques</a:t>
            </a:r>
          </a:p>
          <a:p>
            <a:r>
              <a:rPr lang="en-US" sz="1200">
                <a:solidFill>
                  <a:srgbClr val="0B1F3A"/>
                </a:solidFill>
                <a:latin typeface="Cascadia Mono" panose="020B0609020000020004" pitchFamily="49" charset="0"/>
              </a:rPr>
              <a:t>| order by Timestamp asc</a:t>
            </a:r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A4F2AB31-3D2B-B968-0C2D-8833052E8469}"/>
              </a:ext>
            </a:extLst>
          </p:cNvPr>
          <p:cNvSpPr/>
          <p:nvPr/>
        </p:nvSpPr>
        <p:spPr>
          <a:xfrm>
            <a:off x="6159500" y="5257800"/>
            <a:ext cx="4953000" cy="635000"/>
          </a:xfrm>
          <a:prstGeom prst="rect">
            <a:avLst/>
          </a:prstGeom>
          <a:solidFill>
            <a:srgbClr val="EAF3FF"/>
          </a:solidFill>
          <a:ln w="12700">
            <a:solidFill>
              <a:srgbClr val="7FA9DA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824A5636-4AF5-76DC-B250-64227EE35B58}"/>
              </a:ext>
            </a:extLst>
          </p:cNvPr>
          <p:cNvSpPr txBox="1"/>
          <p:nvPr/>
        </p:nvSpPr>
        <p:spPr>
          <a:xfrm>
            <a:off x="6286500" y="5359400"/>
            <a:ext cx="4699000" cy="595035"/>
          </a:xfrm>
          <a:prstGeom prst="rect">
            <a:avLst/>
          </a:prstGeom>
          <a:noFill/>
        </p:spPr>
        <p:txBody>
          <a:bodyPr vert="horz" wrap="square" lIns="101600" tIns="50800" rIns="101600" bIns="50800" rtlCol="0">
            <a:spAutoFit/>
          </a:bodyPr>
          <a:lstStyle/>
          <a:p>
            <a:r>
              <a:rPr lang="en-US" sz="1600" b="1">
                <a:solidFill>
                  <a:srgbClr val="15375F"/>
                </a:solidFill>
                <a:latin typeface="Aptos" panose="020B0004020202020204" pitchFamily="34" charset="0"/>
              </a:rPr>
              <a:t>If this returns nothing, skip it and continue with scenario queries.</a:t>
            </a:r>
          </a:p>
        </p:txBody>
      </p:sp>
    </p:spTree>
    <p:extLst>
      <p:ext uri="{BB962C8B-B14F-4D97-AF65-F5344CB8AC3E}">
        <p14:creationId xmlns:p14="http://schemas.microsoft.com/office/powerpoint/2010/main" val="614240683"/>
      </p:ext>
    </p:extLst>
  </p:cSld>
  <p:clrMapOvr>
    <a:masterClrMapping/>
  </p:clrMapOvr>
</p:sld>
</file>

<file path=ppt/slides/slide5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>
            <a:extLst>
              <a:ext uri="{FF2B5EF4-FFF2-40B4-BE49-F238E27FC236}">
                <a16:creationId xmlns:a16="http://schemas.microsoft.com/office/drawing/2014/main" id="{5ADEF1D0-0C3F-A2E9-9D72-3677977A7D16}"/>
              </a:ext>
            </a:extLst>
          </p:cNvPr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9454C5A1-0799-451E-FA51-71D17912F5EB}"/>
              </a:ext>
            </a:extLst>
          </p:cNvPr>
          <p:cNvSpPr/>
          <p:nvPr/>
        </p:nvSpPr>
        <p:spPr>
          <a:xfrm>
            <a:off x="0" y="0"/>
            <a:ext cx="12192000" cy="939800"/>
          </a:xfrm>
          <a:prstGeom prst="rect">
            <a:avLst/>
          </a:prstGeom>
          <a:solidFill>
            <a:srgbClr val="243F68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1862DB9D-8F9D-B86B-0953-19B4E160EE54}"/>
              </a:ext>
            </a:extLst>
          </p:cNvPr>
          <p:cNvSpPr txBox="1"/>
          <p:nvPr/>
        </p:nvSpPr>
        <p:spPr>
          <a:xfrm>
            <a:off x="406400" y="127000"/>
            <a:ext cx="11176000" cy="241092"/>
          </a:xfrm>
          <a:prstGeom prst="rect">
            <a:avLst/>
          </a:prstGeom>
          <a:noFill/>
        </p:spPr>
        <p:txBody>
          <a:bodyPr vert="horz" wrap="square" lIns="101600" tIns="50800" rIns="101600" bIns="50800" rtlCol="0">
            <a:spAutoFit/>
          </a:bodyPr>
          <a:lstStyle/>
          <a:p>
            <a:r>
              <a:rPr lang="en-US" sz="900" b="1">
                <a:solidFill>
                  <a:srgbClr val="BFD7FF"/>
                </a:solidFill>
                <a:latin typeface="Aptos" panose="020B0004020202020204" pitchFamily="34" charset="0"/>
              </a:rPr>
              <a:t>END OF CLASS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E57BFCD2-3F24-7148-69AA-FC9FF88AEFD8}"/>
              </a:ext>
            </a:extLst>
          </p:cNvPr>
          <p:cNvSpPr txBox="1"/>
          <p:nvPr/>
        </p:nvSpPr>
        <p:spPr>
          <a:xfrm>
            <a:off x="406400" y="342900"/>
            <a:ext cx="11176000" cy="487313"/>
          </a:xfrm>
          <a:prstGeom prst="rect">
            <a:avLst/>
          </a:prstGeom>
          <a:noFill/>
        </p:spPr>
        <p:txBody>
          <a:bodyPr vert="horz" wrap="square" lIns="101600" tIns="50800" rIns="101600" bIns="50800" rtlCol="0">
            <a:spAutoFit/>
          </a:bodyPr>
          <a:lstStyle/>
          <a:p>
            <a:r>
              <a:rPr lang="en-US" sz="2500" b="1">
                <a:solidFill>
                  <a:srgbClr val="FFFFFF"/>
                </a:solidFill>
                <a:latin typeface="Aptos" panose="020B0004020202020204" pitchFamily="34" charset="0"/>
              </a:rPr>
              <a:t>Wrap-Up Challenge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C3C5CB8C-FF13-44AF-84E3-87943B655356}"/>
              </a:ext>
            </a:extLst>
          </p:cNvPr>
          <p:cNvSpPr txBox="1"/>
          <p:nvPr/>
        </p:nvSpPr>
        <p:spPr>
          <a:xfrm>
            <a:off x="685800" y="1333500"/>
            <a:ext cx="10795000" cy="2205732"/>
          </a:xfrm>
          <a:prstGeom prst="rect">
            <a:avLst/>
          </a:prstGeom>
          <a:noFill/>
        </p:spPr>
        <p:txBody>
          <a:bodyPr vert="horz" wrap="square" lIns="101600" tIns="50800" rIns="101600" bIns="50800" rtlCol="0">
            <a:spAutoFit/>
          </a:bodyPr>
          <a:lstStyle/>
          <a:p>
            <a:pPr>
              <a:spcAft>
                <a:spcPts val="800"/>
              </a:spcAft>
            </a:pPr>
            <a:r>
              <a:rPr lang="en-US" sz="2200">
                <a:solidFill>
                  <a:srgbClr val="111111"/>
                </a:solidFill>
                <a:latin typeface="Aptos" panose="020B0004020202020204" pitchFamily="34" charset="0"/>
              </a:rPr>
              <a:t>- Which scenarios produced process execution evidence?</a:t>
            </a:r>
          </a:p>
          <a:p>
            <a:pPr>
              <a:spcAft>
                <a:spcPts val="800"/>
              </a:spcAft>
            </a:pPr>
            <a:r>
              <a:rPr lang="en-US" sz="2200">
                <a:solidFill>
                  <a:srgbClr val="111111"/>
                </a:solidFill>
                <a:latin typeface="Aptos" panose="020B0004020202020204" pitchFamily="34" charset="0"/>
              </a:rPr>
              <a:t>- Which scenarios were primarily caught through AlertEvidence?</a:t>
            </a:r>
          </a:p>
          <a:p>
            <a:pPr>
              <a:spcAft>
                <a:spcPts val="800"/>
              </a:spcAft>
            </a:pPr>
            <a:r>
              <a:rPr lang="en-US" sz="2200">
                <a:solidFill>
                  <a:srgbClr val="111111"/>
                </a:solidFill>
                <a:latin typeface="Aptos" panose="020B0004020202020204" pitchFamily="34" charset="0"/>
              </a:rPr>
              <a:t>- Which scenarios left file-staging artifacts?</a:t>
            </a:r>
          </a:p>
          <a:p>
            <a:pPr>
              <a:spcAft>
                <a:spcPts val="800"/>
              </a:spcAft>
            </a:pPr>
            <a:r>
              <a:rPr lang="en-US" sz="2200">
                <a:solidFill>
                  <a:srgbClr val="111111"/>
                </a:solidFill>
                <a:latin typeface="Aptos" panose="020B0004020202020204" pitchFamily="34" charset="0"/>
              </a:rPr>
              <a:t>- Which KQL operator helped most today?</a:t>
            </a:r>
          </a:p>
          <a:p>
            <a:pPr>
              <a:spcAft>
                <a:spcPts val="800"/>
              </a:spcAft>
            </a:pPr>
            <a:r>
              <a:rPr lang="en-US" sz="2200">
                <a:solidFill>
                  <a:srgbClr val="111111"/>
                </a:solidFill>
                <a:latin typeface="Aptos" panose="020B0004020202020204" pitchFamily="34" charset="0"/>
              </a:rPr>
              <a:t>- If this were a real workstation compromise, what would you investigate next?</a:t>
            </a:r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C72AF552-187B-3E97-74C9-8D9C30837395}"/>
              </a:ext>
            </a:extLst>
          </p:cNvPr>
          <p:cNvSpPr/>
          <p:nvPr/>
        </p:nvSpPr>
        <p:spPr>
          <a:xfrm>
            <a:off x="939800" y="5207000"/>
            <a:ext cx="10096500" cy="736600"/>
          </a:xfrm>
          <a:prstGeom prst="rect">
            <a:avLst/>
          </a:prstGeom>
          <a:solidFill>
            <a:srgbClr val="EEF7ED"/>
          </a:solidFill>
          <a:ln w="12700">
            <a:solidFill>
              <a:srgbClr val="7FA9DA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2212590C-0751-3638-D435-0502413B3AC0}"/>
              </a:ext>
            </a:extLst>
          </p:cNvPr>
          <p:cNvSpPr txBox="1"/>
          <p:nvPr/>
        </p:nvSpPr>
        <p:spPr>
          <a:xfrm>
            <a:off x="1066800" y="5308600"/>
            <a:ext cx="9842500" cy="595035"/>
          </a:xfrm>
          <a:prstGeom prst="rect">
            <a:avLst/>
          </a:prstGeom>
          <a:noFill/>
        </p:spPr>
        <p:txBody>
          <a:bodyPr vert="horz" wrap="square" lIns="101600" tIns="50800" rIns="101600" bIns="50800" rtlCol="0">
            <a:spAutoFit/>
          </a:bodyPr>
          <a:lstStyle/>
          <a:p>
            <a:r>
              <a:rPr lang="en-US" sz="1600" b="1">
                <a:solidFill>
                  <a:srgbClr val="15375F"/>
                </a:solidFill>
                <a:latin typeface="Aptos" panose="020B0004020202020204" pitchFamily="34" charset="0"/>
              </a:rPr>
              <a:t>Instructor closer: the goal is not memorizing queries; the goal is learning how to ask better questions of endpoint telemetry.</a:t>
            </a:r>
          </a:p>
        </p:txBody>
      </p:sp>
    </p:spTree>
    <p:extLst>
      <p:ext uri="{BB962C8B-B14F-4D97-AF65-F5344CB8AC3E}">
        <p14:creationId xmlns:p14="http://schemas.microsoft.com/office/powerpoint/2010/main" val="1620445715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Metadata/LabelInfo.xml><?xml version="1.0" encoding="utf-8"?>
<clbl:labelList xmlns:clbl="http://schemas.microsoft.com/office/2020/mipLabelMetadata">
  <clbl:label id="{defa4170-0d19-0005-0004-bc88714345d2}" enabled="1" method="Standard" siteId="{b22dee98-83da-4207-b9ab-5ba931866f44}" contentBits="0" removed="0"/>
</clbl:labelList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5292</Words>
  <Application>Microsoft Office PowerPoint</Application>
  <PresentationFormat>Custom</PresentationFormat>
  <Paragraphs>521</Paragraphs>
  <Slides>50</Slides>
  <Notes>1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50</vt:i4>
      </vt:variant>
    </vt:vector>
  </HeadingPairs>
  <TitlesOfParts>
    <vt:vector size="55" baseType="lpstr">
      <vt:lpstr>Aptos</vt:lpstr>
      <vt:lpstr>Aptos Display</vt:lpstr>
      <vt:lpstr>Arial</vt:lpstr>
      <vt:lpstr>Cascadia Mono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Michael Crane</dc:creator>
  <cp:lastModifiedBy>Michael Crane</cp:lastModifiedBy>
  <cp:revision>1</cp:revision>
  <dcterms:created xsi:type="dcterms:W3CDTF">2026-05-04T15:41:20Z</dcterms:created>
  <dcterms:modified xsi:type="dcterms:W3CDTF">2026-05-04T15:41:20Z</dcterms:modified>
</cp:coreProperties>
</file>